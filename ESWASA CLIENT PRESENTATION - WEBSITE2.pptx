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256" r:id="rId2"/>
    <p:sldId id="258" r:id="rId3"/>
    <p:sldId id="259" r:id="rId4"/>
    <p:sldId id="263" r:id="rId5"/>
    <p:sldId id="257" r:id="rId6"/>
    <p:sldId id="266" r:id="rId7"/>
    <p:sldId id="275" r:id="rId8"/>
    <p:sldId id="284" r:id="rId9"/>
    <p:sldId id="271" r:id="rId10"/>
    <p:sldId id="260" r:id="rId11"/>
    <p:sldId id="276" r:id="rId12"/>
    <p:sldId id="282" r:id="rId13"/>
    <p:sldId id="272" r:id="rId14"/>
    <p:sldId id="283" r:id="rId15"/>
    <p:sldId id="281" r:id="rId16"/>
    <p:sldId id="280" r:id="rId17"/>
    <p:sldId id="270" r:id="rId18"/>
    <p:sldId id="268" r:id="rId19"/>
    <p:sldId id="262" r:id="rId20"/>
    <p:sldId id="265" r:id="rId21"/>
    <p:sldId id="264"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E9F4F3"/>
    <a:srgbClr val="4987E6"/>
    <a:srgbClr val="EDF1F4"/>
    <a:srgbClr val="E3E8EC"/>
    <a:srgbClr val="38B6FF"/>
    <a:srgbClr val="004AAD"/>
    <a:srgbClr val="CDD7D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2C21EA6-E884-4DCD-AA29-608762B011AD}" v="19" dt="2025-12-05T13:49:06.25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540" autoAdjust="0"/>
    <p:restoredTop sz="93840" autoAdjust="0"/>
  </p:normalViewPr>
  <p:slideViewPr>
    <p:cSldViewPr snapToGrid="0">
      <p:cViewPr>
        <p:scale>
          <a:sx n="60" d="100"/>
          <a:sy n="60" d="100"/>
        </p:scale>
        <p:origin x="1344" y="42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Z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FB156DC-9D46-4E7B-BE0A-55939BE357E8}" type="datetimeFigureOut">
              <a:rPr lang="en-ZA" smtClean="0"/>
              <a:t>2025/12/05</a:t>
            </a:fld>
            <a:endParaRPr lang="en-Z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Z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Z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D648CE2-FB15-439F-B1F3-21AABB48477B}" type="slidenum">
              <a:rPr lang="en-ZA" smtClean="0"/>
              <a:t>‹#›</a:t>
            </a:fld>
            <a:endParaRPr lang="en-ZA"/>
          </a:p>
        </p:txBody>
      </p:sp>
    </p:spTree>
    <p:extLst>
      <p:ext uri="{BB962C8B-B14F-4D97-AF65-F5344CB8AC3E}">
        <p14:creationId xmlns:p14="http://schemas.microsoft.com/office/powerpoint/2010/main" val="34562407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5"/>
          </p:nvPr>
        </p:nvSpPr>
        <p:spPr/>
        <p:txBody>
          <a:bodyPr/>
          <a:lstStyle/>
          <a:p>
            <a:fld id="{1D648CE2-FB15-439F-B1F3-21AABB48477B}" type="slidenum">
              <a:rPr lang="en-ZA" smtClean="0"/>
              <a:t>1</a:t>
            </a:fld>
            <a:endParaRPr lang="en-ZA"/>
          </a:p>
        </p:txBody>
      </p:sp>
    </p:spTree>
    <p:extLst>
      <p:ext uri="{BB962C8B-B14F-4D97-AF65-F5344CB8AC3E}">
        <p14:creationId xmlns:p14="http://schemas.microsoft.com/office/powerpoint/2010/main" val="17744491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5"/>
          </p:nvPr>
        </p:nvSpPr>
        <p:spPr/>
        <p:txBody>
          <a:bodyPr/>
          <a:lstStyle/>
          <a:p>
            <a:fld id="{1D648CE2-FB15-439F-B1F3-21AABB48477B}" type="slidenum">
              <a:rPr lang="en-ZA" smtClean="0"/>
              <a:t>4</a:t>
            </a:fld>
            <a:endParaRPr lang="en-ZA"/>
          </a:p>
        </p:txBody>
      </p:sp>
    </p:spTree>
    <p:extLst>
      <p:ext uri="{BB962C8B-B14F-4D97-AF65-F5344CB8AC3E}">
        <p14:creationId xmlns:p14="http://schemas.microsoft.com/office/powerpoint/2010/main" val="15151470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5"/>
          </p:nvPr>
        </p:nvSpPr>
        <p:spPr/>
        <p:txBody>
          <a:bodyPr/>
          <a:lstStyle/>
          <a:p>
            <a:fld id="{1D648CE2-FB15-439F-B1F3-21AABB48477B}" type="slidenum">
              <a:rPr lang="en-ZA" smtClean="0"/>
              <a:t>5</a:t>
            </a:fld>
            <a:endParaRPr lang="en-ZA"/>
          </a:p>
        </p:txBody>
      </p:sp>
    </p:spTree>
    <p:extLst>
      <p:ext uri="{BB962C8B-B14F-4D97-AF65-F5344CB8AC3E}">
        <p14:creationId xmlns:p14="http://schemas.microsoft.com/office/powerpoint/2010/main" val="14831498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5"/>
          </p:nvPr>
        </p:nvSpPr>
        <p:spPr/>
        <p:txBody>
          <a:bodyPr/>
          <a:lstStyle/>
          <a:p>
            <a:fld id="{1D648CE2-FB15-439F-B1F3-21AABB48477B}" type="slidenum">
              <a:rPr lang="en-ZA" smtClean="0"/>
              <a:t>7</a:t>
            </a:fld>
            <a:endParaRPr lang="en-ZA"/>
          </a:p>
        </p:txBody>
      </p:sp>
    </p:spTree>
    <p:extLst>
      <p:ext uri="{BB962C8B-B14F-4D97-AF65-F5344CB8AC3E}">
        <p14:creationId xmlns:p14="http://schemas.microsoft.com/office/powerpoint/2010/main" val="8939734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5"/>
          </p:nvPr>
        </p:nvSpPr>
        <p:spPr/>
        <p:txBody>
          <a:bodyPr/>
          <a:lstStyle/>
          <a:p>
            <a:fld id="{1D648CE2-FB15-439F-B1F3-21AABB48477B}" type="slidenum">
              <a:rPr lang="en-ZA" smtClean="0"/>
              <a:t>13</a:t>
            </a:fld>
            <a:endParaRPr lang="en-ZA"/>
          </a:p>
        </p:txBody>
      </p:sp>
    </p:spTree>
    <p:extLst>
      <p:ext uri="{BB962C8B-B14F-4D97-AF65-F5344CB8AC3E}">
        <p14:creationId xmlns:p14="http://schemas.microsoft.com/office/powerpoint/2010/main" val="11116106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856DDB-AD91-AB4B-F29A-68106D72C2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2004F7-C6E4-9BA5-8E00-8CA8C77696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A9D653-35C5-CF88-9357-1E878249F7BA}"/>
              </a:ext>
            </a:extLst>
          </p:cNvPr>
          <p:cNvSpPr>
            <a:spLocks noGrp="1"/>
          </p:cNvSpPr>
          <p:nvPr>
            <p:ph type="body" idx="1"/>
          </p:nvPr>
        </p:nvSpPr>
        <p:spPr/>
        <p:txBody>
          <a:bodyPr/>
          <a:lstStyle/>
          <a:p>
            <a:endParaRPr lang="en-ZA" dirty="0"/>
          </a:p>
        </p:txBody>
      </p:sp>
      <p:sp>
        <p:nvSpPr>
          <p:cNvPr id="4" name="Slide Number Placeholder 3">
            <a:extLst>
              <a:ext uri="{FF2B5EF4-FFF2-40B4-BE49-F238E27FC236}">
                <a16:creationId xmlns:a16="http://schemas.microsoft.com/office/drawing/2014/main" id="{5A320EDE-93D3-CC8F-402D-297E9EB511ED}"/>
              </a:ext>
            </a:extLst>
          </p:cNvPr>
          <p:cNvSpPr>
            <a:spLocks noGrp="1"/>
          </p:cNvSpPr>
          <p:nvPr>
            <p:ph type="sldNum" sz="quarter" idx="5"/>
          </p:nvPr>
        </p:nvSpPr>
        <p:spPr/>
        <p:txBody>
          <a:bodyPr/>
          <a:lstStyle/>
          <a:p>
            <a:fld id="{1D648CE2-FB15-439F-B1F3-21AABB48477B}" type="slidenum">
              <a:rPr lang="en-ZA" smtClean="0"/>
              <a:t>14</a:t>
            </a:fld>
            <a:endParaRPr lang="en-ZA"/>
          </a:p>
        </p:txBody>
      </p:sp>
    </p:spTree>
    <p:extLst>
      <p:ext uri="{BB962C8B-B14F-4D97-AF65-F5344CB8AC3E}">
        <p14:creationId xmlns:p14="http://schemas.microsoft.com/office/powerpoint/2010/main" val="32431986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5"/>
          </p:nvPr>
        </p:nvSpPr>
        <p:spPr/>
        <p:txBody>
          <a:bodyPr/>
          <a:lstStyle/>
          <a:p>
            <a:fld id="{1D648CE2-FB15-439F-B1F3-21AABB48477B}" type="slidenum">
              <a:rPr lang="en-ZA" smtClean="0"/>
              <a:t>16</a:t>
            </a:fld>
            <a:endParaRPr lang="en-ZA"/>
          </a:p>
        </p:txBody>
      </p:sp>
    </p:spTree>
    <p:extLst>
      <p:ext uri="{BB962C8B-B14F-4D97-AF65-F5344CB8AC3E}">
        <p14:creationId xmlns:p14="http://schemas.microsoft.com/office/powerpoint/2010/main" val="6048290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5"/>
          </p:nvPr>
        </p:nvSpPr>
        <p:spPr/>
        <p:txBody>
          <a:bodyPr/>
          <a:lstStyle/>
          <a:p>
            <a:fld id="{1D648CE2-FB15-439F-B1F3-21AABB48477B}" type="slidenum">
              <a:rPr lang="en-ZA" smtClean="0"/>
              <a:t>17</a:t>
            </a:fld>
            <a:endParaRPr lang="en-ZA"/>
          </a:p>
        </p:txBody>
      </p:sp>
    </p:spTree>
    <p:extLst>
      <p:ext uri="{BB962C8B-B14F-4D97-AF65-F5344CB8AC3E}">
        <p14:creationId xmlns:p14="http://schemas.microsoft.com/office/powerpoint/2010/main" val="12291657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5"/>
          </p:nvPr>
        </p:nvSpPr>
        <p:spPr/>
        <p:txBody>
          <a:bodyPr/>
          <a:lstStyle/>
          <a:p>
            <a:fld id="{1D648CE2-FB15-439F-B1F3-21AABB48477B}" type="slidenum">
              <a:rPr lang="en-ZA" smtClean="0"/>
              <a:t>18</a:t>
            </a:fld>
            <a:endParaRPr lang="en-ZA"/>
          </a:p>
        </p:txBody>
      </p:sp>
    </p:spTree>
    <p:extLst>
      <p:ext uri="{BB962C8B-B14F-4D97-AF65-F5344CB8AC3E}">
        <p14:creationId xmlns:p14="http://schemas.microsoft.com/office/powerpoint/2010/main" val="33087818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5"/>
          </p:nvPr>
        </p:nvSpPr>
        <p:spPr/>
        <p:txBody>
          <a:bodyPr/>
          <a:lstStyle/>
          <a:p>
            <a:fld id="{1D648CE2-FB15-439F-B1F3-21AABB48477B}" type="slidenum">
              <a:rPr lang="en-ZA" smtClean="0"/>
              <a:t>21</a:t>
            </a:fld>
            <a:endParaRPr lang="en-ZA"/>
          </a:p>
        </p:txBody>
      </p:sp>
    </p:spTree>
    <p:extLst>
      <p:ext uri="{BB962C8B-B14F-4D97-AF65-F5344CB8AC3E}">
        <p14:creationId xmlns:p14="http://schemas.microsoft.com/office/powerpoint/2010/main" val="13607775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6338FC-B6D3-AE39-39BC-8B0465220CA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ZA"/>
          </a:p>
        </p:txBody>
      </p:sp>
      <p:sp>
        <p:nvSpPr>
          <p:cNvPr id="3" name="Subtitle 2">
            <a:extLst>
              <a:ext uri="{FF2B5EF4-FFF2-40B4-BE49-F238E27FC236}">
                <a16:creationId xmlns:a16="http://schemas.microsoft.com/office/drawing/2014/main" id="{693E6FCE-AEAD-F4ED-DC95-E1389085931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ZA"/>
          </a:p>
        </p:txBody>
      </p:sp>
      <p:sp>
        <p:nvSpPr>
          <p:cNvPr id="4" name="Date Placeholder 3">
            <a:extLst>
              <a:ext uri="{FF2B5EF4-FFF2-40B4-BE49-F238E27FC236}">
                <a16:creationId xmlns:a16="http://schemas.microsoft.com/office/drawing/2014/main" id="{818BC474-3339-3D42-1B0F-7D0F76491C6B}"/>
              </a:ext>
            </a:extLst>
          </p:cNvPr>
          <p:cNvSpPr>
            <a:spLocks noGrp="1"/>
          </p:cNvSpPr>
          <p:nvPr>
            <p:ph type="dt" sz="half" idx="10"/>
          </p:nvPr>
        </p:nvSpPr>
        <p:spPr/>
        <p:txBody>
          <a:bodyPr/>
          <a:lstStyle/>
          <a:p>
            <a:fld id="{AA182798-EC96-41BA-9648-F3D0EE504AA5}" type="datetimeFigureOut">
              <a:rPr lang="en-ZA" smtClean="0"/>
              <a:t>2025/12/05</a:t>
            </a:fld>
            <a:endParaRPr lang="en-ZA"/>
          </a:p>
        </p:txBody>
      </p:sp>
      <p:sp>
        <p:nvSpPr>
          <p:cNvPr id="5" name="Footer Placeholder 4">
            <a:extLst>
              <a:ext uri="{FF2B5EF4-FFF2-40B4-BE49-F238E27FC236}">
                <a16:creationId xmlns:a16="http://schemas.microsoft.com/office/drawing/2014/main" id="{A640C775-0058-DE7A-BAFA-E9413C519F50}"/>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B18BEE2B-FFF7-A563-650C-6814326AB2E4}"/>
              </a:ext>
            </a:extLst>
          </p:cNvPr>
          <p:cNvSpPr>
            <a:spLocks noGrp="1"/>
          </p:cNvSpPr>
          <p:nvPr>
            <p:ph type="sldNum" sz="quarter" idx="12"/>
          </p:nvPr>
        </p:nvSpPr>
        <p:spPr/>
        <p:txBody>
          <a:bodyPr/>
          <a:lstStyle/>
          <a:p>
            <a:fld id="{5A9EF555-CEBB-41DB-8BE7-83CDF2138955}" type="slidenum">
              <a:rPr lang="en-ZA" smtClean="0"/>
              <a:t>‹#›</a:t>
            </a:fld>
            <a:endParaRPr lang="en-ZA"/>
          </a:p>
        </p:txBody>
      </p:sp>
    </p:spTree>
    <p:extLst>
      <p:ext uri="{BB962C8B-B14F-4D97-AF65-F5344CB8AC3E}">
        <p14:creationId xmlns:p14="http://schemas.microsoft.com/office/powerpoint/2010/main" val="15763844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ABD0E5-47E4-B7D5-D539-B073A961F544}"/>
              </a:ext>
            </a:extLst>
          </p:cNvPr>
          <p:cNvSpPr>
            <a:spLocks noGrp="1"/>
          </p:cNvSpPr>
          <p:nvPr>
            <p:ph type="title"/>
          </p:nvPr>
        </p:nvSpPr>
        <p:spPr/>
        <p:txBody>
          <a:bodyPr/>
          <a:lstStyle/>
          <a:p>
            <a:r>
              <a:rPr lang="en-US"/>
              <a:t>Click to edit Master title style</a:t>
            </a:r>
            <a:endParaRPr lang="en-ZA"/>
          </a:p>
        </p:txBody>
      </p:sp>
      <p:sp>
        <p:nvSpPr>
          <p:cNvPr id="3" name="Content Placeholder 2">
            <a:extLst>
              <a:ext uri="{FF2B5EF4-FFF2-40B4-BE49-F238E27FC236}">
                <a16:creationId xmlns:a16="http://schemas.microsoft.com/office/drawing/2014/main" id="{C137D2B8-375A-E9EC-E995-909D72356E7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CAD91248-74A0-D18E-6B84-692321B6CBF1}"/>
              </a:ext>
            </a:extLst>
          </p:cNvPr>
          <p:cNvSpPr>
            <a:spLocks noGrp="1"/>
          </p:cNvSpPr>
          <p:nvPr>
            <p:ph type="dt" sz="half" idx="10"/>
          </p:nvPr>
        </p:nvSpPr>
        <p:spPr/>
        <p:txBody>
          <a:bodyPr/>
          <a:lstStyle/>
          <a:p>
            <a:fld id="{AA182798-EC96-41BA-9648-F3D0EE504AA5}" type="datetimeFigureOut">
              <a:rPr lang="en-ZA" smtClean="0"/>
              <a:t>2025/12/05</a:t>
            </a:fld>
            <a:endParaRPr lang="en-ZA"/>
          </a:p>
        </p:txBody>
      </p:sp>
      <p:sp>
        <p:nvSpPr>
          <p:cNvPr id="5" name="Footer Placeholder 4">
            <a:extLst>
              <a:ext uri="{FF2B5EF4-FFF2-40B4-BE49-F238E27FC236}">
                <a16:creationId xmlns:a16="http://schemas.microsoft.com/office/drawing/2014/main" id="{29910C03-6C01-6BD4-35D9-83A3E48978B5}"/>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B556351F-F01F-6EBB-14D9-6B8B19D462FE}"/>
              </a:ext>
            </a:extLst>
          </p:cNvPr>
          <p:cNvSpPr>
            <a:spLocks noGrp="1"/>
          </p:cNvSpPr>
          <p:nvPr>
            <p:ph type="sldNum" sz="quarter" idx="12"/>
          </p:nvPr>
        </p:nvSpPr>
        <p:spPr/>
        <p:txBody>
          <a:bodyPr/>
          <a:lstStyle/>
          <a:p>
            <a:fld id="{5A9EF555-CEBB-41DB-8BE7-83CDF2138955}" type="slidenum">
              <a:rPr lang="en-ZA" smtClean="0"/>
              <a:t>‹#›</a:t>
            </a:fld>
            <a:endParaRPr lang="en-ZA"/>
          </a:p>
        </p:txBody>
      </p:sp>
    </p:spTree>
    <p:extLst>
      <p:ext uri="{BB962C8B-B14F-4D97-AF65-F5344CB8AC3E}">
        <p14:creationId xmlns:p14="http://schemas.microsoft.com/office/powerpoint/2010/main" val="9777893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8CD5EB-8D63-719B-1636-F17ED22342F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ZA"/>
          </a:p>
        </p:txBody>
      </p:sp>
      <p:sp>
        <p:nvSpPr>
          <p:cNvPr id="3" name="Text Placeholder 2">
            <a:extLst>
              <a:ext uri="{FF2B5EF4-FFF2-40B4-BE49-F238E27FC236}">
                <a16:creationId xmlns:a16="http://schemas.microsoft.com/office/drawing/2014/main" id="{81BCF65E-9C04-DD1A-C90D-0C5EC755431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4CBD106-0880-AC3C-DED8-97D53057F664}"/>
              </a:ext>
            </a:extLst>
          </p:cNvPr>
          <p:cNvSpPr>
            <a:spLocks noGrp="1"/>
          </p:cNvSpPr>
          <p:nvPr>
            <p:ph type="dt" sz="half" idx="10"/>
          </p:nvPr>
        </p:nvSpPr>
        <p:spPr/>
        <p:txBody>
          <a:bodyPr/>
          <a:lstStyle/>
          <a:p>
            <a:fld id="{AA182798-EC96-41BA-9648-F3D0EE504AA5}" type="datetimeFigureOut">
              <a:rPr lang="en-ZA" smtClean="0"/>
              <a:t>2025/12/05</a:t>
            </a:fld>
            <a:endParaRPr lang="en-ZA"/>
          </a:p>
        </p:txBody>
      </p:sp>
      <p:sp>
        <p:nvSpPr>
          <p:cNvPr id="5" name="Footer Placeholder 4">
            <a:extLst>
              <a:ext uri="{FF2B5EF4-FFF2-40B4-BE49-F238E27FC236}">
                <a16:creationId xmlns:a16="http://schemas.microsoft.com/office/drawing/2014/main" id="{A4FAEAE9-0148-E1CC-9430-F114E2E4B13B}"/>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E05AAC14-1DAE-D639-35FE-6CB86683B8B4}"/>
              </a:ext>
            </a:extLst>
          </p:cNvPr>
          <p:cNvSpPr>
            <a:spLocks noGrp="1"/>
          </p:cNvSpPr>
          <p:nvPr>
            <p:ph type="sldNum" sz="quarter" idx="12"/>
          </p:nvPr>
        </p:nvSpPr>
        <p:spPr/>
        <p:txBody>
          <a:bodyPr/>
          <a:lstStyle/>
          <a:p>
            <a:fld id="{5A9EF555-CEBB-41DB-8BE7-83CDF2138955}" type="slidenum">
              <a:rPr lang="en-ZA" smtClean="0"/>
              <a:t>‹#›</a:t>
            </a:fld>
            <a:endParaRPr lang="en-ZA"/>
          </a:p>
        </p:txBody>
      </p:sp>
    </p:spTree>
    <p:extLst>
      <p:ext uri="{BB962C8B-B14F-4D97-AF65-F5344CB8AC3E}">
        <p14:creationId xmlns:p14="http://schemas.microsoft.com/office/powerpoint/2010/main" val="761451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1A73F2-5E9F-453D-D05F-693A8E4D74D7}"/>
              </a:ext>
            </a:extLst>
          </p:cNvPr>
          <p:cNvSpPr>
            <a:spLocks noGrp="1"/>
          </p:cNvSpPr>
          <p:nvPr>
            <p:ph type="title"/>
          </p:nvPr>
        </p:nvSpPr>
        <p:spPr/>
        <p:txBody>
          <a:bodyPr/>
          <a:lstStyle/>
          <a:p>
            <a:r>
              <a:rPr lang="en-US"/>
              <a:t>Click to edit Master title style</a:t>
            </a:r>
            <a:endParaRPr lang="en-ZA"/>
          </a:p>
        </p:txBody>
      </p:sp>
      <p:sp>
        <p:nvSpPr>
          <p:cNvPr id="3" name="Content Placeholder 2">
            <a:extLst>
              <a:ext uri="{FF2B5EF4-FFF2-40B4-BE49-F238E27FC236}">
                <a16:creationId xmlns:a16="http://schemas.microsoft.com/office/drawing/2014/main" id="{FCA949C0-812B-513B-3CEB-3E113F86011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Content Placeholder 3">
            <a:extLst>
              <a:ext uri="{FF2B5EF4-FFF2-40B4-BE49-F238E27FC236}">
                <a16:creationId xmlns:a16="http://schemas.microsoft.com/office/drawing/2014/main" id="{D58456E5-1014-0E2A-56CE-C1DB6A20D01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Date Placeholder 4">
            <a:extLst>
              <a:ext uri="{FF2B5EF4-FFF2-40B4-BE49-F238E27FC236}">
                <a16:creationId xmlns:a16="http://schemas.microsoft.com/office/drawing/2014/main" id="{5D2887F0-568E-7003-4EDA-260601600F20}"/>
              </a:ext>
            </a:extLst>
          </p:cNvPr>
          <p:cNvSpPr>
            <a:spLocks noGrp="1"/>
          </p:cNvSpPr>
          <p:nvPr>
            <p:ph type="dt" sz="half" idx="10"/>
          </p:nvPr>
        </p:nvSpPr>
        <p:spPr/>
        <p:txBody>
          <a:bodyPr/>
          <a:lstStyle/>
          <a:p>
            <a:fld id="{AA182798-EC96-41BA-9648-F3D0EE504AA5}" type="datetimeFigureOut">
              <a:rPr lang="en-ZA" smtClean="0"/>
              <a:t>2025/12/05</a:t>
            </a:fld>
            <a:endParaRPr lang="en-ZA"/>
          </a:p>
        </p:txBody>
      </p:sp>
      <p:sp>
        <p:nvSpPr>
          <p:cNvPr id="6" name="Footer Placeholder 5">
            <a:extLst>
              <a:ext uri="{FF2B5EF4-FFF2-40B4-BE49-F238E27FC236}">
                <a16:creationId xmlns:a16="http://schemas.microsoft.com/office/drawing/2014/main" id="{480CCBB0-5768-66FB-0BC2-3A3D814FACE6}"/>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E871F217-EFE4-F8A9-540F-DD72131709F3}"/>
              </a:ext>
            </a:extLst>
          </p:cNvPr>
          <p:cNvSpPr>
            <a:spLocks noGrp="1"/>
          </p:cNvSpPr>
          <p:nvPr>
            <p:ph type="sldNum" sz="quarter" idx="12"/>
          </p:nvPr>
        </p:nvSpPr>
        <p:spPr/>
        <p:txBody>
          <a:bodyPr/>
          <a:lstStyle/>
          <a:p>
            <a:fld id="{5A9EF555-CEBB-41DB-8BE7-83CDF2138955}" type="slidenum">
              <a:rPr lang="en-ZA" smtClean="0"/>
              <a:t>‹#›</a:t>
            </a:fld>
            <a:endParaRPr lang="en-ZA"/>
          </a:p>
        </p:txBody>
      </p:sp>
    </p:spTree>
    <p:extLst>
      <p:ext uri="{BB962C8B-B14F-4D97-AF65-F5344CB8AC3E}">
        <p14:creationId xmlns:p14="http://schemas.microsoft.com/office/powerpoint/2010/main" val="23971312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652AC0-F955-5E11-DC33-72BCED234466}"/>
              </a:ext>
            </a:extLst>
          </p:cNvPr>
          <p:cNvSpPr>
            <a:spLocks noGrp="1"/>
          </p:cNvSpPr>
          <p:nvPr>
            <p:ph type="title"/>
          </p:nvPr>
        </p:nvSpPr>
        <p:spPr>
          <a:xfrm>
            <a:off x="839788" y="365125"/>
            <a:ext cx="10515600" cy="1325563"/>
          </a:xfrm>
        </p:spPr>
        <p:txBody>
          <a:bodyPr/>
          <a:lstStyle/>
          <a:p>
            <a:r>
              <a:rPr lang="en-US"/>
              <a:t>Click to edit Master title style</a:t>
            </a:r>
            <a:endParaRPr lang="en-ZA"/>
          </a:p>
        </p:txBody>
      </p:sp>
      <p:sp>
        <p:nvSpPr>
          <p:cNvPr id="3" name="Text Placeholder 2">
            <a:extLst>
              <a:ext uri="{FF2B5EF4-FFF2-40B4-BE49-F238E27FC236}">
                <a16:creationId xmlns:a16="http://schemas.microsoft.com/office/drawing/2014/main" id="{BC0FC978-C0CC-8ED3-8CD5-BA64E844A8A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9998869-EAD9-2F42-3568-438C9DFF601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Text Placeholder 4">
            <a:extLst>
              <a:ext uri="{FF2B5EF4-FFF2-40B4-BE49-F238E27FC236}">
                <a16:creationId xmlns:a16="http://schemas.microsoft.com/office/drawing/2014/main" id="{A9F7EDE9-6111-0939-0436-092653AFCAD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CDC55C5-3ABF-8E75-3DFC-59D897A51A1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7" name="Date Placeholder 6">
            <a:extLst>
              <a:ext uri="{FF2B5EF4-FFF2-40B4-BE49-F238E27FC236}">
                <a16:creationId xmlns:a16="http://schemas.microsoft.com/office/drawing/2014/main" id="{E68CA377-D3F4-6DE7-D201-4A07898C48C9}"/>
              </a:ext>
            </a:extLst>
          </p:cNvPr>
          <p:cNvSpPr>
            <a:spLocks noGrp="1"/>
          </p:cNvSpPr>
          <p:nvPr>
            <p:ph type="dt" sz="half" idx="10"/>
          </p:nvPr>
        </p:nvSpPr>
        <p:spPr/>
        <p:txBody>
          <a:bodyPr/>
          <a:lstStyle/>
          <a:p>
            <a:fld id="{AA182798-EC96-41BA-9648-F3D0EE504AA5}" type="datetimeFigureOut">
              <a:rPr lang="en-ZA" smtClean="0"/>
              <a:t>2025/12/05</a:t>
            </a:fld>
            <a:endParaRPr lang="en-ZA"/>
          </a:p>
        </p:txBody>
      </p:sp>
      <p:sp>
        <p:nvSpPr>
          <p:cNvPr id="8" name="Footer Placeholder 7">
            <a:extLst>
              <a:ext uri="{FF2B5EF4-FFF2-40B4-BE49-F238E27FC236}">
                <a16:creationId xmlns:a16="http://schemas.microsoft.com/office/drawing/2014/main" id="{D9F81C55-E90D-A0EB-D011-189302025B1F}"/>
              </a:ext>
            </a:extLst>
          </p:cNvPr>
          <p:cNvSpPr>
            <a:spLocks noGrp="1"/>
          </p:cNvSpPr>
          <p:nvPr>
            <p:ph type="ftr" sz="quarter" idx="11"/>
          </p:nvPr>
        </p:nvSpPr>
        <p:spPr/>
        <p:txBody>
          <a:bodyPr/>
          <a:lstStyle/>
          <a:p>
            <a:endParaRPr lang="en-ZA"/>
          </a:p>
        </p:txBody>
      </p:sp>
      <p:sp>
        <p:nvSpPr>
          <p:cNvPr id="9" name="Slide Number Placeholder 8">
            <a:extLst>
              <a:ext uri="{FF2B5EF4-FFF2-40B4-BE49-F238E27FC236}">
                <a16:creationId xmlns:a16="http://schemas.microsoft.com/office/drawing/2014/main" id="{0E4B0644-82A8-DC63-1A3D-CED4269AFE1B}"/>
              </a:ext>
            </a:extLst>
          </p:cNvPr>
          <p:cNvSpPr>
            <a:spLocks noGrp="1"/>
          </p:cNvSpPr>
          <p:nvPr>
            <p:ph type="sldNum" sz="quarter" idx="12"/>
          </p:nvPr>
        </p:nvSpPr>
        <p:spPr/>
        <p:txBody>
          <a:bodyPr/>
          <a:lstStyle/>
          <a:p>
            <a:fld id="{5A9EF555-CEBB-41DB-8BE7-83CDF2138955}" type="slidenum">
              <a:rPr lang="en-ZA" smtClean="0"/>
              <a:t>‹#›</a:t>
            </a:fld>
            <a:endParaRPr lang="en-ZA"/>
          </a:p>
        </p:txBody>
      </p:sp>
    </p:spTree>
    <p:extLst>
      <p:ext uri="{BB962C8B-B14F-4D97-AF65-F5344CB8AC3E}">
        <p14:creationId xmlns:p14="http://schemas.microsoft.com/office/powerpoint/2010/main" val="1172057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C4419C-178C-5C29-5AD2-C1B284F88F3E}"/>
              </a:ext>
            </a:extLst>
          </p:cNvPr>
          <p:cNvSpPr>
            <a:spLocks noGrp="1"/>
          </p:cNvSpPr>
          <p:nvPr>
            <p:ph type="title"/>
          </p:nvPr>
        </p:nvSpPr>
        <p:spPr/>
        <p:txBody>
          <a:bodyPr/>
          <a:lstStyle/>
          <a:p>
            <a:r>
              <a:rPr lang="en-US"/>
              <a:t>Click to edit Master title style</a:t>
            </a:r>
            <a:endParaRPr lang="en-ZA"/>
          </a:p>
        </p:txBody>
      </p:sp>
      <p:sp>
        <p:nvSpPr>
          <p:cNvPr id="3" name="Date Placeholder 2">
            <a:extLst>
              <a:ext uri="{FF2B5EF4-FFF2-40B4-BE49-F238E27FC236}">
                <a16:creationId xmlns:a16="http://schemas.microsoft.com/office/drawing/2014/main" id="{E809A582-3605-3D5C-223F-99A061F1C88D}"/>
              </a:ext>
            </a:extLst>
          </p:cNvPr>
          <p:cNvSpPr>
            <a:spLocks noGrp="1"/>
          </p:cNvSpPr>
          <p:nvPr>
            <p:ph type="dt" sz="half" idx="10"/>
          </p:nvPr>
        </p:nvSpPr>
        <p:spPr/>
        <p:txBody>
          <a:bodyPr/>
          <a:lstStyle/>
          <a:p>
            <a:fld id="{AA182798-EC96-41BA-9648-F3D0EE504AA5}" type="datetimeFigureOut">
              <a:rPr lang="en-ZA" smtClean="0"/>
              <a:t>2025/12/05</a:t>
            </a:fld>
            <a:endParaRPr lang="en-ZA"/>
          </a:p>
        </p:txBody>
      </p:sp>
      <p:sp>
        <p:nvSpPr>
          <p:cNvPr id="4" name="Footer Placeholder 3">
            <a:extLst>
              <a:ext uri="{FF2B5EF4-FFF2-40B4-BE49-F238E27FC236}">
                <a16:creationId xmlns:a16="http://schemas.microsoft.com/office/drawing/2014/main" id="{DBAA5702-E797-1ECB-6B0F-BFB585189B7A}"/>
              </a:ext>
            </a:extLst>
          </p:cNvPr>
          <p:cNvSpPr>
            <a:spLocks noGrp="1"/>
          </p:cNvSpPr>
          <p:nvPr>
            <p:ph type="ftr" sz="quarter" idx="11"/>
          </p:nvPr>
        </p:nvSpPr>
        <p:spPr/>
        <p:txBody>
          <a:bodyPr/>
          <a:lstStyle/>
          <a:p>
            <a:endParaRPr lang="en-ZA"/>
          </a:p>
        </p:txBody>
      </p:sp>
      <p:sp>
        <p:nvSpPr>
          <p:cNvPr id="5" name="Slide Number Placeholder 4">
            <a:extLst>
              <a:ext uri="{FF2B5EF4-FFF2-40B4-BE49-F238E27FC236}">
                <a16:creationId xmlns:a16="http://schemas.microsoft.com/office/drawing/2014/main" id="{876A333B-B508-73D7-AA7F-BCE08A1D51A8}"/>
              </a:ext>
            </a:extLst>
          </p:cNvPr>
          <p:cNvSpPr>
            <a:spLocks noGrp="1"/>
          </p:cNvSpPr>
          <p:nvPr>
            <p:ph type="sldNum" sz="quarter" idx="12"/>
          </p:nvPr>
        </p:nvSpPr>
        <p:spPr/>
        <p:txBody>
          <a:bodyPr/>
          <a:lstStyle/>
          <a:p>
            <a:fld id="{5A9EF555-CEBB-41DB-8BE7-83CDF2138955}" type="slidenum">
              <a:rPr lang="en-ZA" smtClean="0"/>
              <a:t>‹#›</a:t>
            </a:fld>
            <a:endParaRPr lang="en-ZA"/>
          </a:p>
        </p:txBody>
      </p:sp>
    </p:spTree>
    <p:extLst>
      <p:ext uri="{BB962C8B-B14F-4D97-AF65-F5344CB8AC3E}">
        <p14:creationId xmlns:p14="http://schemas.microsoft.com/office/powerpoint/2010/main" val="20336456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13FCAEA-C373-FA14-C192-8B844D8FCAA9}"/>
              </a:ext>
            </a:extLst>
          </p:cNvPr>
          <p:cNvSpPr>
            <a:spLocks noGrp="1"/>
          </p:cNvSpPr>
          <p:nvPr>
            <p:ph type="dt" sz="half" idx="10"/>
          </p:nvPr>
        </p:nvSpPr>
        <p:spPr/>
        <p:txBody>
          <a:bodyPr/>
          <a:lstStyle/>
          <a:p>
            <a:fld id="{AA182798-EC96-41BA-9648-F3D0EE504AA5}" type="datetimeFigureOut">
              <a:rPr lang="en-ZA" smtClean="0"/>
              <a:t>2025/12/05</a:t>
            </a:fld>
            <a:endParaRPr lang="en-ZA"/>
          </a:p>
        </p:txBody>
      </p:sp>
      <p:sp>
        <p:nvSpPr>
          <p:cNvPr id="3" name="Footer Placeholder 2">
            <a:extLst>
              <a:ext uri="{FF2B5EF4-FFF2-40B4-BE49-F238E27FC236}">
                <a16:creationId xmlns:a16="http://schemas.microsoft.com/office/drawing/2014/main" id="{90E41C55-7C50-08B7-B312-6E04061049AF}"/>
              </a:ext>
            </a:extLst>
          </p:cNvPr>
          <p:cNvSpPr>
            <a:spLocks noGrp="1"/>
          </p:cNvSpPr>
          <p:nvPr>
            <p:ph type="ftr" sz="quarter" idx="11"/>
          </p:nvPr>
        </p:nvSpPr>
        <p:spPr/>
        <p:txBody>
          <a:bodyPr/>
          <a:lstStyle/>
          <a:p>
            <a:endParaRPr lang="en-ZA"/>
          </a:p>
        </p:txBody>
      </p:sp>
      <p:sp>
        <p:nvSpPr>
          <p:cNvPr id="4" name="Slide Number Placeholder 3">
            <a:extLst>
              <a:ext uri="{FF2B5EF4-FFF2-40B4-BE49-F238E27FC236}">
                <a16:creationId xmlns:a16="http://schemas.microsoft.com/office/drawing/2014/main" id="{D53FDA58-8DB9-A1EA-DD0A-F014DBBDAC29}"/>
              </a:ext>
            </a:extLst>
          </p:cNvPr>
          <p:cNvSpPr>
            <a:spLocks noGrp="1"/>
          </p:cNvSpPr>
          <p:nvPr>
            <p:ph type="sldNum" sz="quarter" idx="12"/>
          </p:nvPr>
        </p:nvSpPr>
        <p:spPr/>
        <p:txBody>
          <a:bodyPr/>
          <a:lstStyle/>
          <a:p>
            <a:fld id="{5A9EF555-CEBB-41DB-8BE7-83CDF2138955}" type="slidenum">
              <a:rPr lang="en-ZA" smtClean="0"/>
              <a:t>‹#›</a:t>
            </a:fld>
            <a:endParaRPr lang="en-ZA"/>
          </a:p>
        </p:txBody>
      </p:sp>
    </p:spTree>
    <p:extLst>
      <p:ext uri="{BB962C8B-B14F-4D97-AF65-F5344CB8AC3E}">
        <p14:creationId xmlns:p14="http://schemas.microsoft.com/office/powerpoint/2010/main" val="4472885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B8AC33-6BA7-7B22-4F5B-C3B701D0754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A"/>
          </a:p>
        </p:txBody>
      </p:sp>
      <p:sp>
        <p:nvSpPr>
          <p:cNvPr id="3" name="Content Placeholder 2">
            <a:extLst>
              <a:ext uri="{FF2B5EF4-FFF2-40B4-BE49-F238E27FC236}">
                <a16:creationId xmlns:a16="http://schemas.microsoft.com/office/drawing/2014/main" id="{750C679A-87AB-F931-B5EA-F255BC09CFE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Text Placeholder 3">
            <a:extLst>
              <a:ext uri="{FF2B5EF4-FFF2-40B4-BE49-F238E27FC236}">
                <a16:creationId xmlns:a16="http://schemas.microsoft.com/office/drawing/2014/main" id="{8BC67E96-58B6-28C6-42B1-666E7A10ECE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9F765E1-0EE6-00D7-A4DC-6EEE0DA20912}"/>
              </a:ext>
            </a:extLst>
          </p:cNvPr>
          <p:cNvSpPr>
            <a:spLocks noGrp="1"/>
          </p:cNvSpPr>
          <p:nvPr>
            <p:ph type="dt" sz="half" idx="10"/>
          </p:nvPr>
        </p:nvSpPr>
        <p:spPr/>
        <p:txBody>
          <a:bodyPr/>
          <a:lstStyle/>
          <a:p>
            <a:fld id="{AA182798-EC96-41BA-9648-F3D0EE504AA5}" type="datetimeFigureOut">
              <a:rPr lang="en-ZA" smtClean="0"/>
              <a:t>2025/12/05</a:t>
            </a:fld>
            <a:endParaRPr lang="en-ZA"/>
          </a:p>
        </p:txBody>
      </p:sp>
      <p:sp>
        <p:nvSpPr>
          <p:cNvPr id="6" name="Footer Placeholder 5">
            <a:extLst>
              <a:ext uri="{FF2B5EF4-FFF2-40B4-BE49-F238E27FC236}">
                <a16:creationId xmlns:a16="http://schemas.microsoft.com/office/drawing/2014/main" id="{182D80D7-F8C3-F755-F3F1-8ABA00E3FF39}"/>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2E1B9B82-C4B1-69AE-A32F-47248765955B}"/>
              </a:ext>
            </a:extLst>
          </p:cNvPr>
          <p:cNvSpPr>
            <a:spLocks noGrp="1"/>
          </p:cNvSpPr>
          <p:nvPr>
            <p:ph type="sldNum" sz="quarter" idx="12"/>
          </p:nvPr>
        </p:nvSpPr>
        <p:spPr/>
        <p:txBody>
          <a:bodyPr/>
          <a:lstStyle/>
          <a:p>
            <a:fld id="{5A9EF555-CEBB-41DB-8BE7-83CDF2138955}" type="slidenum">
              <a:rPr lang="en-ZA" smtClean="0"/>
              <a:t>‹#›</a:t>
            </a:fld>
            <a:endParaRPr lang="en-ZA"/>
          </a:p>
        </p:txBody>
      </p:sp>
    </p:spTree>
    <p:extLst>
      <p:ext uri="{BB962C8B-B14F-4D97-AF65-F5344CB8AC3E}">
        <p14:creationId xmlns:p14="http://schemas.microsoft.com/office/powerpoint/2010/main" val="16508556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433AD5-6313-199C-6D85-5BF88DF4C4F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A"/>
          </a:p>
        </p:txBody>
      </p:sp>
      <p:sp>
        <p:nvSpPr>
          <p:cNvPr id="3" name="Picture Placeholder 2">
            <a:extLst>
              <a:ext uri="{FF2B5EF4-FFF2-40B4-BE49-F238E27FC236}">
                <a16:creationId xmlns:a16="http://schemas.microsoft.com/office/drawing/2014/main" id="{648C924A-C41A-BD27-C06B-E257B47F71F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ZA"/>
          </a:p>
        </p:txBody>
      </p:sp>
      <p:sp>
        <p:nvSpPr>
          <p:cNvPr id="4" name="Text Placeholder 3">
            <a:extLst>
              <a:ext uri="{FF2B5EF4-FFF2-40B4-BE49-F238E27FC236}">
                <a16:creationId xmlns:a16="http://schemas.microsoft.com/office/drawing/2014/main" id="{63B4A25C-39DB-09A3-9376-41C0E3F4A4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3ECC960-3607-0BC6-FAAD-4C1FADE2A6A8}"/>
              </a:ext>
            </a:extLst>
          </p:cNvPr>
          <p:cNvSpPr>
            <a:spLocks noGrp="1"/>
          </p:cNvSpPr>
          <p:nvPr>
            <p:ph type="dt" sz="half" idx="10"/>
          </p:nvPr>
        </p:nvSpPr>
        <p:spPr/>
        <p:txBody>
          <a:bodyPr/>
          <a:lstStyle/>
          <a:p>
            <a:fld id="{AA182798-EC96-41BA-9648-F3D0EE504AA5}" type="datetimeFigureOut">
              <a:rPr lang="en-ZA" smtClean="0"/>
              <a:t>2025/12/05</a:t>
            </a:fld>
            <a:endParaRPr lang="en-ZA"/>
          </a:p>
        </p:txBody>
      </p:sp>
      <p:sp>
        <p:nvSpPr>
          <p:cNvPr id="6" name="Footer Placeholder 5">
            <a:extLst>
              <a:ext uri="{FF2B5EF4-FFF2-40B4-BE49-F238E27FC236}">
                <a16:creationId xmlns:a16="http://schemas.microsoft.com/office/drawing/2014/main" id="{80786819-DF72-413B-152E-EB171311F8E2}"/>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FE6F5D2D-A6DB-5C4C-01DE-2C73207DDD95}"/>
              </a:ext>
            </a:extLst>
          </p:cNvPr>
          <p:cNvSpPr>
            <a:spLocks noGrp="1"/>
          </p:cNvSpPr>
          <p:nvPr>
            <p:ph type="sldNum" sz="quarter" idx="12"/>
          </p:nvPr>
        </p:nvSpPr>
        <p:spPr/>
        <p:txBody>
          <a:bodyPr/>
          <a:lstStyle/>
          <a:p>
            <a:fld id="{5A9EF555-CEBB-41DB-8BE7-83CDF2138955}" type="slidenum">
              <a:rPr lang="en-ZA" smtClean="0"/>
              <a:t>‹#›</a:t>
            </a:fld>
            <a:endParaRPr lang="en-ZA"/>
          </a:p>
        </p:txBody>
      </p:sp>
    </p:spTree>
    <p:extLst>
      <p:ext uri="{BB962C8B-B14F-4D97-AF65-F5344CB8AC3E}">
        <p14:creationId xmlns:p14="http://schemas.microsoft.com/office/powerpoint/2010/main" val="11582263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18FFAD-DA23-6AB0-EF4B-708B6F3B43C4}"/>
              </a:ext>
            </a:extLst>
          </p:cNvPr>
          <p:cNvSpPr>
            <a:spLocks noGrp="1"/>
          </p:cNvSpPr>
          <p:nvPr>
            <p:ph type="title"/>
          </p:nvPr>
        </p:nvSpPr>
        <p:spPr/>
        <p:txBody>
          <a:bodyPr/>
          <a:lstStyle/>
          <a:p>
            <a:r>
              <a:rPr lang="en-US"/>
              <a:t>Click to edit Master title style</a:t>
            </a:r>
            <a:endParaRPr lang="en-ZA"/>
          </a:p>
        </p:txBody>
      </p:sp>
      <p:sp>
        <p:nvSpPr>
          <p:cNvPr id="3" name="Vertical Text Placeholder 2">
            <a:extLst>
              <a:ext uri="{FF2B5EF4-FFF2-40B4-BE49-F238E27FC236}">
                <a16:creationId xmlns:a16="http://schemas.microsoft.com/office/drawing/2014/main" id="{954FFF54-4248-2BC2-5B21-662FD20FDFB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4FE7C141-9CDD-270C-2FA7-A24E74BC5F94}"/>
              </a:ext>
            </a:extLst>
          </p:cNvPr>
          <p:cNvSpPr>
            <a:spLocks noGrp="1"/>
          </p:cNvSpPr>
          <p:nvPr>
            <p:ph type="dt" sz="half" idx="10"/>
          </p:nvPr>
        </p:nvSpPr>
        <p:spPr/>
        <p:txBody>
          <a:bodyPr/>
          <a:lstStyle/>
          <a:p>
            <a:fld id="{AA182798-EC96-41BA-9648-F3D0EE504AA5}" type="datetimeFigureOut">
              <a:rPr lang="en-ZA" smtClean="0"/>
              <a:t>2025/12/05</a:t>
            </a:fld>
            <a:endParaRPr lang="en-ZA"/>
          </a:p>
        </p:txBody>
      </p:sp>
      <p:sp>
        <p:nvSpPr>
          <p:cNvPr id="5" name="Footer Placeholder 4">
            <a:extLst>
              <a:ext uri="{FF2B5EF4-FFF2-40B4-BE49-F238E27FC236}">
                <a16:creationId xmlns:a16="http://schemas.microsoft.com/office/drawing/2014/main" id="{B1D768DF-6AC2-6137-982A-35B444390DA5}"/>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B166D054-7B93-FFC7-D40F-8BDE062D3843}"/>
              </a:ext>
            </a:extLst>
          </p:cNvPr>
          <p:cNvSpPr>
            <a:spLocks noGrp="1"/>
          </p:cNvSpPr>
          <p:nvPr>
            <p:ph type="sldNum" sz="quarter" idx="12"/>
          </p:nvPr>
        </p:nvSpPr>
        <p:spPr/>
        <p:txBody>
          <a:bodyPr/>
          <a:lstStyle/>
          <a:p>
            <a:fld id="{5A9EF555-CEBB-41DB-8BE7-83CDF2138955}" type="slidenum">
              <a:rPr lang="en-ZA" smtClean="0"/>
              <a:t>‹#›</a:t>
            </a:fld>
            <a:endParaRPr lang="en-ZA"/>
          </a:p>
        </p:txBody>
      </p:sp>
    </p:spTree>
    <p:extLst>
      <p:ext uri="{BB962C8B-B14F-4D97-AF65-F5344CB8AC3E}">
        <p14:creationId xmlns:p14="http://schemas.microsoft.com/office/powerpoint/2010/main" val="12043561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A66FDB6-9877-524B-259F-513F84FC739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ZA"/>
          </a:p>
        </p:txBody>
      </p:sp>
      <p:sp>
        <p:nvSpPr>
          <p:cNvPr id="3" name="Vertical Text Placeholder 2">
            <a:extLst>
              <a:ext uri="{FF2B5EF4-FFF2-40B4-BE49-F238E27FC236}">
                <a16:creationId xmlns:a16="http://schemas.microsoft.com/office/drawing/2014/main" id="{DA2A52CC-CA5B-5649-9C44-3E6ACC62F5C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8FE3CB6C-9EC0-24B1-D571-333E70FBEAF9}"/>
              </a:ext>
            </a:extLst>
          </p:cNvPr>
          <p:cNvSpPr>
            <a:spLocks noGrp="1"/>
          </p:cNvSpPr>
          <p:nvPr>
            <p:ph type="dt" sz="half" idx="10"/>
          </p:nvPr>
        </p:nvSpPr>
        <p:spPr/>
        <p:txBody>
          <a:bodyPr/>
          <a:lstStyle/>
          <a:p>
            <a:fld id="{AA182798-EC96-41BA-9648-F3D0EE504AA5}" type="datetimeFigureOut">
              <a:rPr lang="en-ZA" smtClean="0"/>
              <a:t>2025/12/05</a:t>
            </a:fld>
            <a:endParaRPr lang="en-ZA"/>
          </a:p>
        </p:txBody>
      </p:sp>
      <p:sp>
        <p:nvSpPr>
          <p:cNvPr id="5" name="Footer Placeholder 4">
            <a:extLst>
              <a:ext uri="{FF2B5EF4-FFF2-40B4-BE49-F238E27FC236}">
                <a16:creationId xmlns:a16="http://schemas.microsoft.com/office/drawing/2014/main" id="{D2A6EE9B-6E95-7BDC-30F5-D7BBBB4B0FF8}"/>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0396CF27-B3E3-D107-5943-F7ECD08158E5}"/>
              </a:ext>
            </a:extLst>
          </p:cNvPr>
          <p:cNvSpPr>
            <a:spLocks noGrp="1"/>
          </p:cNvSpPr>
          <p:nvPr>
            <p:ph type="sldNum" sz="quarter" idx="12"/>
          </p:nvPr>
        </p:nvSpPr>
        <p:spPr/>
        <p:txBody>
          <a:bodyPr/>
          <a:lstStyle/>
          <a:p>
            <a:fld id="{5A9EF555-CEBB-41DB-8BE7-83CDF2138955}" type="slidenum">
              <a:rPr lang="en-ZA" smtClean="0"/>
              <a:t>‹#›</a:t>
            </a:fld>
            <a:endParaRPr lang="en-ZA"/>
          </a:p>
        </p:txBody>
      </p:sp>
    </p:spTree>
    <p:extLst>
      <p:ext uri="{BB962C8B-B14F-4D97-AF65-F5344CB8AC3E}">
        <p14:creationId xmlns:p14="http://schemas.microsoft.com/office/powerpoint/2010/main" val="19579386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E18CA21-68B5-8ED7-0A3F-F311550B178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ZA"/>
          </a:p>
        </p:txBody>
      </p:sp>
      <p:sp>
        <p:nvSpPr>
          <p:cNvPr id="3" name="Text Placeholder 2">
            <a:extLst>
              <a:ext uri="{FF2B5EF4-FFF2-40B4-BE49-F238E27FC236}">
                <a16:creationId xmlns:a16="http://schemas.microsoft.com/office/drawing/2014/main" id="{D397CE52-B5E1-1F3F-7DA7-CC9C7FB7C95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766995AE-50DC-0858-463A-6468C97E808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A182798-EC96-41BA-9648-F3D0EE504AA5}" type="datetimeFigureOut">
              <a:rPr lang="en-ZA" smtClean="0"/>
              <a:t>2025/12/05</a:t>
            </a:fld>
            <a:endParaRPr lang="en-ZA"/>
          </a:p>
        </p:txBody>
      </p:sp>
      <p:sp>
        <p:nvSpPr>
          <p:cNvPr id="5" name="Footer Placeholder 4">
            <a:extLst>
              <a:ext uri="{FF2B5EF4-FFF2-40B4-BE49-F238E27FC236}">
                <a16:creationId xmlns:a16="http://schemas.microsoft.com/office/drawing/2014/main" id="{ECC43248-C893-FA45-0051-851EF52549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ZA"/>
          </a:p>
        </p:txBody>
      </p:sp>
      <p:sp>
        <p:nvSpPr>
          <p:cNvPr id="6" name="Slide Number Placeholder 5">
            <a:extLst>
              <a:ext uri="{FF2B5EF4-FFF2-40B4-BE49-F238E27FC236}">
                <a16:creationId xmlns:a16="http://schemas.microsoft.com/office/drawing/2014/main" id="{40016613-B994-FCD0-2EAF-FE2D0059709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A9EF555-CEBB-41DB-8BE7-83CDF2138955}" type="slidenum">
              <a:rPr lang="en-ZA" smtClean="0"/>
              <a:t>‹#›</a:t>
            </a:fld>
            <a:endParaRPr lang="en-ZA"/>
          </a:p>
        </p:txBody>
      </p:sp>
    </p:spTree>
    <p:extLst>
      <p:ext uri="{BB962C8B-B14F-4D97-AF65-F5344CB8AC3E}">
        <p14:creationId xmlns:p14="http://schemas.microsoft.com/office/powerpoint/2010/main" val="36562210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jpeg"/><Relationship Id="rId5" Type="http://schemas.openxmlformats.org/officeDocument/2006/relationships/image" Target="../media/image3.jpe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4.jpeg"/><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4.jpeg"/><Relationship Id="rId4" Type="http://schemas.openxmlformats.org/officeDocument/2006/relationships/image" Target="../media/image3.jpeg"/></Relationships>
</file>

<file path=ppt/slides/_rels/slide4.xml.rels><?xml version="1.0" encoding="UTF-8" standalone="yes"?>
<Relationships xmlns="http://schemas.openxmlformats.org/package/2006/relationships"><Relationship Id="rId8" Type="http://schemas.openxmlformats.org/officeDocument/2006/relationships/image" Target="../media/image4.jpeg"/><Relationship Id="rId3" Type="http://schemas.openxmlformats.org/officeDocument/2006/relationships/image" Target="../media/image6.png"/><Relationship Id="rId7"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7.png"/><Relationship Id="rId3" Type="http://schemas.openxmlformats.org/officeDocument/2006/relationships/image" Target="../media/image9.png"/><Relationship Id="rId7" Type="http://schemas.openxmlformats.org/officeDocument/2006/relationships/image" Target="../media/image12.png"/><Relationship Id="rId12" Type="http://schemas.openxmlformats.org/officeDocument/2006/relationships/image" Target="../media/image16.jpe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1.png"/><Relationship Id="rId11" Type="http://schemas.microsoft.com/office/2007/relationships/hdphoto" Target="../media/hdphoto1.wdp"/><Relationship Id="rId5" Type="http://schemas.openxmlformats.org/officeDocument/2006/relationships/image" Target="../media/image10.gif"/><Relationship Id="rId15" Type="http://schemas.openxmlformats.org/officeDocument/2006/relationships/image" Target="../media/image4.jpeg"/><Relationship Id="rId10" Type="http://schemas.openxmlformats.org/officeDocument/2006/relationships/image" Target="../media/image15.png"/><Relationship Id="rId4" Type="http://schemas.openxmlformats.org/officeDocument/2006/relationships/image" Target="../media/image2.png"/><Relationship Id="rId9" Type="http://schemas.openxmlformats.org/officeDocument/2006/relationships/image" Target="../media/image14.png"/><Relationship Id="rId14" Type="http://schemas.openxmlformats.org/officeDocument/2006/relationships/image" Target="../media/image3.jpeg"/></Relationships>
</file>

<file path=ppt/slides/_rels/slide6.xml.rels><?xml version="1.0" encoding="UTF-8" standalone="yes"?>
<Relationships xmlns="http://schemas.openxmlformats.org/package/2006/relationships"><Relationship Id="rId8" Type="http://schemas.openxmlformats.org/officeDocument/2006/relationships/image" Target="../media/image3.jpeg"/><Relationship Id="rId3" Type="http://schemas.openxmlformats.org/officeDocument/2006/relationships/image" Target="../media/image2.png"/><Relationship Id="rId7" Type="http://schemas.microsoft.com/office/2007/relationships/hdphoto" Target="../media/hdphoto2.wdp"/><Relationship Id="rId2"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jpg"/><Relationship Id="rId4" Type="http://schemas.openxmlformats.org/officeDocument/2006/relationships/image" Target="../media/image19.png"/><Relationship Id="rId9" Type="http://schemas.openxmlformats.org/officeDocument/2006/relationships/image" Target="../media/image4.jpeg"/></Relationships>
</file>

<file path=ppt/slides/_rels/slide7.xml.rels><?xml version="1.0" encoding="UTF-8" standalone="yes"?>
<Relationships xmlns="http://schemas.openxmlformats.org/package/2006/relationships"><Relationship Id="rId8" Type="http://schemas.openxmlformats.org/officeDocument/2006/relationships/image" Target="../media/image25.png"/><Relationship Id="rId13" Type="http://schemas.openxmlformats.org/officeDocument/2006/relationships/image" Target="../media/image4.jpeg"/><Relationship Id="rId3" Type="http://schemas.openxmlformats.org/officeDocument/2006/relationships/image" Target="../media/image18.png"/><Relationship Id="rId7" Type="http://schemas.openxmlformats.org/officeDocument/2006/relationships/image" Target="../media/image24.png"/><Relationship Id="rId12"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23.png"/><Relationship Id="rId11" Type="http://schemas.openxmlformats.org/officeDocument/2006/relationships/image" Target="../media/image27.png"/><Relationship Id="rId5" Type="http://schemas.openxmlformats.org/officeDocument/2006/relationships/image" Target="../media/image22.png"/><Relationship Id="rId10" Type="http://schemas.microsoft.com/office/2007/relationships/hdphoto" Target="../media/hdphoto3.wdp"/><Relationship Id="rId4" Type="http://schemas.openxmlformats.org/officeDocument/2006/relationships/image" Target="../media/image2.png"/><Relationship Id="rId9" Type="http://schemas.openxmlformats.org/officeDocument/2006/relationships/image" Target="../media/image26.png"/></Relationships>
</file>

<file path=ppt/slides/_rels/slide8.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png"/><Relationship Id="rId7" Type="http://schemas.openxmlformats.org/officeDocument/2006/relationships/image" Target="../media/image29.jpe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28.jpeg"/><Relationship Id="rId5" Type="http://schemas.openxmlformats.org/officeDocument/2006/relationships/image" Target="../media/image4.jpeg"/><Relationship Id="rId4" Type="http://schemas.openxmlformats.org/officeDocument/2006/relationships/image" Target="../media/image3.jpeg"/><Relationship Id="rId9" Type="http://schemas.openxmlformats.org/officeDocument/2006/relationships/image" Target="../media/image31.jpeg"/></Relationships>
</file>

<file path=ppt/slides/_rels/slide9.xml.rels><?xml version="1.0" encoding="UTF-8" standalone="yes"?>
<Relationships xmlns="http://schemas.openxmlformats.org/package/2006/relationships"><Relationship Id="rId8" Type="http://schemas.openxmlformats.org/officeDocument/2006/relationships/image" Target="../media/image4.jpeg"/><Relationship Id="rId3" Type="http://schemas.openxmlformats.org/officeDocument/2006/relationships/image" Target="../media/image2.png"/><Relationship Id="rId7" Type="http://schemas.openxmlformats.org/officeDocument/2006/relationships/image" Target="../media/image3.jpeg"/><Relationship Id="rId2"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31.jpeg"/><Relationship Id="rId5" Type="http://schemas.openxmlformats.org/officeDocument/2006/relationships/image" Target="../media/image33.png"/><Relationship Id="rId4" Type="http://schemas.openxmlformats.org/officeDocument/2006/relationships/image" Target="../media/image32.jpeg"/></Relationships>
</file>

<file path=ppt/slides/_rels/slide10.xml.rels><?xml version="1.0" encoding="UTF-8" standalone="yes"?>
<Relationships xmlns="http://schemas.openxmlformats.org/package/2006/relationships"><Relationship Id="rId8" Type="http://schemas.openxmlformats.org/officeDocument/2006/relationships/image" Target="../media/image38.jpg"/><Relationship Id="rId3" Type="http://schemas.openxmlformats.org/officeDocument/2006/relationships/image" Target="../media/image2.png"/><Relationship Id="rId7" Type="http://schemas.openxmlformats.org/officeDocument/2006/relationships/image" Target="../media/image37.jpeg"/><Relationship Id="rId2"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36.png"/><Relationship Id="rId5" Type="http://schemas.openxmlformats.org/officeDocument/2006/relationships/image" Target="../media/image35.png"/><Relationship Id="rId10" Type="http://schemas.openxmlformats.org/officeDocument/2006/relationships/image" Target="../media/image4.jpeg"/><Relationship Id="rId4" Type="http://schemas.openxmlformats.org/officeDocument/2006/relationships/image" Target="../media/image34.png"/><Relationship Id="rId9" Type="http://schemas.openxmlformats.org/officeDocument/2006/relationships/image" Target="../media/image3.jpeg"/></Relationships>
</file>

<file path=ppt/slides/_rels/slide1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 Id="rId6" Type="http://schemas.openxmlformats.org/officeDocument/2006/relationships/image" Target="../media/image43.jpg"/><Relationship Id="rId5" Type="http://schemas.openxmlformats.org/officeDocument/2006/relationships/image" Target="../media/image42.jpeg"/><Relationship Id="rId4" Type="http://schemas.openxmlformats.org/officeDocument/2006/relationships/image" Target="../media/image41.jpe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4.png"/><Relationship Id="rId1" Type="http://schemas.openxmlformats.org/officeDocument/2006/relationships/slideLayout" Target="../slideLayouts/slideLayout2.xml"/><Relationship Id="rId6" Type="http://schemas.openxmlformats.org/officeDocument/2006/relationships/image" Target="../media/image45.jpg"/><Relationship Id="rId5" Type="http://schemas.openxmlformats.org/officeDocument/2006/relationships/image" Target="../media/image4.jpeg"/><Relationship Id="rId4" Type="http://schemas.openxmlformats.org/officeDocument/2006/relationships/image" Target="../media/image3.jpeg"/></Relationships>
</file>

<file path=ppt/slides/_rels/slide13.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image" Target="../media/image39.png"/><Relationship Id="rId7" Type="http://schemas.openxmlformats.org/officeDocument/2006/relationships/image" Target="../media/image46.jp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42.jpeg"/><Relationship Id="rId5" Type="http://schemas.openxmlformats.org/officeDocument/2006/relationships/image" Target="../media/image41.jpeg"/><Relationship Id="rId4" Type="http://schemas.openxmlformats.org/officeDocument/2006/relationships/image" Target="../media/image40.png"/></Relationships>
</file>

<file path=ppt/slides/_rels/slide14.xml.rels><?xml version="1.0" encoding="UTF-8" standalone="yes"?>
<Relationships xmlns="http://schemas.openxmlformats.org/package/2006/relationships"><Relationship Id="rId8" Type="http://schemas.openxmlformats.org/officeDocument/2006/relationships/image" Target="../media/image49.JPG"/><Relationship Id="rId3" Type="http://schemas.openxmlformats.org/officeDocument/2006/relationships/image" Target="../media/image44.png"/><Relationship Id="rId7" Type="http://schemas.openxmlformats.org/officeDocument/2006/relationships/image" Target="../media/image48.jp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4.jpeg"/><Relationship Id="rId5" Type="http://schemas.openxmlformats.org/officeDocument/2006/relationships/image" Target="../media/image3.jpe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4.png"/><Relationship Id="rId1" Type="http://schemas.openxmlformats.org/officeDocument/2006/relationships/slideLayout" Target="../slideLayouts/slideLayout2.xml"/><Relationship Id="rId6" Type="http://schemas.openxmlformats.org/officeDocument/2006/relationships/image" Target="../media/image50.png"/><Relationship Id="rId5" Type="http://schemas.openxmlformats.org/officeDocument/2006/relationships/image" Target="../media/image4.jpeg"/><Relationship Id="rId4" Type="http://schemas.openxmlformats.org/officeDocument/2006/relationships/image" Target="../media/image3.jpeg"/></Relationships>
</file>

<file path=ppt/slides/_rels/slide16.xml.rels><?xml version="1.0" encoding="UTF-8" standalone="yes"?>
<Relationships xmlns="http://schemas.openxmlformats.org/package/2006/relationships"><Relationship Id="rId3" Type="http://schemas.openxmlformats.org/officeDocument/2006/relationships/image" Target="../media/image44.png"/><Relationship Id="rId7" Type="http://schemas.openxmlformats.org/officeDocument/2006/relationships/image" Target="../media/image33.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4.jpeg"/><Relationship Id="rId5" Type="http://schemas.openxmlformats.org/officeDocument/2006/relationships/image" Target="../media/image3.jpeg"/><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image" Target="../media/image18.png"/><Relationship Id="rId7" Type="http://schemas.openxmlformats.org/officeDocument/2006/relationships/image" Target="../media/image4.jpe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3.jpeg"/><Relationship Id="rId5" Type="http://schemas.openxmlformats.org/officeDocument/2006/relationships/image" Target="../media/image51.jpeg"/><Relationship Id="rId4" Type="http://schemas.openxmlformats.org/officeDocument/2006/relationships/image" Target="../media/image2.png"/><Relationship Id="rId9" Type="http://schemas.openxmlformats.org/officeDocument/2006/relationships/image" Target="../media/image53.png"/></Relationships>
</file>

<file path=ppt/slides/_rels/slide18.xml.rels><?xml version="1.0" encoding="UTF-8" standalone="yes"?>
<Relationships xmlns="http://schemas.openxmlformats.org/package/2006/relationships"><Relationship Id="rId8" Type="http://schemas.openxmlformats.org/officeDocument/2006/relationships/image" Target="../media/image56.png"/><Relationship Id="rId3" Type="http://schemas.openxmlformats.org/officeDocument/2006/relationships/image" Target="../media/image18.png"/><Relationship Id="rId7" Type="http://schemas.openxmlformats.org/officeDocument/2006/relationships/image" Target="../media/image55.jpe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44.png"/><Relationship Id="rId11" Type="http://schemas.openxmlformats.org/officeDocument/2006/relationships/image" Target="../media/image57.png"/><Relationship Id="rId5" Type="http://schemas.openxmlformats.org/officeDocument/2006/relationships/image" Target="../media/image54.jpeg"/><Relationship Id="rId10" Type="http://schemas.openxmlformats.org/officeDocument/2006/relationships/image" Target="../media/image4.jpeg"/><Relationship Id="rId4" Type="http://schemas.openxmlformats.org/officeDocument/2006/relationships/image" Target="../media/image2.png"/><Relationship Id="rId9" Type="http://schemas.openxmlformats.org/officeDocument/2006/relationships/image" Target="../media/image3.jpeg"/></Relationships>
</file>

<file path=ppt/slides/_rels/slide19.xml.rels><?xml version="1.0" encoding="UTF-8" standalone="yes"?>
<Relationships xmlns="http://schemas.openxmlformats.org/package/2006/relationships"><Relationship Id="rId8" Type="http://schemas.openxmlformats.org/officeDocument/2006/relationships/image" Target="../media/image63.png"/><Relationship Id="rId13" Type="http://schemas.openxmlformats.org/officeDocument/2006/relationships/image" Target="../media/image3.jpeg"/><Relationship Id="rId3" Type="http://schemas.openxmlformats.org/officeDocument/2006/relationships/image" Target="../media/image2.png"/><Relationship Id="rId7" Type="http://schemas.openxmlformats.org/officeDocument/2006/relationships/image" Target="../media/image62.png"/><Relationship Id="rId12" Type="http://schemas.openxmlformats.org/officeDocument/2006/relationships/image" Target="../media/image67.png"/><Relationship Id="rId2" Type="http://schemas.openxmlformats.org/officeDocument/2006/relationships/image" Target="../media/image58.png"/><Relationship Id="rId1" Type="http://schemas.openxmlformats.org/officeDocument/2006/relationships/slideLayout" Target="../slideLayouts/slideLayout2.xml"/><Relationship Id="rId6" Type="http://schemas.openxmlformats.org/officeDocument/2006/relationships/image" Target="../media/image61.png"/><Relationship Id="rId11" Type="http://schemas.openxmlformats.org/officeDocument/2006/relationships/image" Target="../media/image66.png"/><Relationship Id="rId5" Type="http://schemas.openxmlformats.org/officeDocument/2006/relationships/image" Target="../media/image60.jpg"/><Relationship Id="rId10" Type="http://schemas.openxmlformats.org/officeDocument/2006/relationships/image" Target="../media/image65.png"/><Relationship Id="rId4" Type="http://schemas.openxmlformats.org/officeDocument/2006/relationships/image" Target="../media/image59.png"/><Relationship Id="rId9" Type="http://schemas.openxmlformats.org/officeDocument/2006/relationships/image" Target="../media/image64.png"/><Relationship Id="rId14" Type="http://schemas.openxmlformats.org/officeDocument/2006/relationships/image" Target="../media/image4.jpeg"/></Relationships>
</file>

<file path=ppt/slides/_rels/slide20.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image" Target="../media/image2.png"/><Relationship Id="rId7" Type="http://schemas.openxmlformats.org/officeDocument/2006/relationships/image" Target="../media/image71.jpeg"/><Relationship Id="rId2" Type="http://schemas.openxmlformats.org/officeDocument/2006/relationships/image" Target="../media/image58.png"/><Relationship Id="rId1" Type="http://schemas.openxmlformats.org/officeDocument/2006/relationships/slideLayout" Target="../slideLayouts/slideLayout2.xml"/><Relationship Id="rId6" Type="http://schemas.openxmlformats.org/officeDocument/2006/relationships/image" Target="../media/image70.jpeg"/><Relationship Id="rId11" Type="http://schemas.openxmlformats.org/officeDocument/2006/relationships/image" Target="../media/image4.jpeg"/><Relationship Id="rId5" Type="http://schemas.openxmlformats.org/officeDocument/2006/relationships/image" Target="../media/image69.jpeg"/><Relationship Id="rId10" Type="http://schemas.openxmlformats.org/officeDocument/2006/relationships/image" Target="../media/image3.jpeg"/><Relationship Id="rId4" Type="http://schemas.openxmlformats.org/officeDocument/2006/relationships/image" Target="../media/image68.jpeg"/><Relationship Id="rId9" Type="http://schemas.openxmlformats.org/officeDocument/2006/relationships/image" Target="../media/image72.jpeg"/></Relationships>
</file>

<file path=ppt/slides/_rels/slide21.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4.jpeg"/><Relationship Id="rId5" Type="http://schemas.openxmlformats.org/officeDocument/2006/relationships/image" Target="../media/image3.jpe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5EAF0D3-056A-511A-AC82-9B3A5FC55FD2}"/>
              </a:ext>
            </a:extLst>
          </p:cNvPr>
          <p:cNvPicPr>
            <a:picLocks noChangeAspect="1"/>
          </p:cNvPicPr>
          <p:nvPr/>
        </p:nvPicPr>
        <p:blipFill>
          <a:blip r:embed="rId3"/>
          <a:stretch>
            <a:fillRect/>
          </a:stretch>
        </p:blipFill>
        <p:spPr>
          <a:xfrm>
            <a:off x="0" y="0"/>
            <a:ext cx="12213000" cy="6858000"/>
          </a:xfrm>
          <a:prstGeom prst="rect">
            <a:avLst/>
          </a:prstGeom>
        </p:spPr>
      </p:pic>
      <p:sp>
        <p:nvSpPr>
          <p:cNvPr id="8" name="Rectangle 7">
            <a:extLst>
              <a:ext uri="{FF2B5EF4-FFF2-40B4-BE49-F238E27FC236}">
                <a16:creationId xmlns:a16="http://schemas.microsoft.com/office/drawing/2014/main" id="{65AB379B-B759-E82D-DFA7-2D2342B2C128}"/>
              </a:ext>
            </a:extLst>
          </p:cNvPr>
          <p:cNvSpPr/>
          <p:nvPr/>
        </p:nvSpPr>
        <p:spPr>
          <a:xfrm>
            <a:off x="491613" y="403123"/>
            <a:ext cx="4876800" cy="400172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2" name="Title 1">
            <a:extLst>
              <a:ext uri="{FF2B5EF4-FFF2-40B4-BE49-F238E27FC236}">
                <a16:creationId xmlns:a16="http://schemas.microsoft.com/office/drawing/2014/main" id="{1435711F-A4E9-B036-1846-7E6D1597FAF0}"/>
              </a:ext>
            </a:extLst>
          </p:cNvPr>
          <p:cNvSpPr>
            <a:spLocks noGrp="1"/>
          </p:cNvSpPr>
          <p:nvPr>
            <p:ph type="ctrTitle"/>
          </p:nvPr>
        </p:nvSpPr>
        <p:spPr>
          <a:xfrm>
            <a:off x="255640" y="2873155"/>
            <a:ext cx="6966154" cy="2573195"/>
          </a:xfrm>
        </p:spPr>
        <p:txBody>
          <a:bodyPr>
            <a:noAutofit/>
          </a:bodyPr>
          <a:lstStyle/>
          <a:p>
            <a:r>
              <a:rPr lang="en-GB" b="1" dirty="0">
                <a:effectLst>
                  <a:outerShdw blurRad="38100" dist="38100" dir="2700000" algn="tl">
                    <a:srgbClr val="000000">
                      <a:alpha val="43137"/>
                    </a:srgbClr>
                  </a:outerShdw>
                </a:effectLst>
                <a:latin typeface="Garamond" panose="02020404030301010803" pitchFamily="18" charset="0"/>
              </a:rPr>
              <a:t>ESWASA   </a:t>
            </a:r>
            <a:r>
              <a:rPr lang="en-GB" sz="5400" b="1" dirty="0">
                <a:effectLst>
                  <a:outerShdw blurRad="38100" dist="38100" dir="2700000" algn="tl">
                    <a:srgbClr val="000000">
                      <a:alpha val="43137"/>
                    </a:srgbClr>
                  </a:outerShdw>
                </a:effectLst>
                <a:latin typeface="Garamond" panose="02020404030301010803" pitchFamily="18" charset="0"/>
              </a:rPr>
              <a:t>CERTIFICATION</a:t>
            </a:r>
            <a:endParaRPr lang="en-ZA" sz="5400" b="1" dirty="0">
              <a:effectLst>
                <a:outerShdw blurRad="38100" dist="38100" dir="2700000" algn="tl">
                  <a:srgbClr val="000000">
                    <a:alpha val="43137"/>
                  </a:srgbClr>
                </a:outerShdw>
              </a:effectLst>
              <a:latin typeface="Garamond" panose="02020404030301010803" pitchFamily="18" charset="0"/>
            </a:endParaRPr>
          </a:p>
        </p:txBody>
      </p:sp>
      <p:sp>
        <p:nvSpPr>
          <p:cNvPr id="3" name="Subtitle 2">
            <a:extLst>
              <a:ext uri="{FF2B5EF4-FFF2-40B4-BE49-F238E27FC236}">
                <a16:creationId xmlns:a16="http://schemas.microsoft.com/office/drawing/2014/main" id="{2B084166-44D8-1D8B-45D3-D48A81E68EA9}"/>
              </a:ext>
            </a:extLst>
          </p:cNvPr>
          <p:cNvSpPr>
            <a:spLocks noGrp="1"/>
          </p:cNvSpPr>
          <p:nvPr>
            <p:ph type="subTitle" idx="1"/>
          </p:nvPr>
        </p:nvSpPr>
        <p:spPr>
          <a:xfrm>
            <a:off x="4059677" y="5810333"/>
            <a:ext cx="4185880" cy="427718"/>
          </a:xfrm>
        </p:spPr>
        <p:txBody>
          <a:bodyPr>
            <a:noAutofit/>
          </a:bodyPr>
          <a:lstStyle/>
          <a:p>
            <a:r>
              <a:rPr lang="en-GB" sz="2000" b="1" dirty="0">
                <a:effectLst>
                  <a:outerShdw blurRad="38100" dist="38100" dir="2700000" algn="tl">
                    <a:srgbClr val="000000">
                      <a:alpha val="43137"/>
                    </a:srgbClr>
                  </a:outerShdw>
                </a:effectLst>
                <a:latin typeface="Garamond" panose="02020404030301010803" pitchFamily="18" charset="0"/>
              </a:rPr>
              <a:t>DUAL M INVESTMENTS</a:t>
            </a:r>
            <a:endParaRPr lang="en-ZA" sz="2000" b="1" dirty="0">
              <a:effectLst>
                <a:outerShdw blurRad="38100" dist="38100" dir="2700000" algn="tl">
                  <a:srgbClr val="000000">
                    <a:alpha val="43137"/>
                  </a:srgbClr>
                </a:outerShdw>
              </a:effectLst>
              <a:latin typeface="Garamond" panose="02020404030301010803" pitchFamily="18" charset="0"/>
            </a:endParaRPr>
          </a:p>
        </p:txBody>
      </p:sp>
      <p:pic>
        <p:nvPicPr>
          <p:cNvPr id="10" name="Picture 9">
            <a:extLst>
              <a:ext uri="{FF2B5EF4-FFF2-40B4-BE49-F238E27FC236}">
                <a16:creationId xmlns:a16="http://schemas.microsoft.com/office/drawing/2014/main" id="{92739CF8-2763-5554-734A-A68CA21EA35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2038"/>
            <a:ext cx="3600000" cy="3600000"/>
          </a:xfrm>
          <a:prstGeom prst="rect">
            <a:avLst/>
          </a:prstGeom>
        </p:spPr>
      </p:pic>
      <p:sp>
        <p:nvSpPr>
          <p:cNvPr id="11" name="Arrow: Pentagon 10">
            <a:extLst>
              <a:ext uri="{FF2B5EF4-FFF2-40B4-BE49-F238E27FC236}">
                <a16:creationId xmlns:a16="http://schemas.microsoft.com/office/drawing/2014/main" id="{B1A311E9-85B3-C403-725E-F194B23BDF1E}"/>
              </a:ext>
            </a:extLst>
          </p:cNvPr>
          <p:cNvSpPr/>
          <p:nvPr/>
        </p:nvSpPr>
        <p:spPr>
          <a:xfrm>
            <a:off x="1238865" y="5382734"/>
            <a:ext cx="3962400" cy="58994"/>
          </a:xfrm>
          <a:prstGeom prst="homePlate">
            <a:avLst/>
          </a:prstGeom>
          <a:solidFill>
            <a:srgbClr val="CDD7D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2" name="Arrow: Pentagon 11">
            <a:extLst>
              <a:ext uri="{FF2B5EF4-FFF2-40B4-BE49-F238E27FC236}">
                <a16:creationId xmlns:a16="http://schemas.microsoft.com/office/drawing/2014/main" id="{CAE3EAAF-D964-E49B-C635-70082D924C38}"/>
              </a:ext>
            </a:extLst>
          </p:cNvPr>
          <p:cNvSpPr/>
          <p:nvPr/>
        </p:nvSpPr>
        <p:spPr>
          <a:xfrm>
            <a:off x="698091" y="5574070"/>
            <a:ext cx="3962400" cy="58994"/>
          </a:xfrm>
          <a:prstGeom prst="homePlate">
            <a:avLst/>
          </a:prstGeom>
          <a:solidFill>
            <a:srgbClr val="4987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3" name="Arrow: Pentagon 12">
            <a:extLst>
              <a:ext uri="{FF2B5EF4-FFF2-40B4-BE49-F238E27FC236}">
                <a16:creationId xmlns:a16="http://schemas.microsoft.com/office/drawing/2014/main" id="{F230A73E-2EB6-8AB9-DF02-6DBA28C0FB7C}"/>
              </a:ext>
            </a:extLst>
          </p:cNvPr>
          <p:cNvSpPr/>
          <p:nvPr/>
        </p:nvSpPr>
        <p:spPr>
          <a:xfrm>
            <a:off x="2482645" y="5485187"/>
            <a:ext cx="3962400" cy="58994"/>
          </a:xfrm>
          <a:prstGeom prst="homePlate">
            <a:avLst/>
          </a:prstGeom>
          <a:solidFill>
            <a:srgbClr val="004A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4" name="Arrow: Pentagon 13">
            <a:extLst>
              <a:ext uri="{FF2B5EF4-FFF2-40B4-BE49-F238E27FC236}">
                <a16:creationId xmlns:a16="http://schemas.microsoft.com/office/drawing/2014/main" id="{BD8A74CF-E618-022C-6415-88EC42567432}"/>
              </a:ext>
            </a:extLst>
          </p:cNvPr>
          <p:cNvSpPr/>
          <p:nvPr/>
        </p:nvSpPr>
        <p:spPr>
          <a:xfrm>
            <a:off x="1700980" y="5691206"/>
            <a:ext cx="3962400" cy="58994"/>
          </a:xfrm>
          <a:prstGeom prst="homePlate">
            <a:avLst/>
          </a:prstGeom>
          <a:solidFill>
            <a:srgbClr val="38B6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4" name="Text Box 2">
            <a:extLst>
              <a:ext uri="{FF2B5EF4-FFF2-40B4-BE49-F238E27FC236}">
                <a16:creationId xmlns:a16="http://schemas.microsoft.com/office/drawing/2014/main" id="{A67F1A86-33C6-DD51-C19A-F5AD3A38365B}"/>
              </a:ext>
            </a:extLst>
          </p:cNvPr>
          <p:cNvSpPr txBox="1">
            <a:spLocks noChangeArrowheads="1"/>
          </p:cNvSpPr>
          <p:nvPr/>
        </p:nvSpPr>
        <p:spPr bwMode="auto">
          <a:xfrm>
            <a:off x="4136541" y="6585679"/>
            <a:ext cx="2527722" cy="307940"/>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2E3191"/>
                </a:solidFill>
                <a:effectLst/>
                <a:latin typeface="BankGothic Lt BT" panose="020B0607020203060204" pitchFamily="34" charset="0"/>
              </a:rPr>
              <a:t>#ImprovingTheWorldWeLiveIn</a:t>
            </a:r>
            <a:endParaRPr kumimoji="0" lang="en-US" altLang="en-US" sz="1200" b="0" i="0" u="none" strike="noStrike" cap="none" normalizeH="0" baseline="0" dirty="0">
              <a:ln>
                <a:noFill/>
              </a:ln>
              <a:solidFill>
                <a:schemeClr val="tx1"/>
              </a:solidFill>
              <a:effectLst/>
              <a:latin typeface="Arial" panose="020B0604020202020204" pitchFamily="34" charset="0"/>
            </a:endParaRPr>
          </a:p>
        </p:txBody>
      </p:sp>
      <p:pic>
        <p:nvPicPr>
          <p:cNvPr id="5" name="Picture 5" descr="social-media-logos-facebook-twitter-instagram-youtube-flickr-vector-pg-transparent-background-high-resolution-linkedin-googleplus-210299554">
            <a:extLst>
              <a:ext uri="{FF2B5EF4-FFF2-40B4-BE49-F238E27FC236}">
                <a16:creationId xmlns:a16="http://schemas.microsoft.com/office/drawing/2014/main" id="{4B0CC50D-CC5F-C11B-0450-F638783FA821}"/>
              </a:ext>
            </a:extLst>
          </p:cNvPr>
          <p:cNvPicPr>
            <a:picLocks noChangeAspect="1" noChangeArrowheads="1"/>
          </p:cNvPicPr>
          <p:nvPr/>
        </p:nvPicPr>
        <p:blipFill>
          <a:blip r:embed="rId5" cstate="print">
            <a:clrChange>
              <a:clrFrom>
                <a:srgbClr val="FFFFFF"/>
              </a:clrFrom>
              <a:clrTo>
                <a:srgbClr val="FFFFFF">
                  <a:alpha val="0"/>
                </a:srgbClr>
              </a:clrTo>
            </a:clrChange>
            <a:extLst>
              <a:ext uri="{28A0092B-C50C-407E-A947-70E740481C1C}">
                <a14:useLocalDpi xmlns:a14="http://schemas.microsoft.com/office/drawing/2010/main" val="0"/>
              </a:ext>
            </a:extLst>
          </a:blip>
          <a:srcRect l="51178" t="8835" r="39842" b="71758"/>
          <a:stretch>
            <a:fillRect/>
          </a:stretch>
        </p:blipFill>
        <p:spPr bwMode="auto">
          <a:xfrm>
            <a:off x="6796574" y="6658245"/>
            <a:ext cx="177800" cy="184150"/>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pic>
      <p:pic>
        <p:nvPicPr>
          <p:cNvPr id="6" name="Picture 6" descr="social-media-logos-facebook-twitter-instagram-youtube-flickr-vector-pg-transparent-background-high-resolution-linkedin-googleplus-210299554">
            <a:extLst>
              <a:ext uri="{FF2B5EF4-FFF2-40B4-BE49-F238E27FC236}">
                <a16:creationId xmlns:a16="http://schemas.microsoft.com/office/drawing/2014/main" id="{98547734-EFA8-3F92-AABC-2DA8E9545309}"/>
              </a:ext>
            </a:extLst>
          </p:cNvPr>
          <p:cNvPicPr>
            <a:picLocks noChangeAspect="1" noChangeArrowheads="1"/>
          </p:cNvPicPr>
          <p:nvPr/>
        </p:nvPicPr>
        <p:blipFill>
          <a:blip r:embed="rId6" cstate="print">
            <a:clrChange>
              <a:clrFrom>
                <a:srgbClr val="FFFFFF"/>
              </a:clrFrom>
              <a:clrTo>
                <a:srgbClr val="FFFFFF">
                  <a:alpha val="0"/>
                </a:srgbClr>
              </a:clrTo>
            </a:clrChange>
            <a:extLst>
              <a:ext uri="{28A0092B-C50C-407E-A947-70E740481C1C}">
                <a14:useLocalDpi xmlns:a14="http://schemas.microsoft.com/office/drawing/2010/main" val="0"/>
              </a:ext>
            </a:extLst>
          </a:blip>
          <a:srcRect l="86784" t="34485" r="4137" b="46553"/>
          <a:stretch>
            <a:fillRect/>
          </a:stretch>
        </p:blipFill>
        <p:spPr bwMode="auto">
          <a:xfrm>
            <a:off x="7037644" y="6658245"/>
            <a:ext cx="184150" cy="184150"/>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pic>
      <p:cxnSp>
        <p:nvCxnSpPr>
          <p:cNvPr id="9" name="Straight Connector 8">
            <a:extLst>
              <a:ext uri="{FF2B5EF4-FFF2-40B4-BE49-F238E27FC236}">
                <a16:creationId xmlns:a16="http://schemas.microsoft.com/office/drawing/2014/main" id="{7616BC14-CBB1-8222-A91D-FB3EC1F21DFF}"/>
              </a:ext>
            </a:extLst>
          </p:cNvPr>
          <p:cNvCxnSpPr/>
          <p:nvPr/>
        </p:nvCxnSpPr>
        <p:spPr>
          <a:xfrm>
            <a:off x="1899677" y="6710223"/>
            <a:ext cx="2160000" cy="0"/>
          </a:xfrm>
          <a:prstGeom prst="line">
            <a:avLst/>
          </a:prstGeom>
          <a:ln w="28575">
            <a:solidFill>
              <a:srgbClr val="2E3191"/>
            </a:solidFill>
          </a:ln>
        </p:spPr>
        <p:style>
          <a:lnRef idx="1">
            <a:schemeClr val="accent1"/>
          </a:lnRef>
          <a:fillRef idx="0">
            <a:schemeClr val="accent1"/>
          </a:fillRef>
          <a:effectRef idx="0">
            <a:schemeClr val="accent1"/>
          </a:effectRef>
          <a:fontRef idx="minor">
            <a:schemeClr val="tx1"/>
          </a:fontRef>
        </p:style>
      </p:cxnSp>
      <p:pic>
        <p:nvPicPr>
          <p:cNvPr id="15" name="Picture 14">
            <a:extLst>
              <a:ext uri="{FF2B5EF4-FFF2-40B4-BE49-F238E27FC236}">
                <a16:creationId xmlns:a16="http://schemas.microsoft.com/office/drawing/2014/main" id="{BA4696D5-5F58-44B6-0D72-13EC8400594F}"/>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4560202" y="291329"/>
            <a:ext cx="3071596" cy="2880000"/>
          </a:xfrm>
          <a:prstGeom prst="rect">
            <a:avLst/>
          </a:prstGeom>
        </p:spPr>
      </p:pic>
    </p:spTree>
    <p:extLst>
      <p:ext uri="{BB962C8B-B14F-4D97-AF65-F5344CB8AC3E}">
        <p14:creationId xmlns:p14="http://schemas.microsoft.com/office/powerpoint/2010/main" val="20619886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874D18CA-4F94-23B5-070B-81693228C515}"/>
              </a:ext>
            </a:extLst>
          </p:cNvPr>
          <p:cNvPicPr>
            <a:picLocks noGrp="1" noChangeAspect="1"/>
          </p:cNvPicPr>
          <p:nvPr>
            <p:ph idx="1"/>
          </p:nvPr>
        </p:nvPicPr>
        <p:blipFill>
          <a:blip r:embed="rId2"/>
          <a:stretch>
            <a:fillRect/>
          </a:stretch>
        </p:blipFill>
        <p:spPr>
          <a:xfrm>
            <a:off x="0" y="0"/>
            <a:ext cx="12192000" cy="6858000"/>
          </a:xfrm>
        </p:spPr>
      </p:pic>
      <p:sp>
        <p:nvSpPr>
          <p:cNvPr id="6" name="Rectangle 5">
            <a:extLst>
              <a:ext uri="{FF2B5EF4-FFF2-40B4-BE49-F238E27FC236}">
                <a16:creationId xmlns:a16="http://schemas.microsoft.com/office/drawing/2014/main" id="{BA4304C2-BADD-62EE-C875-2A5346453EF4}"/>
              </a:ext>
            </a:extLst>
          </p:cNvPr>
          <p:cNvSpPr/>
          <p:nvPr/>
        </p:nvSpPr>
        <p:spPr>
          <a:xfrm>
            <a:off x="471948" y="415558"/>
            <a:ext cx="7737987" cy="527009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dirty="0"/>
          </a:p>
        </p:txBody>
      </p:sp>
      <p:sp>
        <p:nvSpPr>
          <p:cNvPr id="7" name="Rectangle 6">
            <a:extLst>
              <a:ext uri="{FF2B5EF4-FFF2-40B4-BE49-F238E27FC236}">
                <a16:creationId xmlns:a16="http://schemas.microsoft.com/office/drawing/2014/main" id="{F43D6D25-6582-86D2-3861-F7DCE6A77F81}"/>
              </a:ext>
            </a:extLst>
          </p:cNvPr>
          <p:cNvSpPr/>
          <p:nvPr/>
        </p:nvSpPr>
        <p:spPr>
          <a:xfrm>
            <a:off x="963561" y="5673213"/>
            <a:ext cx="2074607" cy="32446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8" name="Picture 7">
            <a:extLst>
              <a:ext uri="{FF2B5EF4-FFF2-40B4-BE49-F238E27FC236}">
                <a16:creationId xmlns:a16="http://schemas.microsoft.com/office/drawing/2014/main" id="{5E7C0B03-1771-3E65-5EF5-7BCE88B0A80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038"/>
            <a:ext cx="1080000" cy="1080000"/>
          </a:xfrm>
          <a:prstGeom prst="rect">
            <a:avLst/>
          </a:prstGeom>
        </p:spPr>
      </p:pic>
      <p:sp>
        <p:nvSpPr>
          <p:cNvPr id="16" name="Content Placeholder 4">
            <a:extLst>
              <a:ext uri="{FF2B5EF4-FFF2-40B4-BE49-F238E27FC236}">
                <a16:creationId xmlns:a16="http://schemas.microsoft.com/office/drawing/2014/main" id="{3BDE3088-E942-A43B-C67B-C75A4F0CB099}"/>
              </a:ext>
            </a:extLst>
          </p:cNvPr>
          <p:cNvSpPr txBox="1">
            <a:spLocks/>
          </p:cNvSpPr>
          <p:nvPr/>
        </p:nvSpPr>
        <p:spPr>
          <a:xfrm>
            <a:off x="23748" y="2329549"/>
            <a:ext cx="4891864" cy="33559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42925" indent="-457200">
              <a:lnSpc>
                <a:spcPct val="150000"/>
              </a:lnSpc>
              <a:spcBef>
                <a:spcPts val="0"/>
              </a:spcBef>
              <a:buFont typeface="Wingdings" panose="05000000000000000000" pitchFamily="2" charset="2"/>
              <a:buChar char="§"/>
              <a:defRPr/>
            </a:pPr>
            <a:r>
              <a:rPr lang="en-US" sz="1600" dirty="0">
                <a:solidFill>
                  <a:prstClr val="black"/>
                </a:solidFill>
                <a:cs typeface="Times New Roman" panose="02020603050405020304" pitchFamily="18" charset="0"/>
              </a:rPr>
              <a:t>Eswatini Standards Authority is the National Standards Body (NSB) of Eswatini</a:t>
            </a:r>
          </a:p>
          <a:p>
            <a:pPr marL="542925" indent="-457200">
              <a:lnSpc>
                <a:spcPct val="150000"/>
              </a:lnSpc>
              <a:spcBef>
                <a:spcPts val="0"/>
              </a:spcBef>
              <a:buFont typeface="Wingdings" panose="05000000000000000000" pitchFamily="2" charset="2"/>
              <a:buChar char="§"/>
              <a:defRPr/>
            </a:pPr>
            <a:r>
              <a:rPr lang="en-US" sz="1600" dirty="0">
                <a:solidFill>
                  <a:prstClr val="black"/>
                </a:solidFill>
                <a:cs typeface="Times New Roman" panose="02020603050405020304" pitchFamily="18" charset="0"/>
              </a:rPr>
              <a:t>A Government Parastatal under the Ministry of Commerce, Industry and Trade (MCIT)</a:t>
            </a:r>
          </a:p>
          <a:p>
            <a:pPr marL="542925" indent="-457200">
              <a:lnSpc>
                <a:spcPct val="150000"/>
              </a:lnSpc>
              <a:spcBef>
                <a:spcPts val="0"/>
              </a:spcBef>
              <a:buFont typeface="Wingdings" panose="05000000000000000000" pitchFamily="2" charset="2"/>
              <a:buChar char="§"/>
              <a:defRPr/>
            </a:pPr>
            <a:r>
              <a:rPr lang="en-US" sz="1600" dirty="0">
                <a:solidFill>
                  <a:prstClr val="black"/>
                </a:solidFill>
                <a:cs typeface="Times New Roman" panose="02020603050405020304" pitchFamily="18" charset="0"/>
              </a:rPr>
              <a:t>Established through the Standards &amp; Quality Act (10) of 2003, reviewed in 2023</a:t>
            </a:r>
          </a:p>
          <a:p>
            <a:pPr marL="542925" indent="-457200">
              <a:lnSpc>
                <a:spcPct val="150000"/>
              </a:lnSpc>
              <a:spcBef>
                <a:spcPts val="0"/>
              </a:spcBef>
              <a:buFont typeface="Wingdings" panose="05000000000000000000" pitchFamily="2" charset="2"/>
              <a:buChar char="§"/>
              <a:defRPr/>
            </a:pPr>
            <a:r>
              <a:rPr lang="en-US" sz="1600" dirty="0">
                <a:solidFill>
                  <a:prstClr val="black"/>
                </a:solidFill>
                <a:cs typeface="Times New Roman" panose="02020603050405020304" pitchFamily="18" charset="0"/>
              </a:rPr>
              <a:t>Started operations in 2007</a:t>
            </a:r>
          </a:p>
          <a:p>
            <a:pPr>
              <a:lnSpc>
                <a:spcPct val="150000"/>
              </a:lnSpc>
            </a:pPr>
            <a:endParaRPr lang="en-US" sz="1800" dirty="0"/>
          </a:p>
        </p:txBody>
      </p:sp>
      <p:sp>
        <p:nvSpPr>
          <p:cNvPr id="17" name="Teardrop 16">
            <a:extLst>
              <a:ext uri="{FF2B5EF4-FFF2-40B4-BE49-F238E27FC236}">
                <a16:creationId xmlns:a16="http://schemas.microsoft.com/office/drawing/2014/main" id="{A04C9268-5B68-155E-FC6F-39F35E4D99BD}"/>
              </a:ext>
            </a:extLst>
          </p:cNvPr>
          <p:cNvSpPr/>
          <p:nvPr/>
        </p:nvSpPr>
        <p:spPr>
          <a:xfrm flipH="1">
            <a:off x="5075089" y="1353451"/>
            <a:ext cx="4716000" cy="3960000"/>
          </a:xfrm>
          <a:prstGeom prst="teardrop">
            <a:avLst/>
          </a:prstGeom>
          <a:noFill/>
          <a:ln w="28575">
            <a:solidFill>
              <a:srgbClr val="2E319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Content Placeholder 7">
            <a:extLst>
              <a:ext uri="{FF2B5EF4-FFF2-40B4-BE49-F238E27FC236}">
                <a16:creationId xmlns:a16="http://schemas.microsoft.com/office/drawing/2014/main" id="{4B38BB30-97DA-19FC-7BA5-BE4109D84D02}"/>
              </a:ext>
            </a:extLst>
          </p:cNvPr>
          <p:cNvSpPr txBox="1">
            <a:spLocks/>
          </p:cNvSpPr>
          <p:nvPr/>
        </p:nvSpPr>
        <p:spPr>
          <a:xfrm>
            <a:off x="5170990" y="1614366"/>
            <a:ext cx="4205986" cy="1484830"/>
          </a:xfrm>
          <a:prstGeom prst="rect">
            <a:avLst/>
          </a:prstGeom>
          <a:noFill/>
        </p:spPr>
        <p:txBody>
          <a:bodyPr wrap="square"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ZA" b="1" dirty="0">
                <a:latin typeface="Garamond" panose="02020404030301010803" pitchFamily="18" charset="0"/>
              </a:rPr>
              <a:t>Vision</a:t>
            </a:r>
          </a:p>
          <a:p>
            <a:pPr marL="0" indent="0" algn="ctr">
              <a:buFont typeface="Arial" panose="020B0604020202020204" pitchFamily="34" charset="0"/>
              <a:buNone/>
            </a:pPr>
            <a:r>
              <a:rPr lang="en-US" sz="1600" dirty="0"/>
              <a:t>The outstanding service provider in quality standards for competitiveness.</a:t>
            </a:r>
          </a:p>
          <a:p>
            <a:pPr marL="0" indent="0" algn="ctr">
              <a:buFont typeface="Arial" panose="020B0604020202020204" pitchFamily="34" charset="0"/>
              <a:buNone/>
            </a:pPr>
            <a:endParaRPr lang="en-ZA" sz="1800" b="1" dirty="0">
              <a:latin typeface="BankGothic Lt BT" panose="020B0607020203060204" pitchFamily="34" charset="0"/>
            </a:endParaRPr>
          </a:p>
        </p:txBody>
      </p:sp>
      <p:sp>
        <p:nvSpPr>
          <p:cNvPr id="19" name="Rectangle 18">
            <a:extLst>
              <a:ext uri="{FF2B5EF4-FFF2-40B4-BE49-F238E27FC236}">
                <a16:creationId xmlns:a16="http://schemas.microsoft.com/office/drawing/2014/main" id="{FCA19812-A88A-CD13-E288-3AC5E1A0FE21}"/>
              </a:ext>
            </a:extLst>
          </p:cNvPr>
          <p:cNvSpPr/>
          <p:nvPr/>
        </p:nvSpPr>
        <p:spPr>
          <a:xfrm>
            <a:off x="5314714" y="3050603"/>
            <a:ext cx="3918537" cy="1785104"/>
          </a:xfrm>
          <a:prstGeom prst="rect">
            <a:avLst/>
          </a:prstGeom>
        </p:spPr>
        <p:txBody>
          <a:bodyPr wrap="square">
            <a:spAutoFit/>
          </a:bodyPr>
          <a:lstStyle/>
          <a:p>
            <a:pPr algn="ctr"/>
            <a:r>
              <a:rPr lang="en-ZA" sz="2800" b="1" dirty="0">
                <a:latin typeface="Garamond" panose="02020404030301010803" pitchFamily="18" charset="0"/>
              </a:rPr>
              <a:t>Mission</a:t>
            </a:r>
          </a:p>
          <a:p>
            <a:pPr algn="ctr"/>
            <a:r>
              <a:rPr lang="en-US" sz="1600" dirty="0"/>
              <a:t>We provide internationally recognized quality standards and conformity assessment services to improve business performance and promote trade.</a:t>
            </a:r>
          </a:p>
          <a:p>
            <a:pPr algn="ctr"/>
            <a:endParaRPr lang="en-ZA" b="1" dirty="0">
              <a:latin typeface="BankGothic Lt BT" panose="020B0607020203060204" pitchFamily="34" charset="0"/>
            </a:endParaRPr>
          </a:p>
        </p:txBody>
      </p:sp>
      <p:sp>
        <p:nvSpPr>
          <p:cNvPr id="20" name="Rectangle 19">
            <a:extLst>
              <a:ext uri="{FF2B5EF4-FFF2-40B4-BE49-F238E27FC236}">
                <a16:creationId xmlns:a16="http://schemas.microsoft.com/office/drawing/2014/main" id="{FCBFC180-F0ED-0107-594C-7036C90EB7D2}"/>
              </a:ext>
            </a:extLst>
          </p:cNvPr>
          <p:cNvSpPr/>
          <p:nvPr/>
        </p:nvSpPr>
        <p:spPr>
          <a:xfrm>
            <a:off x="312471" y="1230771"/>
            <a:ext cx="1758954" cy="9144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800" b="1" dirty="0">
                <a:solidFill>
                  <a:schemeClr val="tx1"/>
                </a:solidFill>
                <a:latin typeface="Garamond" panose="02020404030301010803" pitchFamily="18" charset="0"/>
              </a:rPr>
              <a:t>About Us</a:t>
            </a:r>
            <a:endParaRPr lang="en-ZA" sz="2800" b="1" dirty="0">
              <a:solidFill>
                <a:schemeClr val="tx1"/>
              </a:solidFill>
              <a:latin typeface="Garamond" panose="02020404030301010803" pitchFamily="18" charset="0"/>
            </a:endParaRPr>
          </a:p>
        </p:txBody>
      </p:sp>
      <p:sp>
        <p:nvSpPr>
          <p:cNvPr id="21" name="Arrow: Pentagon 20">
            <a:extLst>
              <a:ext uri="{FF2B5EF4-FFF2-40B4-BE49-F238E27FC236}">
                <a16:creationId xmlns:a16="http://schemas.microsoft.com/office/drawing/2014/main" id="{979E83A8-9B54-B992-3897-DA07016D5821}"/>
              </a:ext>
            </a:extLst>
          </p:cNvPr>
          <p:cNvSpPr/>
          <p:nvPr/>
        </p:nvSpPr>
        <p:spPr>
          <a:xfrm>
            <a:off x="471948" y="1980442"/>
            <a:ext cx="1152000" cy="58994"/>
          </a:xfrm>
          <a:prstGeom prst="homePlate">
            <a:avLst/>
          </a:prstGeom>
          <a:solidFill>
            <a:srgbClr val="004A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2" name="Text Box 2">
            <a:extLst>
              <a:ext uri="{FF2B5EF4-FFF2-40B4-BE49-F238E27FC236}">
                <a16:creationId xmlns:a16="http://schemas.microsoft.com/office/drawing/2014/main" id="{D8B22364-42D5-BC1F-5C6C-7AEC3F12ADBA}"/>
              </a:ext>
            </a:extLst>
          </p:cNvPr>
          <p:cNvSpPr txBox="1">
            <a:spLocks noChangeArrowheads="1"/>
          </p:cNvSpPr>
          <p:nvPr/>
        </p:nvSpPr>
        <p:spPr bwMode="auto">
          <a:xfrm>
            <a:off x="4698011" y="6478555"/>
            <a:ext cx="2527722" cy="307940"/>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2E3191"/>
                </a:solidFill>
                <a:effectLst/>
                <a:latin typeface="BankGothic Lt BT" panose="020B0607020203060204" pitchFamily="34" charset="0"/>
              </a:rPr>
              <a:t>#ImprovingTheWorldWeLiveIn</a:t>
            </a:r>
            <a:endParaRPr kumimoji="0" lang="en-US" altLang="en-US" sz="1200" b="0" i="0" u="none" strike="noStrike" cap="none" normalizeH="0" baseline="0" dirty="0">
              <a:ln>
                <a:noFill/>
              </a:ln>
              <a:solidFill>
                <a:schemeClr val="tx1"/>
              </a:solidFill>
              <a:effectLst/>
              <a:latin typeface="Arial" panose="020B0604020202020204" pitchFamily="34" charset="0"/>
            </a:endParaRPr>
          </a:p>
        </p:txBody>
      </p:sp>
      <p:pic>
        <p:nvPicPr>
          <p:cNvPr id="3" name="Picture 5" descr="social-media-logos-facebook-twitter-instagram-youtube-flickr-vector-pg-transparent-background-high-resolution-linkedin-googleplus-210299554">
            <a:extLst>
              <a:ext uri="{FF2B5EF4-FFF2-40B4-BE49-F238E27FC236}">
                <a16:creationId xmlns:a16="http://schemas.microsoft.com/office/drawing/2014/main" id="{F7C29CD8-9F8C-D271-A4CF-7BE951673C93}"/>
              </a:ext>
            </a:extLst>
          </p:cNvPr>
          <p:cNvPicPr>
            <a:picLocks noChangeAspect="1" noChangeArrowheads="1"/>
          </p:cNvPicPr>
          <p:nvPr/>
        </p:nvPicPr>
        <p:blipFill>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rcRect l="51178" t="8835" r="39842" b="71758"/>
          <a:stretch>
            <a:fillRect/>
          </a:stretch>
        </p:blipFill>
        <p:spPr bwMode="auto">
          <a:xfrm>
            <a:off x="7358044" y="6551121"/>
            <a:ext cx="177800" cy="184150"/>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pic>
      <p:pic>
        <p:nvPicPr>
          <p:cNvPr id="4" name="Picture 6" descr="social-media-logos-facebook-twitter-instagram-youtube-flickr-vector-pg-transparent-background-high-resolution-linkedin-googleplus-210299554">
            <a:extLst>
              <a:ext uri="{FF2B5EF4-FFF2-40B4-BE49-F238E27FC236}">
                <a16:creationId xmlns:a16="http://schemas.microsoft.com/office/drawing/2014/main" id="{2963C186-C107-C19F-47C4-C7D3FBE85FCB}"/>
              </a:ext>
            </a:extLst>
          </p:cNvPr>
          <p:cNvPicPr>
            <a:picLocks noChangeAspect="1" noChangeArrowheads="1"/>
          </p:cNvPicPr>
          <p:nvPr/>
        </p:nvPicPr>
        <p:blipFill>
          <a:blip r:embed="rId5" cstate="print">
            <a:clrChange>
              <a:clrFrom>
                <a:srgbClr val="FFFFFF"/>
              </a:clrFrom>
              <a:clrTo>
                <a:srgbClr val="FFFFFF">
                  <a:alpha val="0"/>
                </a:srgbClr>
              </a:clrTo>
            </a:clrChange>
            <a:extLst>
              <a:ext uri="{28A0092B-C50C-407E-A947-70E740481C1C}">
                <a14:useLocalDpi xmlns:a14="http://schemas.microsoft.com/office/drawing/2010/main" val="0"/>
              </a:ext>
            </a:extLst>
          </a:blip>
          <a:srcRect l="86784" t="34485" r="4137" b="46553"/>
          <a:stretch>
            <a:fillRect/>
          </a:stretch>
        </p:blipFill>
        <p:spPr bwMode="auto">
          <a:xfrm>
            <a:off x="7599114" y="6551121"/>
            <a:ext cx="184150" cy="184150"/>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pic>
      <p:cxnSp>
        <p:nvCxnSpPr>
          <p:cNvPr id="9" name="Straight Connector 8">
            <a:extLst>
              <a:ext uri="{FF2B5EF4-FFF2-40B4-BE49-F238E27FC236}">
                <a16:creationId xmlns:a16="http://schemas.microsoft.com/office/drawing/2014/main" id="{186798F0-A262-B2CC-BBA3-9E2FCB7D308B}"/>
              </a:ext>
            </a:extLst>
          </p:cNvPr>
          <p:cNvCxnSpPr/>
          <p:nvPr/>
        </p:nvCxnSpPr>
        <p:spPr>
          <a:xfrm>
            <a:off x="2461147" y="6603099"/>
            <a:ext cx="2160000" cy="0"/>
          </a:xfrm>
          <a:prstGeom prst="line">
            <a:avLst/>
          </a:prstGeom>
          <a:ln w="28575">
            <a:solidFill>
              <a:srgbClr val="2E319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503906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A6CA8C-6AD3-5776-C8E6-105BC8B3F2FA}"/>
            </a:ext>
          </a:extLst>
        </p:cNvPr>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3EEB156F-E102-FE0A-D016-1D64EB34A07D}"/>
              </a:ext>
            </a:extLst>
          </p:cNvPr>
          <p:cNvPicPr>
            <a:picLocks noGrp="1" noChangeAspect="1"/>
          </p:cNvPicPr>
          <p:nvPr>
            <p:ph idx="1"/>
          </p:nvPr>
        </p:nvPicPr>
        <p:blipFill>
          <a:blip r:embed="rId2"/>
          <a:stretch>
            <a:fillRect/>
          </a:stretch>
        </p:blipFill>
        <p:spPr>
          <a:xfrm>
            <a:off x="0" y="0"/>
            <a:ext cx="12192000" cy="6858000"/>
          </a:xfrm>
        </p:spPr>
      </p:pic>
      <p:sp>
        <p:nvSpPr>
          <p:cNvPr id="6" name="Rectangle 5">
            <a:extLst>
              <a:ext uri="{FF2B5EF4-FFF2-40B4-BE49-F238E27FC236}">
                <a16:creationId xmlns:a16="http://schemas.microsoft.com/office/drawing/2014/main" id="{923F8EC9-E2D6-62B3-A1D4-13B7C070B867}"/>
              </a:ext>
            </a:extLst>
          </p:cNvPr>
          <p:cNvSpPr/>
          <p:nvPr/>
        </p:nvSpPr>
        <p:spPr>
          <a:xfrm>
            <a:off x="471948" y="530942"/>
            <a:ext cx="7737987" cy="527009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7" name="Rectangle 6">
            <a:extLst>
              <a:ext uri="{FF2B5EF4-FFF2-40B4-BE49-F238E27FC236}">
                <a16:creationId xmlns:a16="http://schemas.microsoft.com/office/drawing/2014/main" id="{9CCF5681-9321-7F4D-C13D-1429D2C7E405}"/>
              </a:ext>
            </a:extLst>
          </p:cNvPr>
          <p:cNvSpPr/>
          <p:nvPr/>
        </p:nvSpPr>
        <p:spPr>
          <a:xfrm>
            <a:off x="963561" y="5673213"/>
            <a:ext cx="2074607" cy="32446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2" name="Picture 1">
            <a:extLst>
              <a:ext uri="{FF2B5EF4-FFF2-40B4-BE49-F238E27FC236}">
                <a16:creationId xmlns:a16="http://schemas.microsoft.com/office/drawing/2014/main" id="{EBB82913-EE18-B6B4-CBD4-611BBD51A0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038"/>
            <a:ext cx="1080000" cy="1080000"/>
          </a:xfrm>
          <a:prstGeom prst="rect">
            <a:avLst/>
          </a:prstGeom>
        </p:spPr>
      </p:pic>
      <p:sp>
        <p:nvSpPr>
          <p:cNvPr id="3" name="Rectangle 2">
            <a:extLst>
              <a:ext uri="{FF2B5EF4-FFF2-40B4-BE49-F238E27FC236}">
                <a16:creationId xmlns:a16="http://schemas.microsoft.com/office/drawing/2014/main" id="{A8ED09BD-0EC4-F8C5-E69F-0C8189E4E3DB}"/>
              </a:ext>
            </a:extLst>
          </p:cNvPr>
          <p:cNvSpPr/>
          <p:nvPr/>
        </p:nvSpPr>
        <p:spPr>
          <a:xfrm>
            <a:off x="386316" y="1098115"/>
            <a:ext cx="2841429" cy="9144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2800" b="1" dirty="0">
                <a:solidFill>
                  <a:schemeClr val="tx1"/>
                </a:solidFill>
                <a:latin typeface="Garamond" panose="02020404030301010803" pitchFamily="18" charset="0"/>
              </a:rPr>
              <a:t>Our Core Values</a:t>
            </a:r>
            <a:endParaRPr lang="en-ZA" sz="2800" b="1" dirty="0">
              <a:solidFill>
                <a:schemeClr val="tx1"/>
              </a:solidFill>
              <a:latin typeface="Garamond" panose="02020404030301010803" pitchFamily="18" charset="0"/>
            </a:endParaRPr>
          </a:p>
        </p:txBody>
      </p:sp>
      <p:sp>
        <p:nvSpPr>
          <p:cNvPr id="4" name="Arrow: Pentagon 3">
            <a:extLst>
              <a:ext uri="{FF2B5EF4-FFF2-40B4-BE49-F238E27FC236}">
                <a16:creationId xmlns:a16="http://schemas.microsoft.com/office/drawing/2014/main" id="{7B9743DC-77FF-735E-4CD5-CDB7E68A3725}"/>
              </a:ext>
            </a:extLst>
          </p:cNvPr>
          <p:cNvSpPr/>
          <p:nvPr/>
        </p:nvSpPr>
        <p:spPr>
          <a:xfrm>
            <a:off x="471948" y="1776462"/>
            <a:ext cx="2160000" cy="58994"/>
          </a:xfrm>
          <a:prstGeom prst="homePlate">
            <a:avLst/>
          </a:prstGeom>
          <a:solidFill>
            <a:srgbClr val="004A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1" name="Rectangle 10">
            <a:extLst>
              <a:ext uri="{FF2B5EF4-FFF2-40B4-BE49-F238E27FC236}">
                <a16:creationId xmlns:a16="http://schemas.microsoft.com/office/drawing/2014/main" id="{664DF2B8-A38F-DC1B-33F6-2535D162B5A8}"/>
              </a:ext>
            </a:extLst>
          </p:cNvPr>
          <p:cNvSpPr/>
          <p:nvPr/>
        </p:nvSpPr>
        <p:spPr>
          <a:xfrm>
            <a:off x="471948" y="2134237"/>
            <a:ext cx="8384925" cy="370120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b="1" dirty="0">
                <a:solidFill>
                  <a:schemeClr val="tx1"/>
                </a:solidFill>
              </a:rPr>
              <a:t>Professionalism</a:t>
            </a:r>
          </a:p>
          <a:p>
            <a:r>
              <a:rPr lang="en-GB" sz="1600" dirty="0">
                <a:solidFill>
                  <a:schemeClr val="tx1"/>
                </a:solidFill>
              </a:rPr>
              <a:t>We conduct our business affairs reliably, competently and we take accountability for our actions</a:t>
            </a:r>
          </a:p>
          <a:p>
            <a:endParaRPr lang="en-GB" sz="1600" dirty="0">
              <a:solidFill>
                <a:schemeClr val="tx1"/>
              </a:solidFill>
            </a:endParaRPr>
          </a:p>
          <a:p>
            <a:r>
              <a:rPr lang="en-GB" b="1" dirty="0">
                <a:solidFill>
                  <a:schemeClr val="tx1"/>
                </a:solidFill>
              </a:rPr>
              <a:t>Responsiveness</a:t>
            </a:r>
          </a:p>
          <a:p>
            <a:r>
              <a:rPr lang="en-GB" sz="1600" dirty="0">
                <a:solidFill>
                  <a:schemeClr val="tx1"/>
                </a:solidFill>
              </a:rPr>
              <a:t>We do it right on time and react in a positive and desired manner to our market, customers and stakeholder expectations</a:t>
            </a:r>
          </a:p>
          <a:p>
            <a:endParaRPr lang="en-GB" sz="1600" dirty="0">
              <a:solidFill>
                <a:schemeClr val="tx1"/>
              </a:solidFill>
            </a:endParaRPr>
          </a:p>
          <a:p>
            <a:r>
              <a:rPr lang="en-GB" b="1" dirty="0">
                <a:solidFill>
                  <a:schemeClr val="tx1"/>
                </a:solidFill>
              </a:rPr>
              <a:t>People Centricity</a:t>
            </a:r>
          </a:p>
          <a:p>
            <a:r>
              <a:rPr lang="en-GB" sz="1600" dirty="0">
                <a:solidFill>
                  <a:schemeClr val="tx1"/>
                </a:solidFill>
              </a:rPr>
              <a:t>We place people first, mutually beneficial relationships are of essence to our performance</a:t>
            </a:r>
          </a:p>
          <a:p>
            <a:endParaRPr lang="en-GB" sz="1600" dirty="0">
              <a:solidFill>
                <a:schemeClr val="tx1"/>
              </a:solidFill>
            </a:endParaRPr>
          </a:p>
          <a:p>
            <a:r>
              <a:rPr lang="en-GB" b="1" dirty="0">
                <a:solidFill>
                  <a:schemeClr val="tx1"/>
                </a:solidFill>
              </a:rPr>
              <a:t>Transparency</a:t>
            </a:r>
          </a:p>
          <a:p>
            <a:r>
              <a:rPr lang="en-GB" sz="1600" dirty="0">
                <a:solidFill>
                  <a:schemeClr val="tx1"/>
                </a:solidFill>
              </a:rPr>
              <a:t>We are committed standardisers who conduct our business honestly and in openness</a:t>
            </a:r>
          </a:p>
          <a:p>
            <a:endParaRPr lang="en-GB" sz="1600" dirty="0">
              <a:solidFill>
                <a:schemeClr val="tx1"/>
              </a:solidFill>
            </a:endParaRPr>
          </a:p>
          <a:p>
            <a:r>
              <a:rPr lang="en-GB" b="1" dirty="0">
                <a:solidFill>
                  <a:schemeClr val="tx1"/>
                </a:solidFill>
              </a:rPr>
              <a:t>Innovation</a:t>
            </a:r>
          </a:p>
          <a:p>
            <a:r>
              <a:rPr lang="en-GB" sz="1600" dirty="0">
                <a:solidFill>
                  <a:schemeClr val="tx1"/>
                </a:solidFill>
              </a:rPr>
              <a:t>We embrace and employ new ideas and improved ways in our business dealing</a:t>
            </a:r>
            <a:endParaRPr lang="en-ZA" sz="1600" dirty="0">
              <a:solidFill>
                <a:schemeClr val="tx1"/>
              </a:solidFill>
            </a:endParaRPr>
          </a:p>
        </p:txBody>
      </p:sp>
      <p:sp>
        <p:nvSpPr>
          <p:cNvPr id="8" name="Text Box 2">
            <a:extLst>
              <a:ext uri="{FF2B5EF4-FFF2-40B4-BE49-F238E27FC236}">
                <a16:creationId xmlns:a16="http://schemas.microsoft.com/office/drawing/2014/main" id="{68C6EDA7-88CF-5175-9387-EDA963058D83}"/>
              </a:ext>
            </a:extLst>
          </p:cNvPr>
          <p:cNvSpPr txBox="1">
            <a:spLocks noChangeArrowheads="1"/>
          </p:cNvSpPr>
          <p:nvPr/>
        </p:nvSpPr>
        <p:spPr bwMode="auto">
          <a:xfrm>
            <a:off x="4698011" y="6478555"/>
            <a:ext cx="2527722" cy="307940"/>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2E3191"/>
                </a:solidFill>
                <a:effectLst/>
                <a:latin typeface="BankGothic Lt BT" panose="020B0607020203060204" pitchFamily="34" charset="0"/>
              </a:rPr>
              <a:t>#ImprovingTheWorldWeLiveIn</a:t>
            </a:r>
            <a:endParaRPr kumimoji="0" lang="en-US" altLang="en-US" sz="1200" b="0" i="0" u="none" strike="noStrike" cap="none" normalizeH="0" baseline="0" dirty="0">
              <a:ln>
                <a:noFill/>
              </a:ln>
              <a:solidFill>
                <a:schemeClr val="tx1"/>
              </a:solidFill>
              <a:effectLst/>
              <a:latin typeface="Arial" panose="020B0604020202020204" pitchFamily="34" charset="0"/>
            </a:endParaRPr>
          </a:p>
        </p:txBody>
      </p:sp>
      <p:pic>
        <p:nvPicPr>
          <p:cNvPr id="9" name="Picture 5" descr="social-media-logos-facebook-twitter-instagram-youtube-flickr-vector-pg-transparent-background-high-resolution-linkedin-googleplus-210299554">
            <a:extLst>
              <a:ext uri="{FF2B5EF4-FFF2-40B4-BE49-F238E27FC236}">
                <a16:creationId xmlns:a16="http://schemas.microsoft.com/office/drawing/2014/main" id="{A2027F27-1695-E899-2523-5AF1E2549FA2}"/>
              </a:ext>
            </a:extLst>
          </p:cNvPr>
          <p:cNvPicPr>
            <a:picLocks noChangeAspect="1" noChangeArrowheads="1"/>
          </p:cNvPicPr>
          <p:nvPr/>
        </p:nvPicPr>
        <p:blipFill>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rcRect l="51178" t="8835" r="39842" b="71758"/>
          <a:stretch>
            <a:fillRect/>
          </a:stretch>
        </p:blipFill>
        <p:spPr bwMode="auto">
          <a:xfrm>
            <a:off x="7358044" y="6551121"/>
            <a:ext cx="177800" cy="184150"/>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pic>
      <p:pic>
        <p:nvPicPr>
          <p:cNvPr id="10" name="Picture 6" descr="social-media-logos-facebook-twitter-instagram-youtube-flickr-vector-pg-transparent-background-high-resolution-linkedin-googleplus-210299554">
            <a:extLst>
              <a:ext uri="{FF2B5EF4-FFF2-40B4-BE49-F238E27FC236}">
                <a16:creationId xmlns:a16="http://schemas.microsoft.com/office/drawing/2014/main" id="{47F52285-4FFD-8C84-570F-8C79EFF066A4}"/>
              </a:ext>
            </a:extLst>
          </p:cNvPr>
          <p:cNvPicPr>
            <a:picLocks noChangeAspect="1" noChangeArrowheads="1"/>
          </p:cNvPicPr>
          <p:nvPr/>
        </p:nvPicPr>
        <p:blipFill>
          <a:blip r:embed="rId5" cstate="print">
            <a:clrChange>
              <a:clrFrom>
                <a:srgbClr val="FFFFFF"/>
              </a:clrFrom>
              <a:clrTo>
                <a:srgbClr val="FFFFFF">
                  <a:alpha val="0"/>
                </a:srgbClr>
              </a:clrTo>
            </a:clrChange>
            <a:extLst>
              <a:ext uri="{28A0092B-C50C-407E-A947-70E740481C1C}">
                <a14:useLocalDpi xmlns:a14="http://schemas.microsoft.com/office/drawing/2010/main" val="0"/>
              </a:ext>
            </a:extLst>
          </a:blip>
          <a:srcRect l="86784" t="34485" r="4137" b="46553"/>
          <a:stretch>
            <a:fillRect/>
          </a:stretch>
        </p:blipFill>
        <p:spPr bwMode="auto">
          <a:xfrm>
            <a:off x="7599114" y="6551121"/>
            <a:ext cx="184150" cy="184150"/>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pic>
      <p:cxnSp>
        <p:nvCxnSpPr>
          <p:cNvPr id="12" name="Straight Connector 11">
            <a:extLst>
              <a:ext uri="{FF2B5EF4-FFF2-40B4-BE49-F238E27FC236}">
                <a16:creationId xmlns:a16="http://schemas.microsoft.com/office/drawing/2014/main" id="{63388844-1687-30C0-FC3D-7AB476C5A13A}"/>
              </a:ext>
            </a:extLst>
          </p:cNvPr>
          <p:cNvCxnSpPr/>
          <p:nvPr/>
        </p:nvCxnSpPr>
        <p:spPr>
          <a:xfrm>
            <a:off x="2461147" y="6603099"/>
            <a:ext cx="2160000" cy="0"/>
          </a:xfrm>
          <a:prstGeom prst="line">
            <a:avLst/>
          </a:prstGeom>
          <a:ln w="28575">
            <a:solidFill>
              <a:srgbClr val="2E319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803889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E0CBC8-43EA-2C16-F347-1C33E20B9622}"/>
            </a:ext>
          </a:extLst>
        </p:cNvPr>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F3A03D2F-6117-FFC2-642D-3162E10E0D59}"/>
              </a:ext>
            </a:extLst>
          </p:cNvPr>
          <p:cNvPicPr>
            <a:picLocks noGrp="1" noChangeAspect="1"/>
          </p:cNvPicPr>
          <p:nvPr>
            <p:ph idx="1"/>
          </p:nvPr>
        </p:nvPicPr>
        <p:blipFill>
          <a:blip r:embed="rId3"/>
          <a:stretch>
            <a:fillRect/>
          </a:stretch>
        </p:blipFill>
        <p:spPr>
          <a:xfrm>
            <a:off x="0" y="0"/>
            <a:ext cx="12192000" cy="6858000"/>
          </a:xfrm>
        </p:spPr>
      </p:pic>
      <p:sp>
        <p:nvSpPr>
          <p:cNvPr id="6" name="Rectangle 5">
            <a:extLst>
              <a:ext uri="{FF2B5EF4-FFF2-40B4-BE49-F238E27FC236}">
                <a16:creationId xmlns:a16="http://schemas.microsoft.com/office/drawing/2014/main" id="{B3724E26-4E0C-0147-C4E1-82B6D116EADC}"/>
              </a:ext>
            </a:extLst>
          </p:cNvPr>
          <p:cNvSpPr/>
          <p:nvPr/>
        </p:nvSpPr>
        <p:spPr>
          <a:xfrm>
            <a:off x="471947" y="402104"/>
            <a:ext cx="7737987" cy="527009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7" name="Rectangle 6">
            <a:extLst>
              <a:ext uri="{FF2B5EF4-FFF2-40B4-BE49-F238E27FC236}">
                <a16:creationId xmlns:a16="http://schemas.microsoft.com/office/drawing/2014/main" id="{4664A537-10CD-4CB4-9DF5-9A05DCE0C9F7}"/>
              </a:ext>
            </a:extLst>
          </p:cNvPr>
          <p:cNvSpPr/>
          <p:nvPr/>
        </p:nvSpPr>
        <p:spPr>
          <a:xfrm>
            <a:off x="963561" y="5673213"/>
            <a:ext cx="2074607" cy="32446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2" name="Picture 1">
            <a:extLst>
              <a:ext uri="{FF2B5EF4-FFF2-40B4-BE49-F238E27FC236}">
                <a16:creationId xmlns:a16="http://schemas.microsoft.com/office/drawing/2014/main" id="{BAB07635-1326-378C-8A9A-9931B523AE4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2038"/>
            <a:ext cx="1080000" cy="1080000"/>
          </a:xfrm>
          <a:prstGeom prst="rect">
            <a:avLst/>
          </a:prstGeom>
        </p:spPr>
      </p:pic>
      <p:sp>
        <p:nvSpPr>
          <p:cNvPr id="3" name="Rectangle 2">
            <a:extLst>
              <a:ext uri="{FF2B5EF4-FFF2-40B4-BE49-F238E27FC236}">
                <a16:creationId xmlns:a16="http://schemas.microsoft.com/office/drawing/2014/main" id="{47305E46-F4B0-BDBC-0678-4A498A2150F2}"/>
              </a:ext>
            </a:extLst>
          </p:cNvPr>
          <p:cNvSpPr/>
          <p:nvPr/>
        </p:nvSpPr>
        <p:spPr>
          <a:xfrm>
            <a:off x="423186" y="1079425"/>
            <a:ext cx="3917755" cy="9144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2800" b="1" dirty="0">
                <a:solidFill>
                  <a:schemeClr val="tx1"/>
                </a:solidFill>
                <a:latin typeface="Garamond" panose="02020404030301010803" pitchFamily="18" charset="0"/>
              </a:rPr>
              <a:t>ESWASA Accreditation</a:t>
            </a:r>
            <a:endParaRPr lang="en-ZA" sz="2800" b="1" dirty="0">
              <a:solidFill>
                <a:schemeClr val="tx1"/>
              </a:solidFill>
              <a:latin typeface="Garamond" panose="02020404030301010803" pitchFamily="18" charset="0"/>
            </a:endParaRPr>
          </a:p>
        </p:txBody>
      </p:sp>
      <p:sp>
        <p:nvSpPr>
          <p:cNvPr id="4" name="Arrow: Pentagon 3">
            <a:extLst>
              <a:ext uri="{FF2B5EF4-FFF2-40B4-BE49-F238E27FC236}">
                <a16:creationId xmlns:a16="http://schemas.microsoft.com/office/drawing/2014/main" id="{6AA3E975-89A7-ED55-58EF-5BCF948B408A}"/>
              </a:ext>
            </a:extLst>
          </p:cNvPr>
          <p:cNvSpPr/>
          <p:nvPr/>
        </p:nvSpPr>
        <p:spPr>
          <a:xfrm>
            <a:off x="540000" y="1797827"/>
            <a:ext cx="3024000" cy="58994"/>
          </a:xfrm>
          <a:prstGeom prst="homePlate">
            <a:avLst/>
          </a:prstGeom>
          <a:solidFill>
            <a:srgbClr val="004A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8" name="Picture 7">
            <a:extLst>
              <a:ext uri="{FF2B5EF4-FFF2-40B4-BE49-F238E27FC236}">
                <a16:creationId xmlns:a16="http://schemas.microsoft.com/office/drawing/2014/main" id="{C96FE5CE-B517-96FD-4D77-E00379CDE4DA}"/>
              </a:ext>
            </a:extLst>
          </p:cNvPr>
          <p:cNvPicPr>
            <a:picLocks noChangeAspect="1"/>
          </p:cNvPicPr>
          <p:nvPr/>
        </p:nvPicPr>
        <p:blipFill>
          <a:blip r:embed="rId5">
            <a:clrChange>
              <a:clrFrom>
                <a:srgbClr val="FFFFFF"/>
              </a:clrFrom>
              <a:clrTo>
                <a:srgbClr val="FFFFFF">
                  <a:alpha val="0"/>
                </a:srgbClr>
              </a:clrTo>
            </a:clrChange>
          </a:blip>
          <a:stretch>
            <a:fillRect/>
          </a:stretch>
        </p:blipFill>
        <p:spPr>
          <a:xfrm>
            <a:off x="1033653" y="5365097"/>
            <a:ext cx="5444443" cy="900000"/>
          </a:xfrm>
          <a:prstGeom prst="rect">
            <a:avLst/>
          </a:prstGeom>
        </p:spPr>
      </p:pic>
      <p:sp>
        <p:nvSpPr>
          <p:cNvPr id="14" name="TextBox 13">
            <a:extLst>
              <a:ext uri="{FF2B5EF4-FFF2-40B4-BE49-F238E27FC236}">
                <a16:creationId xmlns:a16="http://schemas.microsoft.com/office/drawing/2014/main" id="{56CC4E72-DC58-8871-542A-A7A24A2B7CF5}"/>
              </a:ext>
            </a:extLst>
          </p:cNvPr>
          <p:cNvSpPr txBox="1"/>
          <p:nvPr/>
        </p:nvSpPr>
        <p:spPr>
          <a:xfrm>
            <a:off x="232760" y="2017377"/>
            <a:ext cx="4805745" cy="3381567"/>
          </a:xfrm>
          <a:prstGeom prst="rect">
            <a:avLst/>
          </a:prstGeom>
          <a:noFill/>
        </p:spPr>
        <p:txBody>
          <a:bodyPr wrap="square">
            <a:spAutoFit/>
          </a:bodyPr>
          <a:lstStyle/>
          <a:p>
            <a:pPr>
              <a:lnSpc>
                <a:spcPct val="150000"/>
              </a:lnSpc>
            </a:pPr>
            <a:r>
              <a:rPr lang="en-GB" sz="1600" dirty="0"/>
              <a:t>Eswatini Standards Authority – Management Systems Certification Services is accredited by the Southern African Development Community Accreditation Service (SADCAS).</a:t>
            </a:r>
          </a:p>
          <a:p>
            <a:pPr>
              <a:lnSpc>
                <a:spcPct val="150000"/>
              </a:lnSpc>
            </a:pPr>
            <a:endParaRPr lang="en-GB" sz="1600" dirty="0"/>
          </a:p>
          <a:p>
            <a:pPr>
              <a:lnSpc>
                <a:spcPct val="150000"/>
              </a:lnSpc>
            </a:pPr>
            <a:r>
              <a:rPr lang="en-GB" sz="1600" b="1" dirty="0"/>
              <a:t>Scopes</a:t>
            </a:r>
            <a:r>
              <a:rPr lang="en-GB" sz="1600" dirty="0"/>
              <a:t>: Quality Management Systems to ISO/IEC 17021-1:2015 and ISO/IEC 17021-3:2017 (Certification to ISO 9001:2015),                                                   IAF Codes 3, 12, 13 and 38</a:t>
            </a:r>
          </a:p>
        </p:txBody>
      </p:sp>
      <p:pic>
        <p:nvPicPr>
          <p:cNvPr id="19" name="Picture 18">
            <a:extLst>
              <a:ext uri="{FF2B5EF4-FFF2-40B4-BE49-F238E27FC236}">
                <a16:creationId xmlns:a16="http://schemas.microsoft.com/office/drawing/2014/main" id="{CD2841AD-433A-3DA6-F1DA-E99839E5E70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208544" y="2706935"/>
            <a:ext cx="3171429" cy="1771429"/>
          </a:xfrm>
          <a:prstGeom prst="rect">
            <a:avLst/>
          </a:prstGeom>
        </p:spPr>
      </p:pic>
      <p:sp>
        <p:nvSpPr>
          <p:cNvPr id="21" name="TextBox 20">
            <a:extLst>
              <a:ext uri="{FF2B5EF4-FFF2-40B4-BE49-F238E27FC236}">
                <a16:creationId xmlns:a16="http://schemas.microsoft.com/office/drawing/2014/main" id="{2DDFAD04-C1C1-AEB5-564E-7C6288F21DA2}"/>
              </a:ext>
            </a:extLst>
          </p:cNvPr>
          <p:cNvSpPr txBox="1"/>
          <p:nvPr/>
        </p:nvSpPr>
        <p:spPr>
          <a:xfrm>
            <a:off x="4746259" y="1599557"/>
            <a:ext cx="6096000" cy="1173270"/>
          </a:xfrm>
          <a:prstGeom prst="rect">
            <a:avLst/>
          </a:prstGeom>
          <a:noFill/>
        </p:spPr>
        <p:txBody>
          <a:bodyPr wrap="square">
            <a:spAutoFit/>
          </a:bodyPr>
          <a:lstStyle/>
          <a:p>
            <a:pPr marL="0" marR="0" indent="0" algn="ctr">
              <a:lnSpc>
                <a:spcPct val="150000"/>
              </a:lnSpc>
              <a:spcAft>
                <a:spcPts val="800"/>
              </a:spcAft>
              <a:buNone/>
            </a:pPr>
            <a:r>
              <a:rPr lang="en-GB" sz="1600" b="1" kern="1400" dirty="0">
                <a:ln>
                  <a:noFill/>
                </a:ln>
                <a:solidFill>
                  <a:srgbClr val="000000"/>
                </a:solidFill>
                <a:effectLst/>
              </a:rPr>
              <a:t>ESWASA</a:t>
            </a:r>
            <a:r>
              <a:rPr lang="en-GB" sz="1600" kern="1400" dirty="0">
                <a:ln>
                  <a:noFill/>
                </a:ln>
                <a:solidFill>
                  <a:srgbClr val="000000"/>
                </a:solidFill>
                <a:effectLst/>
              </a:rPr>
              <a:t> is a member of the following                                          international organizations:</a:t>
            </a:r>
          </a:p>
          <a:p>
            <a:pPr marL="0" marR="0" indent="0" algn="l">
              <a:lnSpc>
                <a:spcPct val="119000"/>
              </a:lnSpc>
              <a:spcAft>
                <a:spcPts val="600"/>
              </a:spcAft>
            </a:pPr>
            <a:r>
              <a:rPr lang="en-GB" sz="1400" kern="1400" dirty="0">
                <a:ln>
                  <a:noFill/>
                </a:ln>
                <a:solidFill>
                  <a:srgbClr val="000000"/>
                </a:solidFill>
                <a:effectLst/>
              </a:rPr>
              <a:t> </a:t>
            </a:r>
          </a:p>
        </p:txBody>
      </p:sp>
      <p:sp>
        <p:nvSpPr>
          <p:cNvPr id="9" name="Text Box 2">
            <a:extLst>
              <a:ext uri="{FF2B5EF4-FFF2-40B4-BE49-F238E27FC236}">
                <a16:creationId xmlns:a16="http://schemas.microsoft.com/office/drawing/2014/main" id="{2D90D53B-8646-2D67-BBFB-2B58A423C4FC}"/>
              </a:ext>
            </a:extLst>
          </p:cNvPr>
          <p:cNvSpPr txBox="1">
            <a:spLocks noChangeArrowheads="1"/>
          </p:cNvSpPr>
          <p:nvPr/>
        </p:nvSpPr>
        <p:spPr bwMode="auto">
          <a:xfrm>
            <a:off x="4698011" y="6478555"/>
            <a:ext cx="2527722" cy="307940"/>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2E3191"/>
                </a:solidFill>
                <a:effectLst/>
                <a:latin typeface="BankGothic Lt BT" panose="020B0607020203060204" pitchFamily="34" charset="0"/>
              </a:rPr>
              <a:t>#ImprovingTheWorldWeLiveIn</a:t>
            </a:r>
            <a:endParaRPr kumimoji="0" lang="en-US" altLang="en-US" sz="1200" b="0" i="0" u="none" strike="noStrike" cap="none" normalizeH="0" baseline="0" dirty="0">
              <a:ln>
                <a:noFill/>
              </a:ln>
              <a:solidFill>
                <a:schemeClr val="tx1"/>
              </a:solidFill>
              <a:effectLst/>
              <a:latin typeface="Arial" panose="020B0604020202020204" pitchFamily="34" charset="0"/>
            </a:endParaRPr>
          </a:p>
        </p:txBody>
      </p:sp>
      <p:pic>
        <p:nvPicPr>
          <p:cNvPr id="10" name="Picture 5" descr="social-media-logos-facebook-twitter-instagram-youtube-flickr-vector-pg-transparent-background-high-resolution-linkedin-googleplus-210299554">
            <a:extLst>
              <a:ext uri="{FF2B5EF4-FFF2-40B4-BE49-F238E27FC236}">
                <a16:creationId xmlns:a16="http://schemas.microsoft.com/office/drawing/2014/main" id="{3D71FAA2-711D-CD06-8DB4-88F222CBCB24}"/>
              </a:ext>
            </a:extLst>
          </p:cNvPr>
          <p:cNvPicPr>
            <a:picLocks noChangeAspect="1" noChangeArrowheads="1"/>
          </p:cNvPicPr>
          <p:nvPr/>
        </p:nvPicPr>
        <p:blipFill>
          <a:blip r:embed="rId7" cstate="print">
            <a:clrChange>
              <a:clrFrom>
                <a:srgbClr val="FFFFFF"/>
              </a:clrFrom>
              <a:clrTo>
                <a:srgbClr val="FFFFFF">
                  <a:alpha val="0"/>
                </a:srgbClr>
              </a:clrTo>
            </a:clrChange>
            <a:extLst>
              <a:ext uri="{28A0092B-C50C-407E-A947-70E740481C1C}">
                <a14:useLocalDpi xmlns:a14="http://schemas.microsoft.com/office/drawing/2010/main" val="0"/>
              </a:ext>
            </a:extLst>
          </a:blip>
          <a:srcRect l="51178" t="8835" r="39842" b="71758"/>
          <a:stretch>
            <a:fillRect/>
          </a:stretch>
        </p:blipFill>
        <p:spPr bwMode="auto">
          <a:xfrm>
            <a:off x="7358044" y="6551121"/>
            <a:ext cx="177800" cy="184150"/>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pic>
      <p:pic>
        <p:nvPicPr>
          <p:cNvPr id="11" name="Picture 6" descr="social-media-logos-facebook-twitter-instagram-youtube-flickr-vector-pg-transparent-background-high-resolution-linkedin-googleplus-210299554">
            <a:extLst>
              <a:ext uri="{FF2B5EF4-FFF2-40B4-BE49-F238E27FC236}">
                <a16:creationId xmlns:a16="http://schemas.microsoft.com/office/drawing/2014/main" id="{3FB11699-14A4-EF9C-FF1F-FA5AD861C005}"/>
              </a:ext>
            </a:extLst>
          </p:cNvPr>
          <p:cNvPicPr>
            <a:picLocks noChangeAspect="1" noChangeArrowheads="1"/>
          </p:cNvPicPr>
          <p:nvPr/>
        </p:nvPicPr>
        <p:blipFill>
          <a:blip r:embed="rId8" cstate="print">
            <a:clrChange>
              <a:clrFrom>
                <a:srgbClr val="FFFFFF"/>
              </a:clrFrom>
              <a:clrTo>
                <a:srgbClr val="FFFFFF">
                  <a:alpha val="0"/>
                </a:srgbClr>
              </a:clrTo>
            </a:clrChange>
            <a:extLst>
              <a:ext uri="{28A0092B-C50C-407E-A947-70E740481C1C}">
                <a14:useLocalDpi xmlns:a14="http://schemas.microsoft.com/office/drawing/2010/main" val="0"/>
              </a:ext>
            </a:extLst>
          </a:blip>
          <a:srcRect l="86784" t="34485" r="4137" b="46553"/>
          <a:stretch>
            <a:fillRect/>
          </a:stretch>
        </p:blipFill>
        <p:spPr bwMode="auto">
          <a:xfrm>
            <a:off x="7599114" y="6551121"/>
            <a:ext cx="184150" cy="184150"/>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pic>
      <p:cxnSp>
        <p:nvCxnSpPr>
          <p:cNvPr id="12" name="Straight Connector 11">
            <a:extLst>
              <a:ext uri="{FF2B5EF4-FFF2-40B4-BE49-F238E27FC236}">
                <a16:creationId xmlns:a16="http://schemas.microsoft.com/office/drawing/2014/main" id="{3DE247BD-6B1B-6E89-C995-23155186AA16}"/>
              </a:ext>
            </a:extLst>
          </p:cNvPr>
          <p:cNvCxnSpPr/>
          <p:nvPr/>
        </p:nvCxnSpPr>
        <p:spPr>
          <a:xfrm>
            <a:off x="2461147" y="6603099"/>
            <a:ext cx="2160000" cy="0"/>
          </a:xfrm>
          <a:prstGeom prst="line">
            <a:avLst/>
          </a:prstGeom>
          <a:ln w="28575">
            <a:solidFill>
              <a:srgbClr val="2E319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717479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5C729D1F-0CE5-56C7-0CF3-6E727ECB849D}"/>
              </a:ext>
            </a:extLst>
          </p:cNvPr>
          <p:cNvPicPr>
            <a:picLocks noGrp="1" noChangeAspect="1"/>
          </p:cNvPicPr>
          <p:nvPr>
            <p:ph idx="1"/>
          </p:nvPr>
        </p:nvPicPr>
        <p:blipFill>
          <a:blip r:embed="rId3"/>
          <a:stretch>
            <a:fillRect/>
          </a:stretch>
        </p:blipFill>
        <p:spPr>
          <a:xfrm>
            <a:off x="-43761" y="0"/>
            <a:ext cx="12192000" cy="6858000"/>
          </a:xfrm>
        </p:spPr>
      </p:pic>
      <p:sp>
        <p:nvSpPr>
          <p:cNvPr id="6" name="Rectangle 5">
            <a:extLst>
              <a:ext uri="{FF2B5EF4-FFF2-40B4-BE49-F238E27FC236}">
                <a16:creationId xmlns:a16="http://schemas.microsoft.com/office/drawing/2014/main" id="{B87F508E-89A6-FF85-97AA-F6F2CC957069}"/>
              </a:ext>
            </a:extLst>
          </p:cNvPr>
          <p:cNvSpPr/>
          <p:nvPr/>
        </p:nvSpPr>
        <p:spPr>
          <a:xfrm>
            <a:off x="324465" y="412955"/>
            <a:ext cx="3795251" cy="214343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7" name="Picture 6">
            <a:extLst>
              <a:ext uri="{FF2B5EF4-FFF2-40B4-BE49-F238E27FC236}">
                <a16:creationId xmlns:a16="http://schemas.microsoft.com/office/drawing/2014/main" id="{63253E5A-73F5-14AE-F124-C351A373ABB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2038"/>
            <a:ext cx="1080000" cy="1080000"/>
          </a:xfrm>
          <a:prstGeom prst="rect">
            <a:avLst/>
          </a:prstGeom>
        </p:spPr>
      </p:pic>
      <p:sp>
        <p:nvSpPr>
          <p:cNvPr id="8" name="Rectangle 7">
            <a:extLst>
              <a:ext uri="{FF2B5EF4-FFF2-40B4-BE49-F238E27FC236}">
                <a16:creationId xmlns:a16="http://schemas.microsoft.com/office/drawing/2014/main" id="{0B7D8AFB-86FD-F590-7F33-CE51B7E2431E}"/>
              </a:ext>
            </a:extLst>
          </p:cNvPr>
          <p:cNvSpPr/>
          <p:nvPr/>
        </p:nvSpPr>
        <p:spPr>
          <a:xfrm>
            <a:off x="1480793" y="720252"/>
            <a:ext cx="2552207" cy="9144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800" b="1" dirty="0">
                <a:solidFill>
                  <a:schemeClr val="tx1"/>
                </a:solidFill>
                <a:latin typeface="Garamond" panose="02020404030301010803" pitchFamily="18" charset="0"/>
              </a:rPr>
              <a:t>Our Services</a:t>
            </a:r>
            <a:endParaRPr lang="en-ZA" sz="2800" b="1" dirty="0">
              <a:solidFill>
                <a:schemeClr val="tx1"/>
              </a:solidFill>
              <a:latin typeface="Garamond" panose="02020404030301010803" pitchFamily="18" charset="0"/>
            </a:endParaRPr>
          </a:p>
        </p:txBody>
      </p:sp>
      <p:sp>
        <p:nvSpPr>
          <p:cNvPr id="9" name="Arrow: Pentagon 8">
            <a:extLst>
              <a:ext uri="{FF2B5EF4-FFF2-40B4-BE49-F238E27FC236}">
                <a16:creationId xmlns:a16="http://schemas.microsoft.com/office/drawing/2014/main" id="{A6E1F190-0031-EC73-40FC-78230CD2D77A}"/>
              </a:ext>
            </a:extLst>
          </p:cNvPr>
          <p:cNvSpPr/>
          <p:nvPr/>
        </p:nvSpPr>
        <p:spPr>
          <a:xfrm>
            <a:off x="1828739" y="1397264"/>
            <a:ext cx="1620000" cy="58994"/>
          </a:xfrm>
          <a:prstGeom prst="homePlate">
            <a:avLst/>
          </a:prstGeom>
          <a:solidFill>
            <a:srgbClr val="004A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0" name="Rectangle 9">
            <a:extLst>
              <a:ext uri="{FF2B5EF4-FFF2-40B4-BE49-F238E27FC236}">
                <a16:creationId xmlns:a16="http://schemas.microsoft.com/office/drawing/2014/main" id="{3FAE3C9D-5FDC-3AFF-F762-C60B7C5C6D5E}"/>
              </a:ext>
            </a:extLst>
          </p:cNvPr>
          <p:cNvSpPr/>
          <p:nvPr/>
        </p:nvSpPr>
        <p:spPr>
          <a:xfrm>
            <a:off x="43761" y="2297985"/>
            <a:ext cx="12148239" cy="34777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41" name="Rectangle 40">
            <a:extLst>
              <a:ext uri="{FF2B5EF4-FFF2-40B4-BE49-F238E27FC236}">
                <a16:creationId xmlns:a16="http://schemas.microsoft.com/office/drawing/2014/main" id="{F34CE471-2823-35C8-BE7A-0D30F57A01E6}"/>
              </a:ext>
            </a:extLst>
          </p:cNvPr>
          <p:cNvSpPr/>
          <p:nvPr/>
        </p:nvSpPr>
        <p:spPr>
          <a:xfrm>
            <a:off x="618958" y="6190392"/>
            <a:ext cx="6096000" cy="421526"/>
          </a:xfrm>
          <a:prstGeom prst="rect">
            <a:avLst/>
          </a:prstGeom>
        </p:spPr>
        <p:txBody>
          <a:bodyPr>
            <a:spAutoFit/>
          </a:bodyPr>
          <a:lstStyle/>
          <a:p>
            <a:pPr marL="0" marR="0" lvl="0" indent="0" algn="just" defTabSz="914400" rtl="0" eaLnBrk="1" fontAlgn="auto" latinLnBrk="0" hangingPunct="1">
              <a:lnSpc>
                <a:spcPct val="130000"/>
              </a:lnSpc>
              <a:spcBef>
                <a:spcPts val="0"/>
              </a:spcBef>
              <a:spcAft>
                <a:spcPts val="800"/>
              </a:spcAft>
              <a:buClrTx/>
              <a:buSzTx/>
              <a:buFontTx/>
              <a:buNone/>
              <a:tabLst/>
              <a:defRPr/>
            </a:pPr>
            <a:r>
              <a:rPr kumimoji="0" lang="en-ZA" sz="1800" b="0" i="0" u="none" strike="noStrike" kern="1200" cap="none" spc="0" normalizeH="0" baseline="0" noProof="0" dirty="0">
                <a:ln>
                  <a:noFill/>
                </a:ln>
                <a:solidFill>
                  <a:srgbClr val="3A3A3A"/>
                </a:solidFill>
                <a:effectLst/>
                <a:uLnTx/>
                <a:uFillTx/>
                <a:latin typeface="Calibri" panose="020F0502020204030204" pitchFamily="34" charset="0"/>
                <a:ea typeface="Cambria" panose="02040503050406030204" pitchFamily="18" charset="0"/>
                <a:cs typeface="Calibri" panose="020F0502020204030204" pitchFamily="34" charset="0"/>
              </a:rPr>
              <a:t>.</a:t>
            </a:r>
            <a:endParaRPr kumimoji="0" lang="en-GB" sz="2400" b="0" i="0" u="none" strike="noStrike" kern="1200" cap="none" spc="0" normalizeH="0" baseline="0" noProof="0" dirty="0">
              <a:ln>
                <a:noFill/>
              </a:ln>
              <a:solidFill>
                <a:srgbClr val="3A3A3A"/>
              </a:solidFill>
              <a:effectLst/>
              <a:uLnTx/>
              <a:uFillTx/>
              <a:latin typeface="Cambria" panose="02040503050406030204" pitchFamily="18" charset="0"/>
              <a:ea typeface="Cambria" panose="02040503050406030204" pitchFamily="18" charset="0"/>
              <a:cs typeface="Times New Roman" panose="02020603050405020304" pitchFamily="18" charset="0"/>
            </a:endParaRPr>
          </a:p>
        </p:txBody>
      </p:sp>
      <p:grpSp>
        <p:nvGrpSpPr>
          <p:cNvPr id="42" name="Group 41">
            <a:extLst>
              <a:ext uri="{FF2B5EF4-FFF2-40B4-BE49-F238E27FC236}">
                <a16:creationId xmlns:a16="http://schemas.microsoft.com/office/drawing/2014/main" id="{44FDCD11-AFE1-6634-8AA9-0907A4C3F9B2}"/>
              </a:ext>
            </a:extLst>
          </p:cNvPr>
          <p:cNvGrpSpPr/>
          <p:nvPr/>
        </p:nvGrpSpPr>
        <p:grpSpPr>
          <a:xfrm>
            <a:off x="324465" y="1677469"/>
            <a:ext cx="4469843" cy="739610"/>
            <a:chOff x="738579" y="1182165"/>
            <a:chExt cx="4469843" cy="739610"/>
          </a:xfrm>
        </p:grpSpPr>
        <p:sp>
          <p:nvSpPr>
            <p:cNvPr id="43" name="Rectangle 42">
              <a:extLst>
                <a:ext uri="{FF2B5EF4-FFF2-40B4-BE49-F238E27FC236}">
                  <a16:creationId xmlns:a16="http://schemas.microsoft.com/office/drawing/2014/main" id="{49B8ACAB-5FB1-28B2-84C8-ED2AFED71A04}"/>
                </a:ext>
              </a:extLst>
            </p:cNvPr>
            <p:cNvSpPr/>
            <p:nvPr/>
          </p:nvSpPr>
          <p:spPr>
            <a:xfrm>
              <a:off x="1625337" y="1303988"/>
              <a:ext cx="3583085" cy="3767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prstClr val="black"/>
                  </a:solidFill>
                  <a:effectLst/>
                  <a:uLnTx/>
                  <a:uFillTx/>
                  <a:cs typeface="Times New Roman" panose="02020603050405020304" pitchFamily="18" charset="0"/>
                </a:rPr>
                <a:t>STANDARDS DEVELOPMENT</a:t>
              </a:r>
            </a:p>
          </p:txBody>
        </p:sp>
        <p:pic>
          <p:nvPicPr>
            <p:cNvPr id="44" name="Picture 2" descr="ISO - International Organization for Standardization">
              <a:extLst>
                <a:ext uri="{FF2B5EF4-FFF2-40B4-BE49-F238E27FC236}">
                  <a16:creationId xmlns:a16="http://schemas.microsoft.com/office/drawing/2014/main" id="{50B516A9-8B35-A90C-12A6-61CF275C254A}"/>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38579" y="1182165"/>
              <a:ext cx="801435" cy="73961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45" name="Group 44">
            <a:extLst>
              <a:ext uri="{FF2B5EF4-FFF2-40B4-BE49-F238E27FC236}">
                <a16:creationId xmlns:a16="http://schemas.microsoft.com/office/drawing/2014/main" id="{364DE9C1-236F-5950-B2DA-6920CFC4AC42}"/>
              </a:ext>
            </a:extLst>
          </p:cNvPr>
          <p:cNvGrpSpPr/>
          <p:nvPr/>
        </p:nvGrpSpPr>
        <p:grpSpPr>
          <a:xfrm>
            <a:off x="469578" y="4776274"/>
            <a:ext cx="7199511" cy="1599904"/>
            <a:chOff x="883691" y="4096505"/>
            <a:chExt cx="7199511" cy="1599904"/>
          </a:xfrm>
        </p:grpSpPr>
        <p:pic>
          <p:nvPicPr>
            <p:cNvPr id="46" name="Picture 45">
              <a:extLst>
                <a:ext uri="{FF2B5EF4-FFF2-40B4-BE49-F238E27FC236}">
                  <a16:creationId xmlns:a16="http://schemas.microsoft.com/office/drawing/2014/main" id="{23D992EA-69DE-ED5F-527B-884125C4E8FF}"/>
                </a:ext>
              </a:extLst>
            </p:cNvPr>
            <p:cNvPicPr>
              <a:picLocks noChangeAspect="1"/>
            </p:cNvPicPr>
            <p:nvPr/>
          </p:nvPicPr>
          <p:blipFill>
            <a:blip r:embed="rId6">
              <a:clrChange>
                <a:clrFrom>
                  <a:srgbClr val="FFFFFF"/>
                </a:clrFrom>
                <a:clrTo>
                  <a:srgbClr val="FFFFFF">
                    <a:alpha val="0"/>
                  </a:srgbClr>
                </a:clrTo>
              </a:clrChange>
            </a:blip>
            <a:stretch>
              <a:fillRect/>
            </a:stretch>
          </p:blipFill>
          <p:spPr>
            <a:xfrm>
              <a:off x="883691" y="4096505"/>
              <a:ext cx="1599904" cy="1599904"/>
            </a:xfrm>
            <a:prstGeom prst="rect">
              <a:avLst/>
            </a:prstGeom>
          </p:spPr>
        </p:pic>
        <p:sp>
          <p:nvSpPr>
            <p:cNvPr id="47" name="Rectangle 46">
              <a:extLst>
                <a:ext uri="{FF2B5EF4-FFF2-40B4-BE49-F238E27FC236}">
                  <a16:creationId xmlns:a16="http://schemas.microsoft.com/office/drawing/2014/main" id="{997131A0-DC5F-21BE-8D74-E207185F31BB}"/>
                </a:ext>
              </a:extLst>
            </p:cNvPr>
            <p:cNvSpPr/>
            <p:nvPr/>
          </p:nvSpPr>
          <p:spPr>
            <a:xfrm>
              <a:off x="2217661" y="4818654"/>
              <a:ext cx="5865541" cy="7817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prstClr val="black"/>
                  </a:solidFill>
                  <a:effectLst/>
                  <a:uLnTx/>
                  <a:uFillTx/>
                  <a:cs typeface="Times New Roman" panose="02020603050405020304" pitchFamily="18" charset="0"/>
                </a:rPr>
                <a:t>SCALES &amp; METROLOGY SERVICES</a:t>
              </a:r>
              <a:endParaRPr kumimoji="0" lang="en-US" b="0" i="0" u="none" strike="noStrike" kern="1200" cap="none" spc="0" normalizeH="0" baseline="0" noProof="0" dirty="0">
                <a:ln>
                  <a:noFill/>
                </a:ln>
                <a:solidFill>
                  <a:prstClr val="black"/>
                </a:solidFill>
                <a:effectLst/>
                <a:uLnTx/>
                <a:uFillTx/>
                <a:cs typeface="Times New Roman" panose="02020603050405020304" pitchFamily="18" charset="0"/>
              </a:endParaRPr>
            </a:p>
          </p:txBody>
        </p:sp>
      </p:grpSp>
      <p:grpSp>
        <p:nvGrpSpPr>
          <p:cNvPr id="48" name="Group 47">
            <a:extLst>
              <a:ext uri="{FF2B5EF4-FFF2-40B4-BE49-F238E27FC236}">
                <a16:creationId xmlns:a16="http://schemas.microsoft.com/office/drawing/2014/main" id="{6257FC7D-0FC7-44D0-8869-EEAE7ADD3B5C}"/>
              </a:ext>
            </a:extLst>
          </p:cNvPr>
          <p:cNvGrpSpPr/>
          <p:nvPr/>
        </p:nvGrpSpPr>
        <p:grpSpPr>
          <a:xfrm>
            <a:off x="137712" y="4065612"/>
            <a:ext cx="6977763" cy="954036"/>
            <a:chOff x="513116" y="3445467"/>
            <a:chExt cx="6977763" cy="954036"/>
          </a:xfrm>
        </p:grpSpPr>
        <p:pic>
          <p:nvPicPr>
            <p:cNvPr id="49" name="Picture 48">
              <a:extLst>
                <a:ext uri="{FF2B5EF4-FFF2-40B4-BE49-F238E27FC236}">
                  <a16:creationId xmlns:a16="http://schemas.microsoft.com/office/drawing/2014/main" id="{6B389ACC-BDDE-9FBB-CED5-817E63781472}"/>
                </a:ext>
              </a:extLst>
            </p:cNvPr>
            <p:cNvPicPr>
              <a:picLocks noChangeAspect="1"/>
            </p:cNvPicPr>
            <p:nvPr/>
          </p:nvPicPr>
          <p:blipFill>
            <a:blip r:embed="rId7"/>
            <a:stretch>
              <a:fillRect/>
            </a:stretch>
          </p:blipFill>
          <p:spPr>
            <a:xfrm>
              <a:off x="513116" y="3445467"/>
              <a:ext cx="1599905" cy="941121"/>
            </a:xfrm>
            <a:prstGeom prst="rect">
              <a:avLst/>
            </a:prstGeom>
          </p:spPr>
        </p:pic>
        <p:sp>
          <p:nvSpPr>
            <p:cNvPr id="50" name="Rectangle 49">
              <a:extLst>
                <a:ext uri="{FF2B5EF4-FFF2-40B4-BE49-F238E27FC236}">
                  <a16:creationId xmlns:a16="http://schemas.microsoft.com/office/drawing/2014/main" id="{6C53CD5E-E1A8-2931-C5FE-DC363086BC82}"/>
                </a:ext>
              </a:extLst>
            </p:cNvPr>
            <p:cNvSpPr/>
            <p:nvPr/>
          </p:nvSpPr>
          <p:spPr>
            <a:xfrm>
              <a:off x="1625338" y="3617758"/>
              <a:ext cx="5865541" cy="7817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prstClr val="black"/>
                  </a:solidFill>
                  <a:effectLst/>
                  <a:uLnTx/>
                  <a:uFillTx/>
                  <a:cs typeface="Times New Roman" panose="02020603050405020304" pitchFamily="18" charset="0"/>
                </a:rPr>
                <a:t>PRODUCT TESTING </a:t>
              </a:r>
              <a:endParaRPr kumimoji="0" lang="en-US" b="0" i="0" u="none" strike="noStrike" kern="1200" cap="none" spc="0" normalizeH="0" baseline="0" noProof="0" dirty="0">
                <a:ln>
                  <a:noFill/>
                </a:ln>
                <a:solidFill>
                  <a:prstClr val="black"/>
                </a:solidFill>
                <a:effectLst/>
                <a:uLnTx/>
                <a:uFillTx/>
                <a:cs typeface="Times New Roman" panose="02020603050405020304" pitchFamily="18" charset="0"/>
              </a:endParaRPr>
            </a:p>
          </p:txBody>
        </p:sp>
      </p:grpSp>
      <p:grpSp>
        <p:nvGrpSpPr>
          <p:cNvPr id="51" name="Group 50">
            <a:extLst>
              <a:ext uri="{FF2B5EF4-FFF2-40B4-BE49-F238E27FC236}">
                <a16:creationId xmlns:a16="http://schemas.microsoft.com/office/drawing/2014/main" id="{70A0D0C6-81D6-0E36-F348-27559514837C}"/>
              </a:ext>
            </a:extLst>
          </p:cNvPr>
          <p:cNvGrpSpPr/>
          <p:nvPr/>
        </p:nvGrpSpPr>
        <p:grpSpPr>
          <a:xfrm>
            <a:off x="6070011" y="2701603"/>
            <a:ext cx="5163463" cy="1080000"/>
            <a:chOff x="6556911" y="1941810"/>
            <a:chExt cx="5163463" cy="1080000"/>
          </a:xfrm>
        </p:grpSpPr>
        <p:pic>
          <p:nvPicPr>
            <p:cNvPr id="52" name="Picture 51">
              <a:extLst>
                <a:ext uri="{FF2B5EF4-FFF2-40B4-BE49-F238E27FC236}">
                  <a16:creationId xmlns:a16="http://schemas.microsoft.com/office/drawing/2014/main" id="{D4B18C0F-278D-8628-2EE0-20E2B839AC81}"/>
                </a:ext>
              </a:extLst>
            </p:cNvPr>
            <p:cNvPicPr>
              <a:picLocks noChangeAspect="1"/>
            </p:cNvPicPr>
            <p:nvPr/>
          </p:nvPicPr>
          <p:blipFill>
            <a:blip r:embed="rId8"/>
            <a:stretch>
              <a:fillRect/>
            </a:stretch>
          </p:blipFill>
          <p:spPr>
            <a:xfrm>
              <a:off x="6556911" y="1941810"/>
              <a:ext cx="1313310" cy="1080000"/>
            </a:xfrm>
            <a:prstGeom prst="rect">
              <a:avLst/>
            </a:prstGeom>
          </p:spPr>
        </p:pic>
        <p:sp>
          <p:nvSpPr>
            <p:cNvPr id="53" name="Rectangle 52">
              <a:extLst>
                <a:ext uri="{FF2B5EF4-FFF2-40B4-BE49-F238E27FC236}">
                  <a16:creationId xmlns:a16="http://schemas.microsoft.com/office/drawing/2014/main" id="{94C64806-DEC9-2654-0147-F1B778A50794}"/>
                </a:ext>
              </a:extLst>
            </p:cNvPr>
            <p:cNvSpPr/>
            <p:nvPr/>
          </p:nvSpPr>
          <p:spPr>
            <a:xfrm>
              <a:off x="7754792" y="2138685"/>
              <a:ext cx="3965582" cy="7817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prstClr val="black"/>
                  </a:solidFill>
                  <a:effectLst/>
                  <a:uLnTx/>
                  <a:uFillTx/>
                  <a:cs typeface="Times New Roman" panose="02020603050405020304" pitchFamily="18" charset="0"/>
                </a:rPr>
                <a:t>STANDARDS-BASED TRAINING</a:t>
              </a:r>
            </a:p>
          </p:txBody>
        </p:sp>
      </p:grpSp>
      <p:grpSp>
        <p:nvGrpSpPr>
          <p:cNvPr id="54" name="Group 53">
            <a:extLst>
              <a:ext uri="{FF2B5EF4-FFF2-40B4-BE49-F238E27FC236}">
                <a16:creationId xmlns:a16="http://schemas.microsoft.com/office/drawing/2014/main" id="{A9C71BBD-373C-D2FF-6315-F247BBD7743C}"/>
              </a:ext>
            </a:extLst>
          </p:cNvPr>
          <p:cNvGrpSpPr/>
          <p:nvPr/>
        </p:nvGrpSpPr>
        <p:grpSpPr>
          <a:xfrm>
            <a:off x="6309046" y="4008589"/>
            <a:ext cx="4750795" cy="1080000"/>
            <a:chOff x="6673566" y="3323451"/>
            <a:chExt cx="4750795" cy="1080000"/>
          </a:xfrm>
        </p:grpSpPr>
        <p:pic>
          <p:nvPicPr>
            <p:cNvPr id="55" name="Picture 54">
              <a:extLst>
                <a:ext uri="{FF2B5EF4-FFF2-40B4-BE49-F238E27FC236}">
                  <a16:creationId xmlns:a16="http://schemas.microsoft.com/office/drawing/2014/main" id="{A0FB1BD7-C7C8-583A-3DF7-F336BE8E73C8}"/>
                </a:ext>
              </a:extLst>
            </p:cNvPr>
            <p:cNvPicPr>
              <a:picLocks noChangeAspect="1"/>
            </p:cNvPicPr>
            <p:nvPr/>
          </p:nvPicPr>
          <p:blipFill>
            <a:blip r:embed="rId9"/>
            <a:stretch>
              <a:fillRect/>
            </a:stretch>
          </p:blipFill>
          <p:spPr>
            <a:xfrm>
              <a:off x="6673566" y="3323451"/>
              <a:ext cx="1080000" cy="1080000"/>
            </a:xfrm>
            <a:prstGeom prst="rect">
              <a:avLst/>
            </a:prstGeom>
          </p:spPr>
        </p:pic>
        <p:sp>
          <p:nvSpPr>
            <p:cNvPr id="56" name="Rectangle 55">
              <a:extLst>
                <a:ext uri="{FF2B5EF4-FFF2-40B4-BE49-F238E27FC236}">
                  <a16:creationId xmlns:a16="http://schemas.microsoft.com/office/drawing/2014/main" id="{B8CB1F52-3AEF-9F13-E15D-3E761C329053}"/>
                </a:ext>
              </a:extLst>
            </p:cNvPr>
            <p:cNvSpPr/>
            <p:nvPr/>
          </p:nvSpPr>
          <p:spPr>
            <a:xfrm>
              <a:off x="7782605" y="3524179"/>
              <a:ext cx="3641756" cy="7817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prstClr val="black"/>
                  </a:solidFill>
                  <a:effectLst/>
                  <a:uLnTx/>
                  <a:uFillTx/>
                  <a:cs typeface="Times New Roman" panose="02020603050405020304" pitchFamily="18" charset="0"/>
                </a:rPr>
                <a:t>WTO ENQUIRY POINT</a:t>
              </a:r>
            </a:p>
          </p:txBody>
        </p:sp>
      </p:grpSp>
      <p:grpSp>
        <p:nvGrpSpPr>
          <p:cNvPr id="57" name="Group 56">
            <a:extLst>
              <a:ext uri="{FF2B5EF4-FFF2-40B4-BE49-F238E27FC236}">
                <a16:creationId xmlns:a16="http://schemas.microsoft.com/office/drawing/2014/main" id="{DBC7A3D6-A875-7AEA-50A2-8A5723F76C83}"/>
              </a:ext>
            </a:extLst>
          </p:cNvPr>
          <p:cNvGrpSpPr/>
          <p:nvPr/>
        </p:nvGrpSpPr>
        <p:grpSpPr>
          <a:xfrm>
            <a:off x="6223257" y="5163186"/>
            <a:ext cx="5499165" cy="1332000"/>
            <a:chOff x="6637371" y="4402951"/>
            <a:chExt cx="5499165" cy="1332000"/>
          </a:xfrm>
        </p:grpSpPr>
        <p:pic>
          <p:nvPicPr>
            <p:cNvPr id="58" name="Picture 57">
              <a:extLst>
                <a:ext uri="{FF2B5EF4-FFF2-40B4-BE49-F238E27FC236}">
                  <a16:creationId xmlns:a16="http://schemas.microsoft.com/office/drawing/2014/main" id="{589EA3C7-7717-4AD7-3C17-0ADD09599269}"/>
                </a:ext>
              </a:extLst>
            </p:cNvPr>
            <p:cNvPicPr>
              <a:picLocks noChangeAspect="1"/>
            </p:cNvPicPr>
            <p:nvPr/>
          </p:nvPicPr>
          <p:blipFill>
            <a:blip r:embed="rId10">
              <a:extLst>
                <a:ext uri="{BEBA8EAE-BF5A-486C-A8C5-ECC9F3942E4B}">
                  <a14:imgProps xmlns:a14="http://schemas.microsoft.com/office/drawing/2010/main">
                    <a14:imgLayer r:embed="rId11">
                      <a14:imgEffect>
                        <a14:backgroundRemoval t="10000" b="90435" l="7763" r="95434">
                          <a14:foregroundMark x1="91324" y1="46957" x2="91324" y2="46957"/>
                          <a14:foregroundMark x1="94521" y1="42609" x2="94521" y2="42609"/>
                          <a14:foregroundMark x1="52968" y1="90435" x2="52968" y2="90435"/>
                          <a14:foregroundMark x1="7763" y1="54348" x2="7763" y2="54348"/>
                          <a14:foregroundMark x1="95434" y1="49565" x2="95434" y2="49565"/>
                          <a14:foregroundMark x1="53425" y1="10000" x2="53425" y2="10000"/>
                          <a14:foregroundMark x1="51598" y1="10000" x2="51598" y2="10000"/>
                        </a14:backgroundRemoval>
                      </a14:imgEffect>
                    </a14:imgLayer>
                  </a14:imgProps>
                </a:ext>
              </a:extLst>
            </a:blip>
            <a:stretch>
              <a:fillRect/>
            </a:stretch>
          </p:blipFill>
          <p:spPr>
            <a:xfrm>
              <a:off x="6637371" y="4402951"/>
              <a:ext cx="1268308" cy="1332000"/>
            </a:xfrm>
            <a:prstGeom prst="rect">
              <a:avLst/>
            </a:prstGeom>
          </p:spPr>
        </p:pic>
        <p:sp>
          <p:nvSpPr>
            <p:cNvPr id="59" name="Rectangle 58">
              <a:extLst>
                <a:ext uri="{FF2B5EF4-FFF2-40B4-BE49-F238E27FC236}">
                  <a16:creationId xmlns:a16="http://schemas.microsoft.com/office/drawing/2014/main" id="{B8970FC7-9061-9343-A3E1-19CBF94BC978}"/>
                </a:ext>
              </a:extLst>
            </p:cNvPr>
            <p:cNvSpPr/>
            <p:nvPr/>
          </p:nvSpPr>
          <p:spPr>
            <a:xfrm>
              <a:off x="7870221" y="4856692"/>
              <a:ext cx="4266315" cy="7817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prstClr val="black"/>
                  </a:solidFill>
                  <a:effectLst/>
                  <a:uLnTx/>
                  <a:uFillTx/>
                  <a:cs typeface="Times New Roman" panose="02020603050405020304" pitchFamily="18" charset="0"/>
                </a:rPr>
                <a:t>INFORMATION DISSEMINATION </a:t>
              </a:r>
            </a:p>
          </p:txBody>
        </p:sp>
      </p:grpSp>
      <p:sp>
        <p:nvSpPr>
          <p:cNvPr id="60" name="AutoShape 4" descr="ISO 22000:2018 - Food safety management systems - Requirements for any  organization in the food chain">
            <a:extLst>
              <a:ext uri="{FF2B5EF4-FFF2-40B4-BE49-F238E27FC236}">
                <a16:creationId xmlns:a16="http://schemas.microsoft.com/office/drawing/2014/main" id="{E32E934E-7915-71B8-1B52-8CCC269A0552}"/>
              </a:ext>
            </a:extLst>
          </p:cNvPr>
          <p:cNvSpPr>
            <a:spLocks noChangeAspect="1" noChangeArrowheads="1"/>
          </p:cNvSpPr>
          <p:nvPr/>
        </p:nvSpPr>
        <p:spPr bwMode="auto">
          <a:xfrm>
            <a:off x="5529486" y="403683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x-non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61" name="Group 60">
            <a:extLst>
              <a:ext uri="{FF2B5EF4-FFF2-40B4-BE49-F238E27FC236}">
                <a16:creationId xmlns:a16="http://schemas.microsoft.com/office/drawing/2014/main" id="{CEB83C61-DA1D-689C-85B4-9E5BEB3DD65D}"/>
              </a:ext>
            </a:extLst>
          </p:cNvPr>
          <p:cNvGrpSpPr/>
          <p:nvPr/>
        </p:nvGrpSpPr>
        <p:grpSpPr>
          <a:xfrm>
            <a:off x="6096000" y="1350943"/>
            <a:ext cx="3561839" cy="1080000"/>
            <a:chOff x="6722673" y="943661"/>
            <a:chExt cx="3561839" cy="1080000"/>
          </a:xfrm>
        </p:grpSpPr>
        <p:pic>
          <p:nvPicPr>
            <p:cNvPr id="62" name="Picture 6" descr="Iso Logo High Res Stock Images | Shutterstock">
              <a:extLst>
                <a:ext uri="{FF2B5EF4-FFF2-40B4-BE49-F238E27FC236}">
                  <a16:creationId xmlns:a16="http://schemas.microsoft.com/office/drawing/2014/main" id="{6E018FED-2A94-6A86-09C4-E8CD37DE67A9}"/>
                </a:ext>
              </a:extLst>
            </p:cNvPr>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6722673" y="943661"/>
              <a:ext cx="1236119" cy="1080000"/>
            </a:xfrm>
            <a:prstGeom prst="rect">
              <a:avLst/>
            </a:prstGeom>
            <a:noFill/>
            <a:extLst>
              <a:ext uri="{909E8E84-426E-40DD-AFC4-6F175D3DCCD1}">
                <a14:hiddenFill xmlns:a14="http://schemas.microsoft.com/office/drawing/2010/main">
                  <a:solidFill>
                    <a:srgbClr val="FFFFFF"/>
                  </a:solidFill>
                </a14:hiddenFill>
              </a:ext>
            </a:extLst>
          </p:spPr>
        </p:pic>
        <p:sp>
          <p:nvSpPr>
            <p:cNvPr id="63" name="Rectangle 62">
              <a:extLst>
                <a:ext uri="{FF2B5EF4-FFF2-40B4-BE49-F238E27FC236}">
                  <a16:creationId xmlns:a16="http://schemas.microsoft.com/office/drawing/2014/main" id="{1F41A166-BFA3-BECC-930A-760A0005A466}"/>
                </a:ext>
              </a:extLst>
            </p:cNvPr>
            <p:cNvSpPr/>
            <p:nvPr/>
          </p:nvSpPr>
          <p:spPr>
            <a:xfrm>
              <a:off x="7753566" y="1228052"/>
              <a:ext cx="2530946" cy="7817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prstClr val="black"/>
                  </a:solidFill>
                  <a:effectLst/>
                  <a:uLnTx/>
                  <a:uFillTx/>
                  <a:cs typeface="Times New Roman" panose="02020603050405020304" pitchFamily="18" charset="0"/>
                </a:rPr>
                <a:t>STANDARDS SALES</a:t>
              </a:r>
            </a:p>
          </p:txBody>
        </p:sp>
      </p:grpSp>
      <p:grpSp>
        <p:nvGrpSpPr>
          <p:cNvPr id="67" name="Group 66">
            <a:extLst>
              <a:ext uri="{FF2B5EF4-FFF2-40B4-BE49-F238E27FC236}">
                <a16:creationId xmlns:a16="http://schemas.microsoft.com/office/drawing/2014/main" id="{05CCC7E2-9B0E-2C6F-C774-8C4873BC8E71}"/>
              </a:ext>
            </a:extLst>
          </p:cNvPr>
          <p:cNvGrpSpPr/>
          <p:nvPr/>
        </p:nvGrpSpPr>
        <p:grpSpPr>
          <a:xfrm>
            <a:off x="170564" y="2686417"/>
            <a:ext cx="7043782" cy="1188142"/>
            <a:chOff x="599296" y="2079955"/>
            <a:chExt cx="7043782" cy="1188142"/>
          </a:xfrm>
        </p:grpSpPr>
        <p:pic>
          <p:nvPicPr>
            <p:cNvPr id="69" name="Picture 68">
              <a:extLst>
                <a:ext uri="{FF2B5EF4-FFF2-40B4-BE49-F238E27FC236}">
                  <a16:creationId xmlns:a16="http://schemas.microsoft.com/office/drawing/2014/main" id="{BAF0D21A-2953-C0B3-EE21-88EA98A24E1C}"/>
                </a:ext>
              </a:extLst>
            </p:cNvPr>
            <p:cNvPicPr>
              <a:picLocks noChangeAspect="1"/>
            </p:cNvPicPr>
            <p:nvPr/>
          </p:nvPicPr>
          <p:blipFill>
            <a:blip r:embed="rId13"/>
            <a:stretch>
              <a:fillRect/>
            </a:stretch>
          </p:blipFill>
          <p:spPr>
            <a:xfrm rot="928821">
              <a:off x="599296" y="2188097"/>
              <a:ext cx="1080000" cy="1080000"/>
            </a:xfrm>
            <a:prstGeom prst="rect">
              <a:avLst/>
            </a:prstGeom>
          </p:spPr>
        </p:pic>
        <p:sp>
          <p:nvSpPr>
            <p:cNvPr id="70" name="Rectangle 69">
              <a:extLst>
                <a:ext uri="{FF2B5EF4-FFF2-40B4-BE49-F238E27FC236}">
                  <a16:creationId xmlns:a16="http://schemas.microsoft.com/office/drawing/2014/main" id="{FD87461B-6CA3-A6AB-4FB2-3B1FCD60EA6B}"/>
                </a:ext>
              </a:extLst>
            </p:cNvPr>
            <p:cNvSpPr/>
            <p:nvPr/>
          </p:nvSpPr>
          <p:spPr>
            <a:xfrm>
              <a:off x="1625337" y="2079955"/>
              <a:ext cx="6017741" cy="10991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prstClr val="black"/>
                  </a:solidFill>
                  <a:effectLst/>
                  <a:uLnTx/>
                  <a:uFillTx/>
                  <a:cs typeface="Times New Roman" panose="02020603050405020304" pitchFamily="18" charset="0"/>
                </a:rPr>
                <a:t>CERTIFICATION:</a:t>
              </a:r>
            </a:p>
            <a:p>
              <a:pPr marL="357188" marR="0" lvl="0" indent="-357188"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b="0" i="0" u="none" strike="noStrike" kern="1200" cap="none" spc="0" normalizeH="0" baseline="0" noProof="0" dirty="0">
                  <a:ln>
                    <a:noFill/>
                  </a:ln>
                  <a:solidFill>
                    <a:prstClr val="black"/>
                  </a:solidFill>
                  <a:effectLst/>
                  <a:uLnTx/>
                  <a:uFillTx/>
                  <a:cs typeface="Times New Roman" panose="02020603050405020304" pitchFamily="18" charset="0"/>
                </a:rPr>
                <a:t>MANAGEMENT SYSTEMS </a:t>
              </a:r>
            </a:p>
            <a:p>
              <a:pPr marL="357188" marR="0" lvl="0" indent="-357188"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b="0" i="0" u="none" strike="noStrike" kern="1200" cap="none" spc="0" normalizeH="0" baseline="0" noProof="0" dirty="0">
                  <a:ln>
                    <a:noFill/>
                  </a:ln>
                  <a:solidFill>
                    <a:prstClr val="black"/>
                  </a:solidFill>
                  <a:effectLst/>
                  <a:uLnTx/>
                  <a:uFillTx/>
                  <a:cs typeface="Times New Roman" panose="02020603050405020304" pitchFamily="18" charset="0"/>
                </a:rPr>
                <a:t>PRODUCT CERTIFICATION</a:t>
              </a:r>
            </a:p>
          </p:txBody>
        </p:sp>
      </p:grpSp>
      <p:sp>
        <p:nvSpPr>
          <p:cNvPr id="2" name="Text Box 2">
            <a:extLst>
              <a:ext uri="{FF2B5EF4-FFF2-40B4-BE49-F238E27FC236}">
                <a16:creationId xmlns:a16="http://schemas.microsoft.com/office/drawing/2014/main" id="{4BE6280F-2CE6-DCD0-923C-E9EBD8DD3F42}"/>
              </a:ext>
            </a:extLst>
          </p:cNvPr>
          <p:cNvSpPr txBox="1">
            <a:spLocks noChangeArrowheads="1"/>
          </p:cNvSpPr>
          <p:nvPr/>
        </p:nvSpPr>
        <p:spPr bwMode="auto">
          <a:xfrm>
            <a:off x="8952511" y="6500672"/>
            <a:ext cx="2527722" cy="307940"/>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2E3191"/>
                </a:solidFill>
                <a:effectLst/>
                <a:latin typeface="BankGothic Lt BT" panose="020B0607020203060204" pitchFamily="34" charset="0"/>
              </a:rPr>
              <a:t>#ImprovingTheWorldWeLiveIn</a:t>
            </a:r>
            <a:endParaRPr kumimoji="0" lang="en-US" altLang="en-US" sz="1200" b="0" i="0" u="none" strike="noStrike" cap="none" normalizeH="0" baseline="0" dirty="0">
              <a:ln>
                <a:noFill/>
              </a:ln>
              <a:solidFill>
                <a:schemeClr val="tx1"/>
              </a:solidFill>
              <a:effectLst/>
              <a:latin typeface="Arial" panose="020B0604020202020204" pitchFamily="34" charset="0"/>
            </a:endParaRPr>
          </a:p>
        </p:txBody>
      </p:sp>
      <p:pic>
        <p:nvPicPr>
          <p:cNvPr id="3" name="Picture 5" descr="social-media-logos-facebook-twitter-instagram-youtube-flickr-vector-pg-transparent-background-high-resolution-linkedin-googleplus-210299554">
            <a:extLst>
              <a:ext uri="{FF2B5EF4-FFF2-40B4-BE49-F238E27FC236}">
                <a16:creationId xmlns:a16="http://schemas.microsoft.com/office/drawing/2014/main" id="{A19ABF6F-AA98-DF83-DA7C-65D259E9CBD5}"/>
              </a:ext>
            </a:extLst>
          </p:cNvPr>
          <p:cNvPicPr>
            <a:picLocks noChangeAspect="1" noChangeArrowheads="1"/>
          </p:cNvPicPr>
          <p:nvPr/>
        </p:nvPicPr>
        <p:blipFill>
          <a:blip r:embed="rId14" cstate="print">
            <a:clrChange>
              <a:clrFrom>
                <a:srgbClr val="FFFFFF"/>
              </a:clrFrom>
              <a:clrTo>
                <a:srgbClr val="FFFFFF">
                  <a:alpha val="0"/>
                </a:srgbClr>
              </a:clrTo>
            </a:clrChange>
            <a:extLst>
              <a:ext uri="{28A0092B-C50C-407E-A947-70E740481C1C}">
                <a14:useLocalDpi xmlns:a14="http://schemas.microsoft.com/office/drawing/2010/main" val="0"/>
              </a:ext>
            </a:extLst>
          </a:blip>
          <a:srcRect l="51178" t="8835" r="39842" b="71758"/>
          <a:stretch>
            <a:fillRect/>
          </a:stretch>
        </p:blipFill>
        <p:spPr bwMode="auto">
          <a:xfrm>
            <a:off x="11612544" y="6573238"/>
            <a:ext cx="177800" cy="184150"/>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pic>
      <p:pic>
        <p:nvPicPr>
          <p:cNvPr id="4" name="Picture 6" descr="social-media-logos-facebook-twitter-instagram-youtube-flickr-vector-pg-transparent-background-high-resolution-linkedin-googleplus-210299554">
            <a:extLst>
              <a:ext uri="{FF2B5EF4-FFF2-40B4-BE49-F238E27FC236}">
                <a16:creationId xmlns:a16="http://schemas.microsoft.com/office/drawing/2014/main" id="{5A54030A-692F-444C-5A7C-864BB7D98A2D}"/>
              </a:ext>
            </a:extLst>
          </p:cNvPr>
          <p:cNvPicPr>
            <a:picLocks noChangeAspect="1" noChangeArrowheads="1"/>
          </p:cNvPicPr>
          <p:nvPr/>
        </p:nvPicPr>
        <p:blipFill>
          <a:blip r:embed="rId15" cstate="print">
            <a:clrChange>
              <a:clrFrom>
                <a:srgbClr val="FFFFFF"/>
              </a:clrFrom>
              <a:clrTo>
                <a:srgbClr val="FFFFFF">
                  <a:alpha val="0"/>
                </a:srgbClr>
              </a:clrTo>
            </a:clrChange>
            <a:extLst>
              <a:ext uri="{28A0092B-C50C-407E-A947-70E740481C1C}">
                <a14:useLocalDpi xmlns:a14="http://schemas.microsoft.com/office/drawing/2010/main" val="0"/>
              </a:ext>
            </a:extLst>
          </a:blip>
          <a:srcRect l="86784" t="34485" r="4137" b="46553"/>
          <a:stretch>
            <a:fillRect/>
          </a:stretch>
        </p:blipFill>
        <p:spPr bwMode="auto">
          <a:xfrm>
            <a:off x="11853614" y="6573238"/>
            <a:ext cx="184150" cy="184150"/>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pic>
      <p:cxnSp>
        <p:nvCxnSpPr>
          <p:cNvPr id="11" name="Straight Connector 10">
            <a:extLst>
              <a:ext uri="{FF2B5EF4-FFF2-40B4-BE49-F238E27FC236}">
                <a16:creationId xmlns:a16="http://schemas.microsoft.com/office/drawing/2014/main" id="{40247E6B-9B14-F903-CAEC-378E5563CEF3}"/>
              </a:ext>
            </a:extLst>
          </p:cNvPr>
          <p:cNvCxnSpPr/>
          <p:nvPr/>
        </p:nvCxnSpPr>
        <p:spPr>
          <a:xfrm>
            <a:off x="6715647" y="6625216"/>
            <a:ext cx="2160000" cy="0"/>
          </a:xfrm>
          <a:prstGeom prst="line">
            <a:avLst/>
          </a:prstGeom>
          <a:ln w="28575">
            <a:solidFill>
              <a:srgbClr val="2E319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701570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23E333-1265-21F5-E45F-966437A3E170}"/>
            </a:ext>
          </a:extLst>
        </p:cNvPr>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010AE601-E965-520E-BB1B-8DF4607575E6}"/>
              </a:ext>
            </a:extLst>
          </p:cNvPr>
          <p:cNvPicPr>
            <a:picLocks noGrp="1" noChangeAspect="1"/>
          </p:cNvPicPr>
          <p:nvPr>
            <p:ph idx="1"/>
          </p:nvPr>
        </p:nvPicPr>
        <p:blipFill>
          <a:blip r:embed="rId2"/>
          <a:stretch>
            <a:fillRect/>
          </a:stretch>
        </p:blipFill>
        <p:spPr>
          <a:xfrm>
            <a:off x="0" y="0"/>
            <a:ext cx="12192000" cy="6858000"/>
          </a:xfrm>
        </p:spPr>
      </p:pic>
      <p:sp>
        <p:nvSpPr>
          <p:cNvPr id="6" name="Rectangle 5">
            <a:extLst>
              <a:ext uri="{FF2B5EF4-FFF2-40B4-BE49-F238E27FC236}">
                <a16:creationId xmlns:a16="http://schemas.microsoft.com/office/drawing/2014/main" id="{C356F9E2-3082-34CB-FB85-AC8DFB317A7C}"/>
              </a:ext>
            </a:extLst>
          </p:cNvPr>
          <p:cNvSpPr/>
          <p:nvPr/>
        </p:nvSpPr>
        <p:spPr>
          <a:xfrm>
            <a:off x="599103" y="1492045"/>
            <a:ext cx="10196051" cy="387391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7" name="Rectangle 6">
            <a:extLst>
              <a:ext uri="{FF2B5EF4-FFF2-40B4-BE49-F238E27FC236}">
                <a16:creationId xmlns:a16="http://schemas.microsoft.com/office/drawing/2014/main" id="{5A4ABD12-02F2-E501-55CA-4360CFDD395C}"/>
              </a:ext>
            </a:extLst>
          </p:cNvPr>
          <p:cNvSpPr/>
          <p:nvPr/>
        </p:nvSpPr>
        <p:spPr>
          <a:xfrm>
            <a:off x="481781" y="648929"/>
            <a:ext cx="1976284" cy="7374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8" name="Picture 7">
            <a:extLst>
              <a:ext uri="{FF2B5EF4-FFF2-40B4-BE49-F238E27FC236}">
                <a16:creationId xmlns:a16="http://schemas.microsoft.com/office/drawing/2014/main" id="{029381DA-95F6-7921-EFFE-6F67753D5ED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038"/>
            <a:ext cx="1080000" cy="1080000"/>
          </a:xfrm>
          <a:prstGeom prst="rect">
            <a:avLst/>
          </a:prstGeom>
        </p:spPr>
      </p:pic>
      <p:sp>
        <p:nvSpPr>
          <p:cNvPr id="9" name="Rectangle 8">
            <a:extLst>
              <a:ext uri="{FF2B5EF4-FFF2-40B4-BE49-F238E27FC236}">
                <a16:creationId xmlns:a16="http://schemas.microsoft.com/office/drawing/2014/main" id="{640B8286-9D50-C7A3-5673-E55C8321B956}"/>
              </a:ext>
            </a:extLst>
          </p:cNvPr>
          <p:cNvSpPr/>
          <p:nvPr/>
        </p:nvSpPr>
        <p:spPr>
          <a:xfrm>
            <a:off x="-528020" y="1052095"/>
            <a:ext cx="4449449" cy="9144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800" b="1" dirty="0">
                <a:solidFill>
                  <a:schemeClr val="tx1"/>
                </a:solidFill>
                <a:latin typeface="Garamond" panose="02020404030301010803" pitchFamily="18" charset="0"/>
              </a:rPr>
              <a:t>Why ESWASA?</a:t>
            </a:r>
            <a:endParaRPr lang="en-ZA" sz="2800" b="1" dirty="0">
              <a:solidFill>
                <a:schemeClr val="tx1"/>
              </a:solidFill>
              <a:latin typeface="Garamond" panose="02020404030301010803" pitchFamily="18" charset="0"/>
            </a:endParaRPr>
          </a:p>
        </p:txBody>
      </p:sp>
      <p:sp>
        <p:nvSpPr>
          <p:cNvPr id="10" name="Arrow: Pentagon 9">
            <a:extLst>
              <a:ext uri="{FF2B5EF4-FFF2-40B4-BE49-F238E27FC236}">
                <a16:creationId xmlns:a16="http://schemas.microsoft.com/office/drawing/2014/main" id="{7600A7AF-4873-FF14-8F01-6458BB2A4CD8}"/>
              </a:ext>
            </a:extLst>
          </p:cNvPr>
          <p:cNvSpPr/>
          <p:nvPr/>
        </p:nvSpPr>
        <p:spPr>
          <a:xfrm>
            <a:off x="540000" y="1797827"/>
            <a:ext cx="1692000" cy="58994"/>
          </a:xfrm>
          <a:prstGeom prst="homePlate">
            <a:avLst/>
          </a:prstGeom>
          <a:solidFill>
            <a:srgbClr val="004A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3" name="Picture 2">
            <a:extLst>
              <a:ext uri="{FF2B5EF4-FFF2-40B4-BE49-F238E27FC236}">
                <a16:creationId xmlns:a16="http://schemas.microsoft.com/office/drawing/2014/main" id="{CBC6D647-4A65-45D5-1E2F-B10105EDEF00}"/>
              </a:ext>
            </a:extLst>
          </p:cNvPr>
          <p:cNvPicPr>
            <a:picLocks noChangeAspect="1"/>
          </p:cNvPicPr>
          <p:nvPr/>
        </p:nvPicPr>
        <p:blipFill>
          <a:blip r:embed="rId4"/>
          <a:stretch>
            <a:fillRect/>
          </a:stretch>
        </p:blipFill>
        <p:spPr>
          <a:xfrm>
            <a:off x="2362083" y="1856821"/>
            <a:ext cx="8702794" cy="4732430"/>
          </a:xfrm>
          <a:prstGeom prst="rect">
            <a:avLst/>
          </a:prstGeom>
        </p:spPr>
      </p:pic>
      <p:sp>
        <p:nvSpPr>
          <p:cNvPr id="21" name="Oval 20">
            <a:extLst>
              <a:ext uri="{FF2B5EF4-FFF2-40B4-BE49-F238E27FC236}">
                <a16:creationId xmlns:a16="http://schemas.microsoft.com/office/drawing/2014/main" id="{2562B0A9-261E-AC41-03C2-3F4DF297E18A}"/>
              </a:ext>
            </a:extLst>
          </p:cNvPr>
          <p:cNvSpPr/>
          <p:nvPr/>
        </p:nvSpPr>
        <p:spPr>
          <a:xfrm>
            <a:off x="2362083" y="3167743"/>
            <a:ext cx="1535003" cy="2002971"/>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22" name="Picture 21">
            <a:extLst>
              <a:ext uri="{FF2B5EF4-FFF2-40B4-BE49-F238E27FC236}">
                <a16:creationId xmlns:a16="http://schemas.microsoft.com/office/drawing/2014/main" id="{9A30FC24-AB35-1CF5-F231-B236AE310CE9}"/>
              </a:ext>
            </a:extLst>
          </p:cNvPr>
          <p:cNvPicPr>
            <a:picLocks noChangeAspect="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l="11175" t="5380" r="8844" b="8491"/>
          <a:stretch>
            <a:fillRect/>
          </a:stretch>
        </p:blipFill>
        <p:spPr>
          <a:xfrm>
            <a:off x="309057" y="2617981"/>
            <a:ext cx="3506950" cy="2700000"/>
          </a:xfrm>
          <a:prstGeom prst="rect">
            <a:avLst/>
          </a:prstGeom>
        </p:spPr>
      </p:pic>
      <p:sp>
        <p:nvSpPr>
          <p:cNvPr id="18" name="Rectangle 17">
            <a:extLst>
              <a:ext uri="{FF2B5EF4-FFF2-40B4-BE49-F238E27FC236}">
                <a16:creationId xmlns:a16="http://schemas.microsoft.com/office/drawing/2014/main" id="{2FDBD68D-DBF3-8EC5-1D4C-DE00A61DF357}"/>
              </a:ext>
            </a:extLst>
          </p:cNvPr>
          <p:cNvSpPr/>
          <p:nvPr/>
        </p:nvSpPr>
        <p:spPr>
          <a:xfrm>
            <a:off x="5881283" y="1761445"/>
            <a:ext cx="5600530" cy="509655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1" name="TextBox 10">
            <a:extLst>
              <a:ext uri="{FF2B5EF4-FFF2-40B4-BE49-F238E27FC236}">
                <a16:creationId xmlns:a16="http://schemas.microsoft.com/office/drawing/2014/main" id="{24BCE925-D4EB-EAFD-5A18-A887490ED7AA}"/>
              </a:ext>
            </a:extLst>
          </p:cNvPr>
          <p:cNvSpPr txBox="1"/>
          <p:nvPr/>
        </p:nvSpPr>
        <p:spPr>
          <a:xfrm>
            <a:off x="1705246" y="4718630"/>
            <a:ext cx="714572" cy="432792"/>
          </a:xfrm>
          <a:prstGeom prst="ellipse">
            <a:avLst/>
          </a:prstGeom>
          <a:solidFill>
            <a:schemeClr val="bg1"/>
          </a:solidFill>
          <a:ln>
            <a:noFill/>
          </a:ln>
        </p:spPr>
        <p:txBody>
          <a:bodyPr wrap="square">
            <a:spAutoFit/>
          </a:bodyPr>
          <a:lstStyle/>
          <a:p>
            <a:pPr algn="ctr"/>
            <a:r>
              <a:rPr lang="en-GB" sz="700" b="1" dirty="0">
                <a:solidFill>
                  <a:schemeClr val="tx1"/>
                </a:solidFill>
              </a:rPr>
              <a:t>OHS 45001</a:t>
            </a:r>
            <a:endParaRPr lang="en-ZA" sz="700" b="1" dirty="0">
              <a:solidFill>
                <a:schemeClr val="tx1"/>
              </a:solidFill>
            </a:endParaRPr>
          </a:p>
        </p:txBody>
      </p:sp>
      <p:pic>
        <p:nvPicPr>
          <p:cNvPr id="12" name="Picture 11">
            <a:extLst>
              <a:ext uri="{FF2B5EF4-FFF2-40B4-BE49-F238E27FC236}">
                <a16:creationId xmlns:a16="http://schemas.microsoft.com/office/drawing/2014/main" id="{2650A9E9-E708-3BFD-83C4-8FDE1BD71089}"/>
              </a:ext>
            </a:extLst>
          </p:cNvPr>
          <p:cNvPicPr>
            <a:picLocks noChangeAspect="1"/>
          </p:cNvPicPr>
          <p:nvPr/>
        </p:nvPicPr>
        <p:blipFill>
          <a:blip r:embed="rId6">
            <a:clrChange>
              <a:clrFrom>
                <a:srgbClr val="FFFFFF"/>
              </a:clrFrom>
              <a:clrTo>
                <a:srgbClr val="FFFFFF">
                  <a:alpha val="0"/>
                </a:srgbClr>
              </a:clrTo>
            </a:clrChange>
            <a:extLst>
              <a:ext uri="{BEBA8EAE-BF5A-486C-A8C5-ECC9F3942E4B}">
                <a14:imgProps xmlns:a14="http://schemas.microsoft.com/office/drawing/2010/main">
                  <a14:imgLayer r:embed="rId7">
                    <a14:imgEffect>
                      <a14:backgroundRemoval t="70259" b="89009" l="44684" r="57627">
                        <a14:foregroundMark x1="44838" y1="81098" x2="44838" y2="82543"/>
                        <a14:foregroundMark x1="49307" y1="70259" x2="54391" y2="71336"/>
                        <a14:foregroundMark x1="57215" y1="81068" x2="57319" y2="84267"/>
                        <a14:foregroundMark x1="57011" y1="74784" x2="57088" y2="77155"/>
                        <a14:foregroundMark x1="50077" y1="87069" x2="53313" y2="84052"/>
                        <a14:backgroundMark x1="48228" y1="77802" x2="53621" y2="78017"/>
                        <a14:backgroundMark x1="47920" y1="81034" x2="54391" y2="80172"/>
                        <a14:backgroundMark x1="48074" y1="77155" x2="48228" y2="80819"/>
                        <a14:backgroundMark x1="49461" y1="78017" x2="54237" y2="78448"/>
                        <a14:backgroundMark x1="49461" y1="76509" x2="53621" y2="77586"/>
                        <a14:backgroundMark x1="48074" y1="81681" x2="52388" y2="80388"/>
                        <a14:backgroundMark x1="54391" y1="77155" x2="54391" y2="79741"/>
                        <a14:backgroundMark x1="54700" y1="78879" x2="54545" y2="80603"/>
                        <a14:backgroundMark x1="53621" y1="80603" x2="53467" y2="80172"/>
                        <a14:backgroundMark x1="52851" y1="81466" x2="53159" y2="81466"/>
                      </a14:backgroundRemoval>
                    </a14:imgEffect>
                  </a14:imgLayer>
                </a14:imgProps>
              </a:ext>
              <a:ext uri="{28A0092B-C50C-407E-A947-70E740481C1C}">
                <a14:useLocalDpi xmlns:a14="http://schemas.microsoft.com/office/drawing/2010/main" val="0"/>
              </a:ext>
            </a:extLst>
          </a:blip>
          <a:srcRect l="43174" t="68299" r="40683" b="8491"/>
          <a:stretch>
            <a:fillRect/>
          </a:stretch>
        </p:blipFill>
        <p:spPr>
          <a:xfrm>
            <a:off x="1694824" y="4585968"/>
            <a:ext cx="735415" cy="756000"/>
          </a:xfrm>
          <a:prstGeom prst="rect">
            <a:avLst/>
          </a:prstGeom>
        </p:spPr>
      </p:pic>
      <p:sp>
        <p:nvSpPr>
          <p:cNvPr id="19" name="Rectangle 18">
            <a:extLst>
              <a:ext uri="{FF2B5EF4-FFF2-40B4-BE49-F238E27FC236}">
                <a16:creationId xmlns:a16="http://schemas.microsoft.com/office/drawing/2014/main" id="{6EDA1FE9-C04B-362E-5D8E-04CA87B7B1F7}"/>
              </a:ext>
            </a:extLst>
          </p:cNvPr>
          <p:cNvSpPr/>
          <p:nvPr/>
        </p:nvSpPr>
        <p:spPr>
          <a:xfrm>
            <a:off x="4438487" y="1492045"/>
            <a:ext cx="3518970" cy="1181267"/>
          </a:xfrm>
          <a:prstGeom prst="rect">
            <a:avLst/>
          </a:prstGeom>
          <a:solidFill>
            <a:schemeClr val="bg1"/>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3" name="Rectangle 12">
            <a:extLst>
              <a:ext uri="{FF2B5EF4-FFF2-40B4-BE49-F238E27FC236}">
                <a16:creationId xmlns:a16="http://schemas.microsoft.com/office/drawing/2014/main" id="{9E9D1B94-B496-1323-A00A-C897FE9F1E23}"/>
              </a:ext>
            </a:extLst>
          </p:cNvPr>
          <p:cNvSpPr/>
          <p:nvPr/>
        </p:nvSpPr>
        <p:spPr>
          <a:xfrm>
            <a:off x="4338365" y="1584515"/>
            <a:ext cx="7254531" cy="111852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1600" b="1" dirty="0">
                <a:solidFill>
                  <a:schemeClr val="tx1"/>
                </a:solidFill>
              </a:rPr>
              <a:t>Demonstrate Competence</a:t>
            </a:r>
          </a:p>
          <a:p>
            <a:r>
              <a:rPr lang="en-GB" sz="1600" dirty="0">
                <a:solidFill>
                  <a:schemeClr val="tx1"/>
                </a:solidFill>
              </a:rPr>
              <a:t>To meet your goals, lower risk, and give additional value evaluation, we have skilled personnel from different business areas. ESWASA has competent, experienced, and academically skilled experts in various fields at its disposal.</a:t>
            </a:r>
            <a:endParaRPr lang="en-ZA" sz="1600" dirty="0">
              <a:solidFill>
                <a:schemeClr val="tx1"/>
              </a:solidFill>
            </a:endParaRPr>
          </a:p>
        </p:txBody>
      </p:sp>
      <p:sp>
        <p:nvSpPr>
          <p:cNvPr id="14" name="Rectangle 13">
            <a:extLst>
              <a:ext uri="{FF2B5EF4-FFF2-40B4-BE49-F238E27FC236}">
                <a16:creationId xmlns:a16="http://schemas.microsoft.com/office/drawing/2014/main" id="{E61C931C-CAA6-F0C8-B352-806AE141282A}"/>
              </a:ext>
            </a:extLst>
          </p:cNvPr>
          <p:cNvSpPr/>
          <p:nvPr/>
        </p:nvSpPr>
        <p:spPr>
          <a:xfrm>
            <a:off x="5539934" y="2807810"/>
            <a:ext cx="6652066" cy="71986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1600" b="1" dirty="0">
                <a:solidFill>
                  <a:schemeClr val="tx1"/>
                </a:solidFill>
              </a:rPr>
              <a:t>Integrated Approach</a:t>
            </a:r>
          </a:p>
          <a:p>
            <a:r>
              <a:rPr lang="en-GB" sz="1600" dirty="0">
                <a:solidFill>
                  <a:schemeClr val="tx1"/>
                </a:solidFill>
              </a:rPr>
              <a:t>We offer guidance on the most economical path to certification, which, when practical, includes integrated audits.</a:t>
            </a:r>
            <a:endParaRPr lang="en-ZA" sz="1600" dirty="0">
              <a:solidFill>
                <a:schemeClr val="tx1"/>
              </a:solidFill>
            </a:endParaRPr>
          </a:p>
        </p:txBody>
      </p:sp>
      <p:sp>
        <p:nvSpPr>
          <p:cNvPr id="15" name="Rectangle 14">
            <a:extLst>
              <a:ext uri="{FF2B5EF4-FFF2-40B4-BE49-F238E27FC236}">
                <a16:creationId xmlns:a16="http://schemas.microsoft.com/office/drawing/2014/main" id="{BF7C58BC-1FB0-186A-6D40-50D017B2FB8C}"/>
              </a:ext>
            </a:extLst>
          </p:cNvPr>
          <p:cNvSpPr/>
          <p:nvPr/>
        </p:nvSpPr>
        <p:spPr>
          <a:xfrm>
            <a:off x="5856940" y="3662173"/>
            <a:ext cx="6258732" cy="118523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1600" b="1" dirty="0">
                <a:solidFill>
                  <a:schemeClr val="tx1"/>
                </a:solidFill>
              </a:rPr>
              <a:t>Prompt Support</a:t>
            </a:r>
          </a:p>
          <a:p>
            <a:r>
              <a:rPr lang="en-GB" sz="1600" dirty="0">
                <a:solidFill>
                  <a:schemeClr val="tx1"/>
                </a:solidFill>
              </a:rPr>
              <a:t>To assist your institution in obtaining certification quickly and without red tape, we are dedicated to offering prompt support </a:t>
            </a:r>
          </a:p>
        </p:txBody>
      </p:sp>
      <p:sp>
        <p:nvSpPr>
          <p:cNvPr id="16" name="Rectangle 15">
            <a:extLst>
              <a:ext uri="{FF2B5EF4-FFF2-40B4-BE49-F238E27FC236}">
                <a16:creationId xmlns:a16="http://schemas.microsoft.com/office/drawing/2014/main" id="{8E99DE1C-4252-2E84-4A37-DA3B374172AE}"/>
              </a:ext>
            </a:extLst>
          </p:cNvPr>
          <p:cNvSpPr/>
          <p:nvPr/>
        </p:nvSpPr>
        <p:spPr>
          <a:xfrm>
            <a:off x="4438487" y="5862032"/>
            <a:ext cx="7018200" cy="71986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1600" b="1" dirty="0">
                <a:solidFill>
                  <a:schemeClr val="tx1"/>
                </a:solidFill>
              </a:rPr>
              <a:t>Competitive Price</a:t>
            </a:r>
          </a:p>
          <a:p>
            <a:r>
              <a:rPr lang="en-GB" sz="1600" dirty="0">
                <a:solidFill>
                  <a:schemeClr val="tx1"/>
                </a:solidFill>
              </a:rPr>
              <a:t>We offer competitive pricing for our professional services. There are no annual management fees and no hidden costs.</a:t>
            </a:r>
          </a:p>
        </p:txBody>
      </p:sp>
      <p:sp>
        <p:nvSpPr>
          <p:cNvPr id="17" name="Rectangle 16">
            <a:extLst>
              <a:ext uri="{FF2B5EF4-FFF2-40B4-BE49-F238E27FC236}">
                <a16:creationId xmlns:a16="http://schemas.microsoft.com/office/drawing/2014/main" id="{A3617DFC-5937-88D0-0B99-FF16B6D76EA1}"/>
              </a:ext>
            </a:extLst>
          </p:cNvPr>
          <p:cNvSpPr/>
          <p:nvPr/>
        </p:nvSpPr>
        <p:spPr>
          <a:xfrm>
            <a:off x="5539934" y="4925847"/>
            <a:ext cx="6575738" cy="71986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1600" b="1" dirty="0">
                <a:solidFill>
                  <a:schemeClr val="tx1"/>
                </a:solidFill>
              </a:rPr>
              <a:t>Committed</a:t>
            </a:r>
          </a:p>
          <a:p>
            <a:r>
              <a:rPr lang="en-GB" sz="1600" dirty="0">
                <a:solidFill>
                  <a:schemeClr val="tx1"/>
                </a:solidFill>
              </a:rPr>
              <a:t>We will actively reply to your input while collaborating with your internal Quality Assurance team or an independent consultant.</a:t>
            </a:r>
            <a:endParaRPr lang="en-GB" sz="1600" b="1" dirty="0">
              <a:solidFill>
                <a:schemeClr val="tx1"/>
              </a:solidFill>
            </a:endParaRPr>
          </a:p>
        </p:txBody>
      </p:sp>
      <p:sp>
        <p:nvSpPr>
          <p:cNvPr id="20" name="Text Box 2">
            <a:extLst>
              <a:ext uri="{FF2B5EF4-FFF2-40B4-BE49-F238E27FC236}">
                <a16:creationId xmlns:a16="http://schemas.microsoft.com/office/drawing/2014/main" id="{959F8D3C-D70C-9D12-C814-E274C75D3673}"/>
              </a:ext>
            </a:extLst>
          </p:cNvPr>
          <p:cNvSpPr txBox="1">
            <a:spLocks noChangeArrowheads="1"/>
          </p:cNvSpPr>
          <p:nvPr/>
        </p:nvSpPr>
        <p:spPr bwMode="auto">
          <a:xfrm>
            <a:off x="9030419" y="6565979"/>
            <a:ext cx="2527722" cy="307940"/>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2E3191"/>
                </a:solidFill>
                <a:effectLst/>
                <a:latin typeface="BankGothic Lt BT" panose="020B0607020203060204" pitchFamily="34" charset="0"/>
              </a:rPr>
              <a:t>#ImprovingTheWorldWeLiveIn</a:t>
            </a:r>
            <a:endParaRPr kumimoji="0" lang="en-US" altLang="en-US" sz="1200" b="0" i="0" u="none" strike="noStrike" cap="none" normalizeH="0" baseline="0" dirty="0">
              <a:ln>
                <a:noFill/>
              </a:ln>
              <a:solidFill>
                <a:schemeClr val="tx1"/>
              </a:solidFill>
              <a:effectLst/>
              <a:latin typeface="Arial" panose="020B0604020202020204" pitchFamily="34" charset="0"/>
            </a:endParaRPr>
          </a:p>
        </p:txBody>
      </p:sp>
      <p:pic>
        <p:nvPicPr>
          <p:cNvPr id="23" name="Picture 5" descr="social-media-logos-facebook-twitter-instagram-youtube-flickr-vector-pg-transparent-background-high-resolution-linkedin-googleplus-210299554">
            <a:extLst>
              <a:ext uri="{FF2B5EF4-FFF2-40B4-BE49-F238E27FC236}">
                <a16:creationId xmlns:a16="http://schemas.microsoft.com/office/drawing/2014/main" id="{1D0412C2-7879-B000-3265-7AE09E777164}"/>
              </a:ext>
            </a:extLst>
          </p:cNvPr>
          <p:cNvPicPr>
            <a:picLocks noChangeAspect="1" noChangeArrowheads="1"/>
          </p:cNvPicPr>
          <p:nvPr/>
        </p:nvPicPr>
        <p:blipFill>
          <a:blip r:embed="rId8" cstate="print">
            <a:clrChange>
              <a:clrFrom>
                <a:srgbClr val="FFFFFF"/>
              </a:clrFrom>
              <a:clrTo>
                <a:srgbClr val="FFFFFF">
                  <a:alpha val="0"/>
                </a:srgbClr>
              </a:clrTo>
            </a:clrChange>
            <a:extLst>
              <a:ext uri="{28A0092B-C50C-407E-A947-70E740481C1C}">
                <a14:useLocalDpi xmlns:a14="http://schemas.microsoft.com/office/drawing/2010/main" val="0"/>
              </a:ext>
            </a:extLst>
          </a:blip>
          <a:srcRect l="51178" t="8835" r="39842" b="71758"/>
          <a:stretch>
            <a:fillRect/>
          </a:stretch>
        </p:blipFill>
        <p:spPr bwMode="auto">
          <a:xfrm>
            <a:off x="11690452" y="6638545"/>
            <a:ext cx="177800" cy="184150"/>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pic>
      <p:pic>
        <p:nvPicPr>
          <p:cNvPr id="24" name="Picture 6" descr="social-media-logos-facebook-twitter-instagram-youtube-flickr-vector-pg-transparent-background-high-resolution-linkedin-googleplus-210299554">
            <a:extLst>
              <a:ext uri="{FF2B5EF4-FFF2-40B4-BE49-F238E27FC236}">
                <a16:creationId xmlns:a16="http://schemas.microsoft.com/office/drawing/2014/main" id="{2B8005AC-385F-E117-7458-79173110E290}"/>
              </a:ext>
            </a:extLst>
          </p:cNvPr>
          <p:cNvPicPr>
            <a:picLocks noChangeAspect="1" noChangeArrowheads="1"/>
          </p:cNvPicPr>
          <p:nvPr/>
        </p:nvPicPr>
        <p:blipFill>
          <a:blip r:embed="rId9" cstate="print">
            <a:clrChange>
              <a:clrFrom>
                <a:srgbClr val="FFFFFF"/>
              </a:clrFrom>
              <a:clrTo>
                <a:srgbClr val="FFFFFF">
                  <a:alpha val="0"/>
                </a:srgbClr>
              </a:clrTo>
            </a:clrChange>
            <a:extLst>
              <a:ext uri="{28A0092B-C50C-407E-A947-70E740481C1C}">
                <a14:useLocalDpi xmlns:a14="http://schemas.microsoft.com/office/drawing/2010/main" val="0"/>
              </a:ext>
            </a:extLst>
          </a:blip>
          <a:srcRect l="86784" t="34485" r="4137" b="46553"/>
          <a:stretch>
            <a:fillRect/>
          </a:stretch>
        </p:blipFill>
        <p:spPr bwMode="auto">
          <a:xfrm>
            <a:off x="11931522" y="6638545"/>
            <a:ext cx="184150" cy="184150"/>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pic>
      <p:cxnSp>
        <p:nvCxnSpPr>
          <p:cNvPr id="25" name="Straight Connector 24">
            <a:extLst>
              <a:ext uri="{FF2B5EF4-FFF2-40B4-BE49-F238E27FC236}">
                <a16:creationId xmlns:a16="http://schemas.microsoft.com/office/drawing/2014/main" id="{B7937C13-81B4-C398-4821-5B653D5F90B0}"/>
              </a:ext>
            </a:extLst>
          </p:cNvPr>
          <p:cNvCxnSpPr/>
          <p:nvPr/>
        </p:nvCxnSpPr>
        <p:spPr>
          <a:xfrm>
            <a:off x="6793555" y="6690523"/>
            <a:ext cx="2160000" cy="0"/>
          </a:xfrm>
          <a:prstGeom prst="line">
            <a:avLst/>
          </a:prstGeom>
          <a:ln w="28575">
            <a:solidFill>
              <a:srgbClr val="2E319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734148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96598-64A7-16A2-A633-AA250026C6B1}"/>
            </a:ext>
          </a:extLst>
        </p:cNvPr>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465B80D7-4147-EA19-72E0-40F1DF3F171E}"/>
              </a:ext>
            </a:extLst>
          </p:cNvPr>
          <p:cNvPicPr>
            <a:picLocks noGrp="1" noChangeAspect="1"/>
          </p:cNvPicPr>
          <p:nvPr>
            <p:ph idx="1"/>
          </p:nvPr>
        </p:nvPicPr>
        <p:blipFill>
          <a:blip r:embed="rId3"/>
          <a:stretch>
            <a:fillRect/>
          </a:stretch>
        </p:blipFill>
        <p:spPr>
          <a:xfrm>
            <a:off x="0" y="0"/>
            <a:ext cx="12192000" cy="6858000"/>
          </a:xfrm>
        </p:spPr>
      </p:pic>
      <p:sp>
        <p:nvSpPr>
          <p:cNvPr id="6" name="Rectangle 5">
            <a:extLst>
              <a:ext uri="{FF2B5EF4-FFF2-40B4-BE49-F238E27FC236}">
                <a16:creationId xmlns:a16="http://schemas.microsoft.com/office/drawing/2014/main" id="{A686CD05-6B6C-5373-6016-26D9C4D6C3DD}"/>
              </a:ext>
            </a:extLst>
          </p:cNvPr>
          <p:cNvSpPr/>
          <p:nvPr/>
        </p:nvSpPr>
        <p:spPr>
          <a:xfrm>
            <a:off x="560439" y="1533832"/>
            <a:ext cx="10196051" cy="387391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7" name="Rectangle 6">
            <a:extLst>
              <a:ext uri="{FF2B5EF4-FFF2-40B4-BE49-F238E27FC236}">
                <a16:creationId xmlns:a16="http://schemas.microsoft.com/office/drawing/2014/main" id="{5CD118E8-8FB8-0197-8BFB-F0DDB94BCAC1}"/>
              </a:ext>
            </a:extLst>
          </p:cNvPr>
          <p:cNvSpPr/>
          <p:nvPr/>
        </p:nvSpPr>
        <p:spPr>
          <a:xfrm>
            <a:off x="481781" y="648929"/>
            <a:ext cx="1976284" cy="7374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2" name="Picture 1">
            <a:extLst>
              <a:ext uri="{FF2B5EF4-FFF2-40B4-BE49-F238E27FC236}">
                <a16:creationId xmlns:a16="http://schemas.microsoft.com/office/drawing/2014/main" id="{99093823-54B5-5FC6-2D7B-A8BE632B924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2038"/>
            <a:ext cx="1080000" cy="1080000"/>
          </a:xfrm>
          <a:prstGeom prst="rect">
            <a:avLst/>
          </a:prstGeom>
        </p:spPr>
      </p:pic>
      <p:sp>
        <p:nvSpPr>
          <p:cNvPr id="4" name="Arrow: Pentagon 3">
            <a:extLst>
              <a:ext uri="{FF2B5EF4-FFF2-40B4-BE49-F238E27FC236}">
                <a16:creationId xmlns:a16="http://schemas.microsoft.com/office/drawing/2014/main" id="{3CA2EDEE-A013-99F8-0111-48F8BC8A680B}"/>
              </a:ext>
            </a:extLst>
          </p:cNvPr>
          <p:cNvSpPr/>
          <p:nvPr/>
        </p:nvSpPr>
        <p:spPr>
          <a:xfrm>
            <a:off x="1953022" y="927628"/>
            <a:ext cx="3852000" cy="58994"/>
          </a:xfrm>
          <a:prstGeom prst="homePlate">
            <a:avLst/>
          </a:prstGeom>
          <a:solidFill>
            <a:srgbClr val="004A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grpSp>
        <p:nvGrpSpPr>
          <p:cNvPr id="40" name="Group 39">
            <a:extLst>
              <a:ext uri="{FF2B5EF4-FFF2-40B4-BE49-F238E27FC236}">
                <a16:creationId xmlns:a16="http://schemas.microsoft.com/office/drawing/2014/main" id="{8035F12C-B1C4-F1A3-06EC-474C9534B80B}"/>
              </a:ext>
            </a:extLst>
          </p:cNvPr>
          <p:cNvGrpSpPr/>
          <p:nvPr/>
        </p:nvGrpSpPr>
        <p:grpSpPr>
          <a:xfrm>
            <a:off x="2790138" y="3647023"/>
            <a:ext cx="5209839" cy="2523783"/>
            <a:chOff x="2359101" y="2914976"/>
            <a:chExt cx="5209839" cy="2523783"/>
          </a:xfrm>
        </p:grpSpPr>
        <p:grpSp>
          <p:nvGrpSpPr>
            <p:cNvPr id="41" name="Group 40">
              <a:extLst>
                <a:ext uri="{FF2B5EF4-FFF2-40B4-BE49-F238E27FC236}">
                  <a16:creationId xmlns:a16="http://schemas.microsoft.com/office/drawing/2014/main" id="{1CF472A6-434B-C4EB-4F9C-7FA8480C2342}"/>
                </a:ext>
              </a:extLst>
            </p:cNvPr>
            <p:cNvGrpSpPr/>
            <p:nvPr/>
          </p:nvGrpSpPr>
          <p:grpSpPr>
            <a:xfrm>
              <a:off x="2359101" y="2914976"/>
              <a:ext cx="5209839" cy="2523783"/>
              <a:chOff x="2359101" y="2914976"/>
              <a:chExt cx="5209839" cy="2523783"/>
            </a:xfrm>
          </p:grpSpPr>
          <p:pic>
            <p:nvPicPr>
              <p:cNvPr id="43" name="Picture 42">
                <a:extLst>
                  <a:ext uri="{FF2B5EF4-FFF2-40B4-BE49-F238E27FC236}">
                    <a16:creationId xmlns:a16="http://schemas.microsoft.com/office/drawing/2014/main" id="{FEFF7169-8BB9-2845-861D-C639F765F82E}"/>
                  </a:ext>
                </a:extLst>
              </p:cNvPr>
              <p:cNvPicPr>
                <a:picLocks noChangeAspect="1"/>
              </p:cNvPicPr>
              <p:nvPr/>
            </p:nvPicPr>
            <p:blipFill>
              <a:blip r:embed="rId5"/>
              <a:stretch>
                <a:fillRect/>
              </a:stretch>
            </p:blipFill>
            <p:spPr>
              <a:xfrm>
                <a:off x="3671449" y="2914976"/>
                <a:ext cx="2232724" cy="2232724"/>
              </a:xfrm>
              <a:prstGeom prst="rect">
                <a:avLst/>
              </a:prstGeom>
            </p:spPr>
          </p:pic>
          <p:cxnSp>
            <p:nvCxnSpPr>
              <p:cNvPr id="44" name="Connector: Curved 43">
                <a:extLst>
                  <a:ext uri="{FF2B5EF4-FFF2-40B4-BE49-F238E27FC236}">
                    <a16:creationId xmlns:a16="http://schemas.microsoft.com/office/drawing/2014/main" id="{0AF3F650-A92E-0615-82AC-F2443E9E2DBB}"/>
                  </a:ext>
                </a:extLst>
              </p:cNvPr>
              <p:cNvCxnSpPr>
                <a:cxnSpLocks/>
              </p:cNvCxnSpPr>
              <p:nvPr/>
            </p:nvCxnSpPr>
            <p:spPr>
              <a:xfrm flipV="1">
                <a:off x="5664963" y="3521356"/>
                <a:ext cx="1903977" cy="211492"/>
              </a:xfrm>
              <a:prstGeom prst="curvedConnector3">
                <a:avLst>
                  <a:gd name="adj1" fmla="val 50000"/>
                </a:avLst>
              </a:prstGeom>
              <a:ln w="1016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45" name="Rectangle 44">
                <a:extLst>
                  <a:ext uri="{FF2B5EF4-FFF2-40B4-BE49-F238E27FC236}">
                    <a16:creationId xmlns:a16="http://schemas.microsoft.com/office/drawing/2014/main" id="{6B3335E0-078B-29F0-C213-6FE70381D193}"/>
                  </a:ext>
                </a:extLst>
              </p:cNvPr>
              <p:cNvSpPr/>
              <p:nvPr/>
            </p:nvSpPr>
            <p:spPr>
              <a:xfrm>
                <a:off x="2359101" y="4918677"/>
                <a:ext cx="5085569" cy="52008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prstClr val="black"/>
                    </a:solidFill>
                    <a:effectLst/>
                    <a:uLnTx/>
                    <a:uFillTx/>
                    <a:ea typeface="Calibri" panose="020F0502020204030204" pitchFamily="34" charset="0"/>
                    <a:cs typeface="Calibri" panose="020F0502020204030204" pitchFamily="34" charset="0"/>
                  </a:rPr>
                  <a:t>Attend Standards-based Training</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solidFill>
                      <a:prstClr val="black"/>
                    </a:solidFill>
                    <a:ea typeface="Calibri" panose="020F0502020204030204" pitchFamily="34" charset="0"/>
                    <a:cs typeface="Calibri" panose="020F0502020204030204" pitchFamily="34" charset="0"/>
                  </a:rPr>
                  <a:t>E5 500 per person – Understanding&amp; Implementation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ea typeface="Calibri" panose="020F0502020204030204" pitchFamily="34" charset="0"/>
                    <a:cs typeface="Calibri" panose="020F0502020204030204" pitchFamily="34" charset="0"/>
                  </a:rPr>
                  <a:t>E2</a:t>
                </a:r>
                <a:r>
                  <a:rPr lang="en-US" sz="1600" b="1" dirty="0">
                    <a:solidFill>
                      <a:prstClr val="black"/>
                    </a:solidFill>
                    <a:ea typeface="Calibri" panose="020F0502020204030204" pitchFamily="34" charset="0"/>
                    <a:cs typeface="Calibri" panose="020F0502020204030204" pitchFamily="34" charset="0"/>
                  </a:rPr>
                  <a:t> 500 per person – Management Awareness</a:t>
                </a:r>
                <a:endParaRPr kumimoji="0" lang="x-none" sz="1600" b="1" i="0" u="none" strike="noStrike" kern="1200" cap="none" spc="0" normalizeH="0" baseline="0" noProof="0" dirty="0">
                  <a:ln>
                    <a:noFill/>
                  </a:ln>
                  <a:solidFill>
                    <a:prstClr val="black"/>
                  </a:solidFill>
                  <a:effectLst/>
                  <a:uLnTx/>
                  <a:uFillTx/>
                  <a:ea typeface="Calibri" panose="020F0502020204030204" pitchFamily="34" charset="0"/>
                  <a:cs typeface="Calibri" panose="020F0502020204030204" pitchFamily="34" charset="0"/>
                </a:endParaRPr>
              </a:p>
            </p:txBody>
          </p:sp>
        </p:grpSp>
        <p:sp>
          <p:nvSpPr>
            <p:cNvPr id="42" name="TextBox 41">
              <a:extLst>
                <a:ext uri="{FF2B5EF4-FFF2-40B4-BE49-F238E27FC236}">
                  <a16:creationId xmlns:a16="http://schemas.microsoft.com/office/drawing/2014/main" id="{B7743B4C-CA7C-F8B8-2FB7-3CBF7900B089}"/>
                </a:ext>
              </a:extLst>
            </p:cNvPr>
            <p:cNvSpPr txBox="1"/>
            <p:nvPr/>
          </p:nvSpPr>
          <p:spPr>
            <a:xfrm>
              <a:off x="3245588" y="3458949"/>
              <a:ext cx="1128350" cy="83099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2</a:t>
              </a:r>
              <a:endParaRPr kumimoji="0" lang="x-none" sz="48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endParaRPr>
            </a:p>
          </p:txBody>
        </p:sp>
      </p:grpSp>
      <p:grpSp>
        <p:nvGrpSpPr>
          <p:cNvPr id="46" name="Group 45">
            <a:extLst>
              <a:ext uri="{FF2B5EF4-FFF2-40B4-BE49-F238E27FC236}">
                <a16:creationId xmlns:a16="http://schemas.microsoft.com/office/drawing/2014/main" id="{5868070C-00DB-1965-8F2B-E90768FB6B79}"/>
              </a:ext>
            </a:extLst>
          </p:cNvPr>
          <p:cNvGrpSpPr/>
          <p:nvPr/>
        </p:nvGrpSpPr>
        <p:grpSpPr>
          <a:xfrm>
            <a:off x="8372812" y="1456832"/>
            <a:ext cx="3971925" cy="3240001"/>
            <a:chOff x="7609490" y="1636438"/>
            <a:chExt cx="4321065" cy="3505447"/>
          </a:xfrm>
        </p:grpSpPr>
        <p:grpSp>
          <p:nvGrpSpPr>
            <p:cNvPr id="47" name="Group 46">
              <a:extLst>
                <a:ext uri="{FF2B5EF4-FFF2-40B4-BE49-F238E27FC236}">
                  <a16:creationId xmlns:a16="http://schemas.microsoft.com/office/drawing/2014/main" id="{4B78F315-67AD-F2F7-8B81-742A96082328}"/>
                </a:ext>
              </a:extLst>
            </p:cNvPr>
            <p:cNvGrpSpPr/>
            <p:nvPr/>
          </p:nvGrpSpPr>
          <p:grpSpPr>
            <a:xfrm>
              <a:off x="7609490" y="1636438"/>
              <a:ext cx="4321065" cy="3505447"/>
              <a:chOff x="7582755" y="1704118"/>
              <a:chExt cx="4321065" cy="3505447"/>
            </a:xfrm>
          </p:grpSpPr>
          <p:pic>
            <p:nvPicPr>
              <p:cNvPr id="49" name="Picture 48">
                <a:extLst>
                  <a:ext uri="{FF2B5EF4-FFF2-40B4-BE49-F238E27FC236}">
                    <a16:creationId xmlns:a16="http://schemas.microsoft.com/office/drawing/2014/main" id="{562DCB0E-9EE1-2ED3-EB98-82B7E277BA1A}"/>
                  </a:ext>
                </a:extLst>
              </p:cNvPr>
              <p:cNvPicPr>
                <a:picLocks noChangeAspect="1"/>
              </p:cNvPicPr>
              <p:nvPr/>
            </p:nvPicPr>
            <p:blipFill>
              <a:blip r:embed="rId6"/>
              <a:srcRect r="9309"/>
              <a:stretch>
                <a:fillRect/>
              </a:stretch>
            </p:blipFill>
            <p:spPr>
              <a:xfrm>
                <a:off x="8826937" y="1704118"/>
                <a:ext cx="2914196" cy="3505447"/>
              </a:xfrm>
              <a:prstGeom prst="rect">
                <a:avLst/>
              </a:prstGeom>
            </p:spPr>
          </p:pic>
          <p:cxnSp>
            <p:nvCxnSpPr>
              <p:cNvPr id="50" name="Connector: Curved 49">
                <a:extLst>
                  <a:ext uri="{FF2B5EF4-FFF2-40B4-BE49-F238E27FC236}">
                    <a16:creationId xmlns:a16="http://schemas.microsoft.com/office/drawing/2014/main" id="{281A849D-FCE7-C299-5D84-97A302ACE426}"/>
                  </a:ext>
                </a:extLst>
              </p:cNvPr>
              <p:cNvCxnSpPr>
                <a:cxnSpLocks/>
              </p:cNvCxnSpPr>
              <p:nvPr/>
            </p:nvCxnSpPr>
            <p:spPr>
              <a:xfrm rot="10800000">
                <a:off x="7582755" y="1869506"/>
                <a:ext cx="1370756" cy="0"/>
              </a:xfrm>
              <a:prstGeom prst="curvedConnector3">
                <a:avLst>
                  <a:gd name="adj1" fmla="val 50000"/>
                </a:avLst>
              </a:prstGeom>
              <a:ln w="1016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51" name="Rectangle 50">
                <a:extLst>
                  <a:ext uri="{FF2B5EF4-FFF2-40B4-BE49-F238E27FC236}">
                    <a16:creationId xmlns:a16="http://schemas.microsoft.com/office/drawing/2014/main" id="{D7096C3E-CA1C-11DE-7349-85A7864A5B6A}"/>
                  </a:ext>
                </a:extLst>
              </p:cNvPr>
              <p:cNvSpPr/>
              <p:nvPr/>
            </p:nvSpPr>
            <p:spPr>
              <a:xfrm>
                <a:off x="8924266" y="1713307"/>
                <a:ext cx="2979554" cy="53205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prstClr val="black"/>
                    </a:solidFill>
                    <a:effectLst/>
                    <a:uLnTx/>
                    <a:uFillTx/>
                    <a:ea typeface="+mn-ea"/>
                    <a:cs typeface="+mn-cs"/>
                  </a:rPr>
                  <a:t>Certification audit</a:t>
                </a:r>
                <a:endParaRPr kumimoji="0" lang="x-none" b="1" i="0" u="none" strike="noStrike" kern="1200" cap="none" spc="0" normalizeH="0" baseline="0" noProof="0" dirty="0">
                  <a:ln>
                    <a:noFill/>
                  </a:ln>
                  <a:solidFill>
                    <a:prstClr val="black"/>
                  </a:solidFill>
                  <a:effectLst/>
                  <a:uLnTx/>
                  <a:uFillTx/>
                  <a:ea typeface="+mn-ea"/>
                  <a:cs typeface="+mn-cs"/>
                </a:endParaRPr>
              </a:p>
            </p:txBody>
          </p:sp>
        </p:grpSp>
        <p:sp>
          <p:nvSpPr>
            <p:cNvPr id="48" name="TextBox 47">
              <a:extLst>
                <a:ext uri="{FF2B5EF4-FFF2-40B4-BE49-F238E27FC236}">
                  <a16:creationId xmlns:a16="http://schemas.microsoft.com/office/drawing/2014/main" id="{5CE639D8-110C-A3C5-BB45-03EE0211FA8F}"/>
                </a:ext>
              </a:extLst>
            </p:cNvPr>
            <p:cNvSpPr txBox="1"/>
            <p:nvPr/>
          </p:nvSpPr>
          <p:spPr>
            <a:xfrm>
              <a:off x="8919391" y="2186868"/>
              <a:ext cx="766548" cy="83099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4</a:t>
              </a:r>
              <a:endParaRPr kumimoji="0" lang="x-none" sz="48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endParaRPr>
            </a:p>
          </p:txBody>
        </p:sp>
      </p:grpSp>
      <p:grpSp>
        <p:nvGrpSpPr>
          <p:cNvPr id="52" name="Group 51">
            <a:extLst>
              <a:ext uri="{FF2B5EF4-FFF2-40B4-BE49-F238E27FC236}">
                <a16:creationId xmlns:a16="http://schemas.microsoft.com/office/drawing/2014/main" id="{5F99C838-5BEC-8F98-4BD9-895BC4A46A57}"/>
              </a:ext>
            </a:extLst>
          </p:cNvPr>
          <p:cNvGrpSpPr/>
          <p:nvPr/>
        </p:nvGrpSpPr>
        <p:grpSpPr>
          <a:xfrm>
            <a:off x="3349730" y="1046443"/>
            <a:ext cx="6471219" cy="2680561"/>
            <a:chOff x="3315640" y="1044247"/>
            <a:chExt cx="6471219" cy="2680561"/>
          </a:xfrm>
        </p:grpSpPr>
        <p:sp>
          <p:nvSpPr>
            <p:cNvPr id="57" name="Rectangle 56">
              <a:extLst>
                <a:ext uri="{FF2B5EF4-FFF2-40B4-BE49-F238E27FC236}">
                  <a16:creationId xmlns:a16="http://schemas.microsoft.com/office/drawing/2014/main" id="{0EED0045-A22F-1222-3DEC-6DEC3B2545F6}"/>
                </a:ext>
              </a:extLst>
            </p:cNvPr>
            <p:cNvSpPr/>
            <p:nvPr/>
          </p:nvSpPr>
          <p:spPr>
            <a:xfrm>
              <a:off x="3315640" y="3059550"/>
              <a:ext cx="2139527" cy="66525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x-none"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4" name="Rectangle 53">
              <a:extLst>
                <a:ext uri="{FF2B5EF4-FFF2-40B4-BE49-F238E27FC236}">
                  <a16:creationId xmlns:a16="http://schemas.microsoft.com/office/drawing/2014/main" id="{9B999583-1FC5-1130-3CAE-A927CFE88731}"/>
                </a:ext>
              </a:extLst>
            </p:cNvPr>
            <p:cNvSpPr/>
            <p:nvPr/>
          </p:nvSpPr>
          <p:spPr>
            <a:xfrm>
              <a:off x="6213095" y="1044247"/>
              <a:ext cx="3573764" cy="4929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prstClr val="black"/>
                  </a:solidFill>
                  <a:effectLst/>
                  <a:uLnTx/>
                  <a:uFillTx/>
                  <a:ea typeface="+mn-ea"/>
                  <a:cs typeface="+mn-cs"/>
                </a:rPr>
                <a:t>Certification approval</a:t>
              </a:r>
              <a:endParaRPr kumimoji="0" lang="x-none" b="1" i="0" u="none" strike="noStrike" kern="1200" cap="none" spc="0" normalizeH="0" baseline="0" noProof="0" dirty="0">
                <a:ln>
                  <a:noFill/>
                </a:ln>
                <a:solidFill>
                  <a:prstClr val="black"/>
                </a:solidFill>
                <a:effectLst/>
                <a:uLnTx/>
                <a:uFillTx/>
                <a:ea typeface="+mn-ea"/>
                <a:cs typeface="+mn-cs"/>
              </a:endParaRPr>
            </a:p>
          </p:txBody>
        </p:sp>
        <p:sp>
          <p:nvSpPr>
            <p:cNvPr id="55" name="TextBox 54">
              <a:extLst>
                <a:ext uri="{FF2B5EF4-FFF2-40B4-BE49-F238E27FC236}">
                  <a16:creationId xmlns:a16="http://schemas.microsoft.com/office/drawing/2014/main" id="{AE32501E-9F8B-7C1F-73D1-3D70719A2E29}"/>
                </a:ext>
              </a:extLst>
            </p:cNvPr>
            <p:cNvSpPr txBox="1"/>
            <p:nvPr/>
          </p:nvSpPr>
          <p:spPr>
            <a:xfrm>
              <a:off x="7758093" y="1249891"/>
              <a:ext cx="766548" cy="83099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5</a:t>
              </a:r>
              <a:endParaRPr kumimoji="0" lang="x-none" sz="48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endParaRPr>
            </a:p>
          </p:txBody>
        </p:sp>
      </p:grpSp>
      <p:grpSp>
        <p:nvGrpSpPr>
          <p:cNvPr id="59" name="Group 58">
            <a:extLst>
              <a:ext uri="{FF2B5EF4-FFF2-40B4-BE49-F238E27FC236}">
                <a16:creationId xmlns:a16="http://schemas.microsoft.com/office/drawing/2014/main" id="{8024A514-6E43-E77C-8DD0-65E16584EE47}"/>
              </a:ext>
            </a:extLst>
          </p:cNvPr>
          <p:cNvGrpSpPr/>
          <p:nvPr/>
        </p:nvGrpSpPr>
        <p:grpSpPr>
          <a:xfrm>
            <a:off x="7724023" y="2733652"/>
            <a:ext cx="5383082" cy="3580305"/>
            <a:chOff x="6891386" y="1492806"/>
            <a:chExt cx="5383082" cy="3580305"/>
          </a:xfrm>
        </p:grpSpPr>
        <p:grpSp>
          <p:nvGrpSpPr>
            <p:cNvPr id="60" name="Group 59">
              <a:extLst>
                <a:ext uri="{FF2B5EF4-FFF2-40B4-BE49-F238E27FC236}">
                  <a16:creationId xmlns:a16="http://schemas.microsoft.com/office/drawing/2014/main" id="{6268A7A5-D132-CF9A-834E-533871CD9DA7}"/>
                </a:ext>
              </a:extLst>
            </p:cNvPr>
            <p:cNvGrpSpPr/>
            <p:nvPr/>
          </p:nvGrpSpPr>
          <p:grpSpPr>
            <a:xfrm>
              <a:off x="6891386" y="2501893"/>
              <a:ext cx="5383082" cy="2571218"/>
              <a:chOff x="6891386" y="2501893"/>
              <a:chExt cx="5383082" cy="2571218"/>
            </a:xfrm>
          </p:grpSpPr>
          <p:grpSp>
            <p:nvGrpSpPr>
              <p:cNvPr id="62" name="Group 61">
                <a:extLst>
                  <a:ext uri="{FF2B5EF4-FFF2-40B4-BE49-F238E27FC236}">
                    <a16:creationId xmlns:a16="http://schemas.microsoft.com/office/drawing/2014/main" id="{8D4EE642-EC29-D3F8-803E-C9BB51A7B1D6}"/>
                  </a:ext>
                </a:extLst>
              </p:cNvPr>
              <p:cNvGrpSpPr/>
              <p:nvPr/>
            </p:nvGrpSpPr>
            <p:grpSpPr>
              <a:xfrm>
                <a:off x="7523385" y="2501893"/>
                <a:ext cx="4751083" cy="2571218"/>
                <a:chOff x="7523385" y="2501893"/>
                <a:chExt cx="4751083" cy="2571218"/>
              </a:xfrm>
            </p:grpSpPr>
            <p:pic>
              <p:nvPicPr>
                <p:cNvPr id="64" name="Picture 63">
                  <a:extLst>
                    <a:ext uri="{FF2B5EF4-FFF2-40B4-BE49-F238E27FC236}">
                      <a16:creationId xmlns:a16="http://schemas.microsoft.com/office/drawing/2014/main" id="{2612A9BE-A0A3-16EF-C21A-92D890F8D345}"/>
                    </a:ext>
                  </a:extLst>
                </p:cNvPr>
                <p:cNvPicPr>
                  <a:picLocks noChangeAspect="1"/>
                </p:cNvPicPr>
                <p:nvPr/>
              </p:nvPicPr>
              <p:blipFill>
                <a:blip r:embed="rId7"/>
                <a:stretch>
                  <a:fillRect/>
                </a:stretch>
              </p:blipFill>
              <p:spPr>
                <a:xfrm>
                  <a:off x="7523385" y="2501893"/>
                  <a:ext cx="1700483" cy="1818028"/>
                </a:xfrm>
                <a:prstGeom prst="rect">
                  <a:avLst/>
                </a:prstGeom>
              </p:spPr>
            </p:pic>
            <p:sp>
              <p:nvSpPr>
                <p:cNvPr id="65" name="Rectangle 64">
                  <a:extLst>
                    <a:ext uri="{FF2B5EF4-FFF2-40B4-BE49-F238E27FC236}">
                      <a16:creationId xmlns:a16="http://schemas.microsoft.com/office/drawing/2014/main" id="{A80021B5-AC47-AA0C-E5A1-9FA7B6984FEC}"/>
                    </a:ext>
                  </a:extLst>
                </p:cNvPr>
                <p:cNvSpPr/>
                <p:nvPr/>
              </p:nvSpPr>
              <p:spPr>
                <a:xfrm>
                  <a:off x="8123070" y="4260461"/>
                  <a:ext cx="4151398" cy="81265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prstClr val="black"/>
                      </a:solidFill>
                      <a:effectLst/>
                      <a:uLnTx/>
                      <a:uFillTx/>
                      <a:ea typeface="+mn-ea"/>
                      <a:cs typeface="+mn-cs"/>
                    </a:rPr>
                    <a:t>Implementation: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prstClr val="black"/>
                      </a:solidFill>
                      <a:effectLst/>
                      <a:uLnTx/>
                      <a:uFillTx/>
                      <a:ea typeface="+mn-ea"/>
                      <a:cs typeface="+mn-cs"/>
                    </a:rPr>
                    <a:t>self or consultancy</a:t>
                  </a:r>
                  <a:endParaRPr kumimoji="0" lang="x-none" b="1" i="0" u="none" strike="noStrike" kern="1200" cap="none" spc="0" normalizeH="0" baseline="0" noProof="0" dirty="0">
                    <a:ln>
                      <a:noFill/>
                    </a:ln>
                    <a:solidFill>
                      <a:prstClr val="black"/>
                    </a:solidFill>
                    <a:effectLst/>
                    <a:uLnTx/>
                    <a:uFillTx/>
                    <a:ea typeface="+mn-ea"/>
                    <a:cs typeface="+mn-cs"/>
                  </a:endParaRPr>
                </a:p>
              </p:txBody>
            </p:sp>
          </p:grpSp>
          <p:sp>
            <p:nvSpPr>
              <p:cNvPr id="63" name="TextBox 62">
                <a:extLst>
                  <a:ext uri="{FF2B5EF4-FFF2-40B4-BE49-F238E27FC236}">
                    <a16:creationId xmlns:a16="http://schemas.microsoft.com/office/drawing/2014/main" id="{DFE4EC95-50C3-4901-996B-C01253D6A3AB}"/>
                  </a:ext>
                </a:extLst>
              </p:cNvPr>
              <p:cNvSpPr txBox="1"/>
              <p:nvPr/>
            </p:nvSpPr>
            <p:spPr>
              <a:xfrm>
                <a:off x="6891386" y="2597059"/>
                <a:ext cx="933234" cy="83099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3</a:t>
                </a:r>
                <a:endParaRPr kumimoji="0" lang="x-none" sz="48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endParaRPr>
              </a:p>
            </p:txBody>
          </p:sp>
        </p:grpSp>
        <p:cxnSp>
          <p:nvCxnSpPr>
            <p:cNvPr id="61" name="Connector: Curved 60">
              <a:extLst>
                <a:ext uri="{FF2B5EF4-FFF2-40B4-BE49-F238E27FC236}">
                  <a16:creationId xmlns:a16="http://schemas.microsoft.com/office/drawing/2014/main" id="{B74D4BA3-D735-980F-DDC6-C68070FE564B}"/>
                </a:ext>
              </a:extLst>
            </p:cNvPr>
            <p:cNvCxnSpPr>
              <a:cxnSpLocks/>
              <a:endCxn id="48" idx="2"/>
            </p:cNvCxnSpPr>
            <p:nvPr/>
          </p:nvCxnSpPr>
          <p:spPr>
            <a:xfrm rot="5400000" flipH="1" flipV="1">
              <a:off x="8240426" y="1735093"/>
              <a:ext cx="1098424" cy="613850"/>
            </a:xfrm>
            <a:prstGeom prst="curvedConnector3">
              <a:avLst>
                <a:gd name="adj1" fmla="val 50000"/>
              </a:avLst>
            </a:prstGeom>
            <a:ln w="101600">
              <a:solidFill>
                <a:srgbClr val="00B05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66" name="Group 65">
            <a:extLst>
              <a:ext uri="{FF2B5EF4-FFF2-40B4-BE49-F238E27FC236}">
                <a16:creationId xmlns:a16="http://schemas.microsoft.com/office/drawing/2014/main" id="{A6896DC4-413F-1896-BCDA-CC6608520084}"/>
              </a:ext>
            </a:extLst>
          </p:cNvPr>
          <p:cNvGrpSpPr/>
          <p:nvPr/>
        </p:nvGrpSpPr>
        <p:grpSpPr>
          <a:xfrm>
            <a:off x="29797" y="1198904"/>
            <a:ext cx="5976612" cy="4758206"/>
            <a:chOff x="-748859" y="917562"/>
            <a:chExt cx="6167083" cy="5018823"/>
          </a:xfrm>
        </p:grpSpPr>
        <p:grpSp>
          <p:nvGrpSpPr>
            <p:cNvPr id="67" name="Group 66">
              <a:extLst>
                <a:ext uri="{FF2B5EF4-FFF2-40B4-BE49-F238E27FC236}">
                  <a16:creationId xmlns:a16="http://schemas.microsoft.com/office/drawing/2014/main" id="{1A02AC42-E587-FD34-91B2-6634F7A7B7FB}"/>
                </a:ext>
              </a:extLst>
            </p:cNvPr>
            <p:cNvGrpSpPr/>
            <p:nvPr/>
          </p:nvGrpSpPr>
          <p:grpSpPr>
            <a:xfrm>
              <a:off x="-748859" y="917562"/>
              <a:ext cx="6167083" cy="5018823"/>
              <a:chOff x="-748859" y="917562"/>
              <a:chExt cx="6167083" cy="5018823"/>
            </a:xfrm>
          </p:grpSpPr>
          <p:grpSp>
            <p:nvGrpSpPr>
              <p:cNvPr id="69" name="Group 68">
                <a:extLst>
                  <a:ext uri="{FF2B5EF4-FFF2-40B4-BE49-F238E27FC236}">
                    <a16:creationId xmlns:a16="http://schemas.microsoft.com/office/drawing/2014/main" id="{27C571AD-25AC-715F-AB20-11AD5A4D3DF8}"/>
                  </a:ext>
                </a:extLst>
              </p:cNvPr>
              <p:cNvGrpSpPr/>
              <p:nvPr/>
            </p:nvGrpSpPr>
            <p:grpSpPr>
              <a:xfrm>
                <a:off x="-748859" y="917562"/>
                <a:ext cx="6167083" cy="5018823"/>
                <a:chOff x="-795601" y="861715"/>
                <a:chExt cx="6167083" cy="5018823"/>
              </a:xfrm>
            </p:grpSpPr>
            <p:grpSp>
              <p:nvGrpSpPr>
                <p:cNvPr id="73" name="Group 72">
                  <a:extLst>
                    <a:ext uri="{FF2B5EF4-FFF2-40B4-BE49-F238E27FC236}">
                      <a16:creationId xmlns:a16="http://schemas.microsoft.com/office/drawing/2014/main" id="{45449B29-E8BA-9BAC-4613-F1658BBA08E9}"/>
                    </a:ext>
                  </a:extLst>
                </p:cNvPr>
                <p:cNvGrpSpPr/>
                <p:nvPr/>
              </p:nvGrpSpPr>
              <p:grpSpPr>
                <a:xfrm>
                  <a:off x="-795601" y="861715"/>
                  <a:ext cx="6167083" cy="5018823"/>
                  <a:chOff x="-795601" y="861715"/>
                  <a:chExt cx="6167083" cy="5018823"/>
                </a:xfrm>
              </p:grpSpPr>
              <p:pic>
                <p:nvPicPr>
                  <p:cNvPr id="76" name="Picture 75">
                    <a:extLst>
                      <a:ext uri="{FF2B5EF4-FFF2-40B4-BE49-F238E27FC236}">
                        <a16:creationId xmlns:a16="http://schemas.microsoft.com/office/drawing/2014/main" id="{4DB5485D-948F-623A-FF3A-3ACBB2197FF8}"/>
                      </a:ext>
                    </a:extLst>
                  </p:cNvPr>
                  <p:cNvPicPr>
                    <a:picLocks noChangeAspect="1"/>
                  </p:cNvPicPr>
                  <p:nvPr/>
                </p:nvPicPr>
                <p:blipFill>
                  <a:blip r:embed="rId8">
                    <a:clrChange>
                      <a:clrFrom>
                        <a:srgbClr val="FFFFFF"/>
                      </a:clrFrom>
                      <a:clrTo>
                        <a:srgbClr val="FFFFFF">
                          <a:alpha val="0"/>
                        </a:srgbClr>
                      </a:clrTo>
                    </a:clrChange>
                  </a:blip>
                  <a:stretch>
                    <a:fillRect/>
                  </a:stretch>
                </p:blipFill>
                <p:spPr>
                  <a:xfrm>
                    <a:off x="-459742" y="3830061"/>
                    <a:ext cx="2464417" cy="2050477"/>
                  </a:xfrm>
                  <a:prstGeom prst="rect">
                    <a:avLst/>
                  </a:prstGeom>
                </p:spPr>
              </p:pic>
              <p:sp>
                <p:nvSpPr>
                  <p:cNvPr id="77" name="Rectangle 76">
                    <a:extLst>
                      <a:ext uri="{FF2B5EF4-FFF2-40B4-BE49-F238E27FC236}">
                        <a16:creationId xmlns:a16="http://schemas.microsoft.com/office/drawing/2014/main" id="{FE60C63E-FB0C-11A9-BD38-1B99499967C1}"/>
                      </a:ext>
                    </a:extLst>
                  </p:cNvPr>
                  <p:cNvSpPr/>
                  <p:nvPr/>
                </p:nvSpPr>
                <p:spPr>
                  <a:xfrm>
                    <a:off x="-795601" y="861715"/>
                    <a:ext cx="6167083" cy="12283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prstClr val="black"/>
                        </a:solidFill>
                        <a:effectLst/>
                        <a:uLnTx/>
                        <a:uFillTx/>
                        <a:ea typeface="+mn-ea"/>
                        <a:cs typeface="+mn-cs"/>
                      </a:rPr>
                      <a:t>Buy the Standards:</a:t>
                    </a:r>
                  </a:p>
                  <a:p>
                    <a:pPr marL="285750" indent="-285750">
                      <a:buFont typeface="Wingdings" panose="05000000000000000000" pitchFamily="2" charset="2"/>
                      <a:buChar char="Ø"/>
                      <a:defRPr/>
                    </a:pPr>
                    <a:r>
                      <a:rPr lang="en-US" sz="1400" b="1" dirty="0">
                        <a:solidFill>
                          <a:schemeClr val="tx1"/>
                        </a:solidFill>
                      </a:rPr>
                      <a:t>QUALITY MANAGEMENT SYSTEMS SZNS ISO 9001:2015 – E486,25</a:t>
                    </a:r>
                  </a:p>
                  <a:p>
                    <a:pPr marL="285750" indent="-285750">
                      <a:buFont typeface="Wingdings" panose="05000000000000000000" pitchFamily="2" charset="2"/>
                      <a:buChar char="Ø"/>
                      <a:defRPr/>
                    </a:pPr>
                    <a:r>
                      <a:rPr lang="en-US" sz="1400" b="1" dirty="0">
                        <a:solidFill>
                          <a:schemeClr val="tx1"/>
                        </a:solidFill>
                      </a:rPr>
                      <a:t>OCCUPATIONAL HEALTH&amp; SAFETY MANAGEMENT SYSTEMS </a:t>
                    </a:r>
                    <a:r>
                      <a:rPr kumimoji="0" lang="en-US" sz="1400" b="1" i="0" u="none" strike="noStrike" kern="1200" cap="none" spc="0" normalizeH="0" baseline="0" noProof="0" dirty="0">
                        <a:ln>
                          <a:noFill/>
                        </a:ln>
                        <a:solidFill>
                          <a:schemeClr val="tx1"/>
                        </a:solidFill>
                        <a:effectLst/>
                        <a:uLnTx/>
                        <a:uFillTx/>
                        <a:ea typeface="+mn-ea"/>
                        <a:cs typeface="+mn-cs"/>
                      </a:rPr>
                      <a:t>SZNS ISO 45001</a:t>
                    </a:r>
                    <a:r>
                      <a:rPr lang="en-US" sz="1400" b="1" dirty="0">
                        <a:solidFill>
                          <a:schemeClr val="tx1"/>
                        </a:solidFill>
                      </a:rPr>
                      <a:t>:2018 – E742,91</a:t>
                    </a:r>
                  </a:p>
                  <a:p>
                    <a:pPr marL="285750" indent="-285750">
                      <a:buFont typeface="Wingdings" panose="05000000000000000000" pitchFamily="2" charset="2"/>
                      <a:buChar char="Ø"/>
                      <a:defRPr/>
                    </a:pPr>
                    <a:r>
                      <a:rPr lang="en-US" sz="1400" b="1" dirty="0">
                        <a:solidFill>
                          <a:schemeClr val="tx1"/>
                        </a:solidFill>
                      </a:rPr>
                      <a:t>ENVIRONMENTAL MANAGEMENT SYSTEMS SZNS ISO 14001:2015 – E599,93</a:t>
                    </a:r>
                  </a:p>
                  <a:p>
                    <a:pPr marL="0" marR="0" lvl="0" indent="0" defTabSz="914400" rtl="0" eaLnBrk="1" fontAlgn="auto" latinLnBrk="0" hangingPunct="1">
                      <a:lnSpc>
                        <a:spcPct val="100000"/>
                      </a:lnSpc>
                      <a:spcBef>
                        <a:spcPts val="0"/>
                      </a:spcBef>
                      <a:spcAft>
                        <a:spcPts val="0"/>
                      </a:spcAft>
                      <a:buClrTx/>
                      <a:buSzTx/>
                      <a:buFontTx/>
                      <a:buNone/>
                      <a:tabLst/>
                      <a:defRPr/>
                    </a:pPr>
                    <a:endParaRPr kumimoji="0" lang="en-US" b="1" i="0" u="none" strike="noStrike" kern="1200" cap="none" spc="0" normalizeH="0" baseline="0" noProof="0" dirty="0">
                      <a:ln>
                        <a:noFill/>
                      </a:ln>
                      <a:solidFill>
                        <a:schemeClr val="tx1"/>
                      </a:solidFill>
                      <a:effectLst/>
                      <a:uLnTx/>
                      <a:uFillTx/>
                      <a:ea typeface="+mn-ea"/>
                      <a:cs typeface="+mn-cs"/>
                    </a:endParaRPr>
                  </a:p>
                </p:txBody>
              </p:sp>
            </p:grpSp>
            <p:cxnSp>
              <p:nvCxnSpPr>
                <p:cNvPr id="74" name="Connector: Curved 73">
                  <a:extLst>
                    <a:ext uri="{FF2B5EF4-FFF2-40B4-BE49-F238E27FC236}">
                      <a16:creationId xmlns:a16="http://schemas.microsoft.com/office/drawing/2014/main" id="{F16F4A72-2553-54AF-A044-E7F7B66FF5C2}"/>
                    </a:ext>
                  </a:extLst>
                </p:cNvPr>
                <p:cNvCxnSpPr>
                  <a:cxnSpLocks/>
                </p:cNvCxnSpPr>
                <p:nvPr/>
              </p:nvCxnSpPr>
              <p:spPr>
                <a:xfrm flipV="1">
                  <a:off x="1826468" y="4379507"/>
                  <a:ext cx="1484343" cy="223424"/>
                </a:xfrm>
                <a:prstGeom prst="curvedConnector3">
                  <a:avLst>
                    <a:gd name="adj1" fmla="val 50000"/>
                  </a:avLst>
                </a:prstGeom>
                <a:ln w="101600">
                  <a:solidFill>
                    <a:srgbClr val="00B050"/>
                  </a:solidFill>
                  <a:tailEnd type="triangle"/>
                </a:ln>
              </p:spPr>
              <p:style>
                <a:lnRef idx="1">
                  <a:schemeClr val="accent1"/>
                </a:lnRef>
                <a:fillRef idx="0">
                  <a:schemeClr val="accent1"/>
                </a:fillRef>
                <a:effectRef idx="0">
                  <a:schemeClr val="accent1"/>
                </a:effectRef>
                <a:fontRef idx="minor">
                  <a:schemeClr val="tx1"/>
                </a:fontRef>
              </p:style>
            </p:cxnSp>
          </p:grpSp>
          <p:sp>
            <p:nvSpPr>
              <p:cNvPr id="70" name="Oval 69">
                <a:extLst>
                  <a:ext uri="{FF2B5EF4-FFF2-40B4-BE49-F238E27FC236}">
                    <a16:creationId xmlns:a16="http://schemas.microsoft.com/office/drawing/2014/main" id="{6BE2718E-79A7-8FC5-1D0B-DAC9F3306B88}"/>
                  </a:ext>
                </a:extLst>
              </p:cNvPr>
              <p:cNvSpPr/>
              <p:nvPr/>
            </p:nvSpPr>
            <p:spPr>
              <a:xfrm>
                <a:off x="-748859" y="2258816"/>
                <a:ext cx="1116282" cy="1235514"/>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1</a:t>
                </a:r>
                <a:endParaRPr kumimoji="0" lang="x-none" sz="48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endParaRPr>
              </a:p>
            </p:txBody>
          </p:sp>
        </p:grpSp>
        <p:pic>
          <p:nvPicPr>
            <p:cNvPr id="68" name="Picture 2" descr="ISO 9001:2015, Fifth Edition: Quality management systems - Requirements:  International Organization for Standardization: 9789267106779: Amazon.com:  Books">
              <a:extLst>
                <a:ext uri="{FF2B5EF4-FFF2-40B4-BE49-F238E27FC236}">
                  <a16:creationId xmlns:a16="http://schemas.microsoft.com/office/drawing/2014/main" id="{5AB2597C-20DA-0A03-1B73-8C0B3D0D3F1C}"/>
                </a:ext>
              </a:extLst>
            </p:cNvPr>
            <p:cNvPicPr>
              <a:picLocks noChangeAspect="1" noChangeArrowheads="1"/>
            </p:cNvPicPr>
            <p:nvPr/>
          </p:nvPicPr>
          <p:blipFill>
            <a:blip r:embed="rId9">
              <a:extLst>
                <a:ext uri="{BEBA8EAE-BF5A-486C-A8C5-ECC9F3942E4B}">
                  <a14:imgProps xmlns:a14="http://schemas.microsoft.com/office/drawing/2010/main">
                    <a14:imgLayer r:embed="rId10">
                      <a14:imgEffect>
                        <a14:colorTemperature colorTemp="11200"/>
                      </a14:imgEffect>
                    </a14:imgLayer>
                  </a14:imgProps>
                </a:ext>
                <a:ext uri="{28A0092B-C50C-407E-A947-70E740481C1C}">
                  <a14:useLocalDpi xmlns:a14="http://schemas.microsoft.com/office/drawing/2010/main" val="0"/>
                </a:ext>
              </a:extLst>
            </a:blip>
            <a:srcRect/>
            <a:stretch>
              <a:fillRect/>
            </a:stretch>
          </p:blipFill>
          <p:spPr bwMode="auto">
            <a:xfrm rot="438640">
              <a:off x="447072" y="2532102"/>
              <a:ext cx="1158331" cy="1822646"/>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grpSp>
      <p:pic>
        <p:nvPicPr>
          <p:cNvPr id="79" name="Picture 78">
            <a:extLst>
              <a:ext uri="{FF2B5EF4-FFF2-40B4-BE49-F238E27FC236}">
                <a16:creationId xmlns:a16="http://schemas.microsoft.com/office/drawing/2014/main" id="{6090FFA6-4827-44BE-43E6-D6E20F52C5C8}"/>
              </a:ext>
            </a:extLst>
          </p:cNvPr>
          <p:cNvPicPr>
            <a:picLocks noChangeAspect="1"/>
          </p:cNvPicPr>
          <p:nvPr/>
        </p:nvPicPr>
        <p:blipFill>
          <a:blip r:embed="rId11"/>
          <a:srcRect t="16214" b="15936"/>
          <a:stretch>
            <a:fillRect/>
          </a:stretch>
        </p:blipFill>
        <p:spPr>
          <a:xfrm>
            <a:off x="6366572" y="1412179"/>
            <a:ext cx="1646076" cy="1980000"/>
          </a:xfrm>
          <a:prstGeom prst="rect">
            <a:avLst/>
          </a:prstGeom>
        </p:spPr>
      </p:pic>
      <p:sp>
        <p:nvSpPr>
          <p:cNvPr id="80" name="Rectangle 79">
            <a:extLst>
              <a:ext uri="{FF2B5EF4-FFF2-40B4-BE49-F238E27FC236}">
                <a16:creationId xmlns:a16="http://schemas.microsoft.com/office/drawing/2014/main" id="{8904FC82-454F-FA5F-5EB2-0A70E6479EE1}"/>
              </a:ext>
            </a:extLst>
          </p:cNvPr>
          <p:cNvSpPr/>
          <p:nvPr/>
        </p:nvSpPr>
        <p:spPr>
          <a:xfrm>
            <a:off x="1197356" y="214441"/>
            <a:ext cx="5624052" cy="9144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800" b="1" dirty="0">
                <a:solidFill>
                  <a:schemeClr val="tx1"/>
                </a:solidFill>
                <a:latin typeface="Garamond" panose="02020404030301010803" pitchFamily="18" charset="0"/>
              </a:rPr>
              <a:t>Implementation Of Standards</a:t>
            </a:r>
            <a:endParaRPr lang="en-ZA" sz="2800" b="1" dirty="0">
              <a:solidFill>
                <a:schemeClr val="tx1"/>
              </a:solidFill>
              <a:latin typeface="Garamond" panose="02020404030301010803" pitchFamily="18" charset="0"/>
            </a:endParaRPr>
          </a:p>
        </p:txBody>
      </p:sp>
      <p:sp>
        <p:nvSpPr>
          <p:cNvPr id="3" name="Text Box 2">
            <a:extLst>
              <a:ext uri="{FF2B5EF4-FFF2-40B4-BE49-F238E27FC236}">
                <a16:creationId xmlns:a16="http://schemas.microsoft.com/office/drawing/2014/main" id="{144F5C11-C901-502A-84F6-12B8B12D2052}"/>
              </a:ext>
            </a:extLst>
          </p:cNvPr>
          <p:cNvSpPr txBox="1">
            <a:spLocks noChangeArrowheads="1"/>
          </p:cNvSpPr>
          <p:nvPr/>
        </p:nvSpPr>
        <p:spPr bwMode="auto">
          <a:xfrm>
            <a:off x="9032571" y="6523706"/>
            <a:ext cx="2527722" cy="307940"/>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2E3191"/>
                </a:solidFill>
                <a:effectLst/>
                <a:latin typeface="BankGothic Lt BT" panose="020B0607020203060204" pitchFamily="34" charset="0"/>
              </a:rPr>
              <a:t>#ImprovingTheWorldWeLiveIn</a:t>
            </a:r>
            <a:endParaRPr kumimoji="0" lang="en-US" altLang="en-US" sz="1200" b="0" i="0" u="none" strike="noStrike" cap="none" normalizeH="0" baseline="0" dirty="0">
              <a:ln>
                <a:noFill/>
              </a:ln>
              <a:solidFill>
                <a:schemeClr val="tx1"/>
              </a:solidFill>
              <a:effectLst/>
              <a:latin typeface="Arial" panose="020B0604020202020204" pitchFamily="34" charset="0"/>
            </a:endParaRPr>
          </a:p>
        </p:txBody>
      </p:sp>
      <p:pic>
        <p:nvPicPr>
          <p:cNvPr id="8" name="Picture 5" descr="social-media-logos-facebook-twitter-instagram-youtube-flickr-vector-pg-transparent-background-high-resolution-linkedin-googleplus-210299554">
            <a:extLst>
              <a:ext uri="{FF2B5EF4-FFF2-40B4-BE49-F238E27FC236}">
                <a16:creationId xmlns:a16="http://schemas.microsoft.com/office/drawing/2014/main" id="{AB7C35AF-8B01-EBA3-F788-320E9E404C20}"/>
              </a:ext>
            </a:extLst>
          </p:cNvPr>
          <p:cNvPicPr>
            <a:picLocks noChangeAspect="1" noChangeArrowheads="1"/>
          </p:cNvPicPr>
          <p:nvPr/>
        </p:nvPicPr>
        <p:blipFill>
          <a:blip r:embed="rId12" cstate="print">
            <a:clrChange>
              <a:clrFrom>
                <a:srgbClr val="FFFFFF"/>
              </a:clrFrom>
              <a:clrTo>
                <a:srgbClr val="FFFFFF">
                  <a:alpha val="0"/>
                </a:srgbClr>
              </a:clrTo>
            </a:clrChange>
            <a:extLst>
              <a:ext uri="{28A0092B-C50C-407E-A947-70E740481C1C}">
                <a14:useLocalDpi xmlns:a14="http://schemas.microsoft.com/office/drawing/2010/main" val="0"/>
              </a:ext>
            </a:extLst>
          </a:blip>
          <a:srcRect l="51178" t="8835" r="39842" b="71758"/>
          <a:stretch>
            <a:fillRect/>
          </a:stretch>
        </p:blipFill>
        <p:spPr bwMode="auto">
          <a:xfrm>
            <a:off x="11692604" y="6596272"/>
            <a:ext cx="177800" cy="184150"/>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pic>
      <p:pic>
        <p:nvPicPr>
          <p:cNvPr id="9" name="Picture 6" descr="social-media-logos-facebook-twitter-instagram-youtube-flickr-vector-pg-transparent-background-high-resolution-linkedin-googleplus-210299554">
            <a:extLst>
              <a:ext uri="{FF2B5EF4-FFF2-40B4-BE49-F238E27FC236}">
                <a16:creationId xmlns:a16="http://schemas.microsoft.com/office/drawing/2014/main" id="{3D53E72E-0B8C-285D-FAB7-92D421576751}"/>
              </a:ext>
            </a:extLst>
          </p:cNvPr>
          <p:cNvPicPr>
            <a:picLocks noChangeAspect="1" noChangeArrowheads="1"/>
          </p:cNvPicPr>
          <p:nvPr/>
        </p:nvPicPr>
        <p:blipFill>
          <a:blip r:embed="rId13" cstate="print">
            <a:clrChange>
              <a:clrFrom>
                <a:srgbClr val="FFFFFF"/>
              </a:clrFrom>
              <a:clrTo>
                <a:srgbClr val="FFFFFF">
                  <a:alpha val="0"/>
                </a:srgbClr>
              </a:clrTo>
            </a:clrChange>
            <a:extLst>
              <a:ext uri="{28A0092B-C50C-407E-A947-70E740481C1C}">
                <a14:useLocalDpi xmlns:a14="http://schemas.microsoft.com/office/drawing/2010/main" val="0"/>
              </a:ext>
            </a:extLst>
          </a:blip>
          <a:srcRect l="86784" t="34485" r="4137" b="46553"/>
          <a:stretch>
            <a:fillRect/>
          </a:stretch>
        </p:blipFill>
        <p:spPr bwMode="auto">
          <a:xfrm>
            <a:off x="11933674" y="6596272"/>
            <a:ext cx="184150" cy="184150"/>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pic>
      <p:cxnSp>
        <p:nvCxnSpPr>
          <p:cNvPr id="10" name="Straight Connector 9">
            <a:extLst>
              <a:ext uri="{FF2B5EF4-FFF2-40B4-BE49-F238E27FC236}">
                <a16:creationId xmlns:a16="http://schemas.microsoft.com/office/drawing/2014/main" id="{CBBD9CA4-4EE1-6793-4EAC-0AE94CE332F0}"/>
              </a:ext>
            </a:extLst>
          </p:cNvPr>
          <p:cNvCxnSpPr/>
          <p:nvPr/>
        </p:nvCxnSpPr>
        <p:spPr>
          <a:xfrm>
            <a:off x="6795707" y="6648250"/>
            <a:ext cx="2160000" cy="0"/>
          </a:xfrm>
          <a:prstGeom prst="line">
            <a:avLst/>
          </a:prstGeom>
          <a:ln w="28575">
            <a:solidFill>
              <a:srgbClr val="2E319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323983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53" presetClass="entr" presetSubtype="16" fill="hold" nodeType="clickEffect">
                                  <p:stCondLst>
                                    <p:cond delay="0"/>
                                  </p:stCondLst>
                                  <p:childTnLst>
                                    <p:set>
                                      <p:cBhvr>
                                        <p:cTn id="22" dur="1" fill="hold">
                                          <p:stCondLst>
                                            <p:cond delay="0"/>
                                          </p:stCondLst>
                                        </p:cTn>
                                        <p:tgtEl>
                                          <p:spTgt spid="52"/>
                                        </p:tgtEl>
                                        <p:attrNameLst>
                                          <p:attrName>style.visibility</p:attrName>
                                        </p:attrNameLst>
                                      </p:cBhvr>
                                      <p:to>
                                        <p:strVal val="visible"/>
                                      </p:to>
                                    </p:set>
                                    <p:anim calcmode="lin" valueType="num">
                                      <p:cBhvr>
                                        <p:cTn id="23" dur="500" fill="hold"/>
                                        <p:tgtEl>
                                          <p:spTgt spid="52"/>
                                        </p:tgtEl>
                                        <p:attrNameLst>
                                          <p:attrName>ppt_w</p:attrName>
                                        </p:attrNameLst>
                                      </p:cBhvr>
                                      <p:tavLst>
                                        <p:tav tm="0">
                                          <p:val>
                                            <p:fltVal val="0"/>
                                          </p:val>
                                        </p:tav>
                                        <p:tav tm="100000">
                                          <p:val>
                                            <p:strVal val="#ppt_w"/>
                                          </p:val>
                                        </p:tav>
                                      </p:tavLst>
                                    </p:anim>
                                    <p:anim calcmode="lin" valueType="num">
                                      <p:cBhvr>
                                        <p:cTn id="24" dur="500" fill="hold"/>
                                        <p:tgtEl>
                                          <p:spTgt spid="52"/>
                                        </p:tgtEl>
                                        <p:attrNameLst>
                                          <p:attrName>ppt_h</p:attrName>
                                        </p:attrNameLst>
                                      </p:cBhvr>
                                      <p:tavLst>
                                        <p:tav tm="0">
                                          <p:val>
                                            <p:fltVal val="0"/>
                                          </p:val>
                                        </p:tav>
                                        <p:tav tm="100000">
                                          <p:val>
                                            <p:strVal val="#ppt_h"/>
                                          </p:val>
                                        </p:tav>
                                      </p:tavLst>
                                    </p:anim>
                                    <p:animEffect transition="in" filter="fade">
                                      <p:cBhvr>
                                        <p:cTn id="25"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E5B562-05B5-BE7C-5443-60B98313DDF3}"/>
            </a:ext>
          </a:extLst>
        </p:cNvPr>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99881F76-9F7E-4397-F59F-3DEF63D67D8D}"/>
              </a:ext>
            </a:extLst>
          </p:cNvPr>
          <p:cNvPicPr>
            <a:picLocks noGrp="1" noChangeAspect="1"/>
          </p:cNvPicPr>
          <p:nvPr>
            <p:ph idx="1"/>
          </p:nvPr>
        </p:nvPicPr>
        <p:blipFill>
          <a:blip r:embed="rId2"/>
          <a:stretch>
            <a:fillRect/>
          </a:stretch>
        </p:blipFill>
        <p:spPr>
          <a:xfrm>
            <a:off x="0" y="0"/>
            <a:ext cx="12192000" cy="6858000"/>
          </a:xfrm>
        </p:spPr>
      </p:pic>
      <p:sp>
        <p:nvSpPr>
          <p:cNvPr id="6" name="Rectangle 5">
            <a:extLst>
              <a:ext uri="{FF2B5EF4-FFF2-40B4-BE49-F238E27FC236}">
                <a16:creationId xmlns:a16="http://schemas.microsoft.com/office/drawing/2014/main" id="{4A90F127-451E-7390-B731-BD965F59136F}"/>
              </a:ext>
            </a:extLst>
          </p:cNvPr>
          <p:cNvSpPr/>
          <p:nvPr/>
        </p:nvSpPr>
        <p:spPr>
          <a:xfrm>
            <a:off x="471948" y="530942"/>
            <a:ext cx="7737987" cy="527009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7" name="Rectangle 6">
            <a:extLst>
              <a:ext uri="{FF2B5EF4-FFF2-40B4-BE49-F238E27FC236}">
                <a16:creationId xmlns:a16="http://schemas.microsoft.com/office/drawing/2014/main" id="{CA41B62D-F24E-BA35-3E27-3BAE3DE8BD7B}"/>
              </a:ext>
            </a:extLst>
          </p:cNvPr>
          <p:cNvSpPr/>
          <p:nvPr/>
        </p:nvSpPr>
        <p:spPr>
          <a:xfrm>
            <a:off x="963561" y="5673213"/>
            <a:ext cx="2074607" cy="32446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2" name="Picture 1">
            <a:extLst>
              <a:ext uri="{FF2B5EF4-FFF2-40B4-BE49-F238E27FC236}">
                <a16:creationId xmlns:a16="http://schemas.microsoft.com/office/drawing/2014/main" id="{615331D5-C918-6591-6071-2342F5F58BE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038"/>
            <a:ext cx="1080000" cy="1080000"/>
          </a:xfrm>
          <a:prstGeom prst="rect">
            <a:avLst/>
          </a:prstGeom>
        </p:spPr>
      </p:pic>
      <p:sp>
        <p:nvSpPr>
          <p:cNvPr id="3" name="Rectangle 2">
            <a:extLst>
              <a:ext uri="{FF2B5EF4-FFF2-40B4-BE49-F238E27FC236}">
                <a16:creationId xmlns:a16="http://schemas.microsoft.com/office/drawing/2014/main" id="{151109A9-8068-43DB-7A74-4A4DC9AFC322}"/>
              </a:ext>
            </a:extLst>
          </p:cNvPr>
          <p:cNvSpPr/>
          <p:nvPr/>
        </p:nvSpPr>
        <p:spPr>
          <a:xfrm>
            <a:off x="1447017" y="600089"/>
            <a:ext cx="3322084" cy="9144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2800" b="1" dirty="0">
                <a:solidFill>
                  <a:schemeClr val="tx1"/>
                </a:solidFill>
                <a:latin typeface="Garamond" panose="02020404030301010803" pitchFamily="18" charset="0"/>
              </a:rPr>
              <a:t>ESWASA MARKS</a:t>
            </a:r>
            <a:endParaRPr lang="en-ZA" sz="2800" b="1" dirty="0">
              <a:solidFill>
                <a:schemeClr val="tx1"/>
              </a:solidFill>
              <a:latin typeface="Garamond" panose="02020404030301010803" pitchFamily="18" charset="0"/>
            </a:endParaRPr>
          </a:p>
        </p:txBody>
      </p:sp>
      <p:sp>
        <p:nvSpPr>
          <p:cNvPr id="4" name="Arrow: Pentagon 3">
            <a:extLst>
              <a:ext uri="{FF2B5EF4-FFF2-40B4-BE49-F238E27FC236}">
                <a16:creationId xmlns:a16="http://schemas.microsoft.com/office/drawing/2014/main" id="{807F0E2A-81C8-6559-70EB-38FD8F732CA2}"/>
              </a:ext>
            </a:extLst>
          </p:cNvPr>
          <p:cNvSpPr/>
          <p:nvPr/>
        </p:nvSpPr>
        <p:spPr>
          <a:xfrm>
            <a:off x="471948" y="1776462"/>
            <a:ext cx="2160000" cy="58994"/>
          </a:xfrm>
          <a:prstGeom prst="homePlate">
            <a:avLst/>
          </a:prstGeom>
          <a:solidFill>
            <a:srgbClr val="004A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8" name="Text Box 2">
            <a:extLst>
              <a:ext uri="{FF2B5EF4-FFF2-40B4-BE49-F238E27FC236}">
                <a16:creationId xmlns:a16="http://schemas.microsoft.com/office/drawing/2014/main" id="{1AB71ED1-5937-478E-847C-54F315F34330}"/>
              </a:ext>
            </a:extLst>
          </p:cNvPr>
          <p:cNvSpPr txBox="1">
            <a:spLocks noChangeArrowheads="1"/>
          </p:cNvSpPr>
          <p:nvPr/>
        </p:nvSpPr>
        <p:spPr bwMode="auto">
          <a:xfrm>
            <a:off x="4698011" y="6478555"/>
            <a:ext cx="2527722" cy="307940"/>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2E3191"/>
                </a:solidFill>
                <a:effectLst/>
                <a:latin typeface="BankGothic Lt BT" panose="020B0607020203060204" pitchFamily="34" charset="0"/>
              </a:rPr>
              <a:t>#ImprovingTheWorldWeLiveIn</a:t>
            </a:r>
            <a:endParaRPr kumimoji="0" lang="en-US" altLang="en-US" sz="1200" b="0" i="0" u="none" strike="noStrike" cap="none" normalizeH="0" baseline="0" dirty="0">
              <a:ln>
                <a:noFill/>
              </a:ln>
              <a:solidFill>
                <a:schemeClr val="tx1"/>
              </a:solidFill>
              <a:effectLst/>
              <a:latin typeface="Arial" panose="020B0604020202020204" pitchFamily="34" charset="0"/>
            </a:endParaRPr>
          </a:p>
        </p:txBody>
      </p:sp>
      <p:pic>
        <p:nvPicPr>
          <p:cNvPr id="9" name="Picture 5" descr="social-media-logos-facebook-twitter-instagram-youtube-flickr-vector-pg-transparent-background-high-resolution-linkedin-googleplus-210299554">
            <a:extLst>
              <a:ext uri="{FF2B5EF4-FFF2-40B4-BE49-F238E27FC236}">
                <a16:creationId xmlns:a16="http://schemas.microsoft.com/office/drawing/2014/main" id="{643DDC9A-79B6-20B3-0B8C-571753A49CD0}"/>
              </a:ext>
            </a:extLst>
          </p:cNvPr>
          <p:cNvPicPr>
            <a:picLocks noChangeAspect="1" noChangeArrowheads="1"/>
          </p:cNvPicPr>
          <p:nvPr/>
        </p:nvPicPr>
        <p:blipFill>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rcRect l="51178" t="8835" r="39842" b="71758"/>
          <a:stretch>
            <a:fillRect/>
          </a:stretch>
        </p:blipFill>
        <p:spPr bwMode="auto">
          <a:xfrm>
            <a:off x="7358044" y="6551121"/>
            <a:ext cx="177800" cy="184150"/>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pic>
      <p:pic>
        <p:nvPicPr>
          <p:cNvPr id="10" name="Picture 6" descr="social-media-logos-facebook-twitter-instagram-youtube-flickr-vector-pg-transparent-background-high-resolution-linkedin-googleplus-210299554">
            <a:extLst>
              <a:ext uri="{FF2B5EF4-FFF2-40B4-BE49-F238E27FC236}">
                <a16:creationId xmlns:a16="http://schemas.microsoft.com/office/drawing/2014/main" id="{081B9682-9F16-A251-26F4-12DA962AB06A}"/>
              </a:ext>
            </a:extLst>
          </p:cNvPr>
          <p:cNvPicPr>
            <a:picLocks noChangeAspect="1" noChangeArrowheads="1"/>
          </p:cNvPicPr>
          <p:nvPr/>
        </p:nvPicPr>
        <p:blipFill>
          <a:blip r:embed="rId5" cstate="print">
            <a:clrChange>
              <a:clrFrom>
                <a:srgbClr val="FFFFFF"/>
              </a:clrFrom>
              <a:clrTo>
                <a:srgbClr val="FFFFFF">
                  <a:alpha val="0"/>
                </a:srgbClr>
              </a:clrTo>
            </a:clrChange>
            <a:extLst>
              <a:ext uri="{28A0092B-C50C-407E-A947-70E740481C1C}">
                <a14:useLocalDpi xmlns:a14="http://schemas.microsoft.com/office/drawing/2010/main" val="0"/>
              </a:ext>
            </a:extLst>
          </a:blip>
          <a:srcRect l="86784" t="34485" r="4137" b="46553"/>
          <a:stretch>
            <a:fillRect/>
          </a:stretch>
        </p:blipFill>
        <p:spPr bwMode="auto">
          <a:xfrm>
            <a:off x="7599114" y="6551121"/>
            <a:ext cx="184150" cy="184150"/>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pic>
      <p:cxnSp>
        <p:nvCxnSpPr>
          <p:cNvPr id="12" name="Straight Connector 11">
            <a:extLst>
              <a:ext uri="{FF2B5EF4-FFF2-40B4-BE49-F238E27FC236}">
                <a16:creationId xmlns:a16="http://schemas.microsoft.com/office/drawing/2014/main" id="{83E69F08-2801-3EDE-0C33-7EEA4A1ED4B8}"/>
              </a:ext>
            </a:extLst>
          </p:cNvPr>
          <p:cNvCxnSpPr/>
          <p:nvPr/>
        </p:nvCxnSpPr>
        <p:spPr>
          <a:xfrm>
            <a:off x="2461147" y="6603099"/>
            <a:ext cx="2160000" cy="0"/>
          </a:xfrm>
          <a:prstGeom prst="line">
            <a:avLst/>
          </a:prstGeom>
          <a:ln w="28575">
            <a:solidFill>
              <a:srgbClr val="2E3191"/>
            </a:solidFill>
          </a:ln>
        </p:spPr>
        <p:style>
          <a:lnRef idx="1">
            <a:schemeClr val="accent1"/>
          </a:lnRef>
          <a:fillRef idx="0">
            <a:schemeClr val="accent1"/>
          </a:fillRef>
          <a:effectRef idx="0">
            <a:schemeClr val="accent1"/>
          </a:effectRef>
          <a:fontRef idx="minor">
            <a:schemeClr val="tx1"/>
          </a:fontRef>
        </p:style>
      </p:cxnSp>
      <p:pic>
        <p:nvPicPr>
          <p:cNvPr id="16" name="Picture 15" descr="A black and white sign with a check mark&#10;&#10;AI-generated content may be incorrect.">
            <a:extLst>
              <a:ext uri="{FF2B5EF4-FFF2-40B4-BE49-F238E27FC236}">
                <a16:creationId xmlns:a16="http://schemas.microsoft.com/office/drawing/2014/main" id="{D572D0CC-E2DE-F853-3283-DE349C60A964}"/>
              </a:ext>
            </a:extLst>
          </p:cNvPr>
          <p:cNvPicPr>
            <a:picLocks noChangeAspect="1"/>
          </p:cNvPicPr>
          <p:nvPr/>
        </p:nvPicPr>
        <p:blipFill>
          <a:blip r:embed="rId6">
            <a:extLst>
              <a:ext uri="{28A0092B-C50C-407E-A947-70E740481C1C}">
                <a14:useLocalDpi xmlns:a14="http://schemas.microsoft.com/office/drawing/2010/main" val="0"/>
              </a:ext>
            </a:extLst>
          </a:blip>
          <a:srcRect l="16797" t="9497" r="9730" b="2036"/>
          <a:stretch>
            <a:fillRect/>
          </a:stretch>
        </p:blipFill>
        <p:spPr>
          <a:xfrm>
            <a:off x="2848508" y="1529545"/>
            <a:ext cx="2452656" cy="3821801"/>
          </a:xfrm>
          <a:prstGeom prst="rect">
            <a:avLst/>
          </a:prstGeom>
        </p:spPr>
      </p:pic>
      <p:pic>
        <p:nvPicPr>
          <p:cNvPr id="18" name="Picture 17" descr="A black and white sign with text&#10;&#10;AI-generated content may be incorrect.">
            <a:extLst>
              <a:ext uri="{FF2B5EF4-FFF2-40B4-BE49-F238E27FC236}">
                <a16:creationId xmlns:a16="http://schemas.microsoft.com/office/drawing/2014/main" id="{5196C67C-1376-4C3B-7CC8-53D8DA333813}"/>
              </a:ext>
            </a:extLst>
          </p:cNvPr>
          <p:cNvPicPr>
            <a:picLocks noChangeAspect="1"/>
          </p:cNvPicPr>
          <p:nvPr/>
        </p:nvPicPr>
        <p:blipFill>
          <a:blip r:embed="rId7">
            <a:extLst>
              <a:ext uri="{28A0092B-C50C-407E-A947-70E740481C1C}">
                <a14:useLocalDpi xmlns:a14="http://schemas.microsoft.com/office/drawing/2010/main" val="0"/>
              </a:ext>
            </a:extLst>
          </a:blip>
          <a:srcRect l="14076" t="3599" r="6913" b="3893"/>
          <a:stretch>
            <a:fillRect/>
          </a:stretch>
        </p:blipFill>
        <p:spPr>
          <a:xfrm>
            <a:off x="-5562" y="1430832"/>
            <a:ext cx="2637510" cy="3996335"/>
          </a:xfrm>
          <a:prstGeom prst="rect">
            <a:avLst/>
          </a:prstGeom>
        </p:spPr>
      </p:pic>
      <p:sp>
        <p:nvSpPr>
          <p:cNvPr id="19" name="TextBox 18">
            <a:extLst>
              <a:ext uri="{FF2B5EF4-FFF2-40B4-BE49-F238E27FC236}">
                <a16:creationId xmlns:a16="http://schemas.microsoft.com/office/drawing/2014/main" id="{9105AA7F-08EF-52B8-3917-15F07E7D5B2A}"/>
              </a:ext>
            </a:extLst>
          </p:cNvPr>
          <p:cNvSpPr txBox="1"/>
          <p:nvPr/>
        </p:nvSpPr>
        <p:spPr>
          <a:xfrm flipH="1">
            <a:off x="63896" y="5332221"/>
            <a:ext cx="2596848" cy="646331"/>
          </a:xfrm>
          <a:prstGeom prst="rect">
            <a:avLst/>
          </a:prstGeom>
          <a:noFill/>
        </p:spPr>
        <p:txBody>
          <a:bodyPr wrap="square" rtlCol="0">
            <a:spAutoFit/>
          </a:bodyPr>
          <a:lstStyle/>
          <a:p>
            <a:pPr algn="ctr"/>
            <a:r>
              <a:rPr lang="en-US" dirty="0">
                <a:latin typeface="VAGRounded" panose="00000400000000000000" pitchFamily="2" charset="0"/>
                <a:ea typeface="VAGRounded" panose="00000400000000000000" pitchFamily="2" charset="0"/>
              </a:rPr>
              <a:t>Management Systems Certification Mark</a:t>
            </a:r>
            <a:endParaRPr lang="en-ZA" dirty="0">
              <a:latin typeface="VAGRounded" panose="00000400000000000000" pitchFamily="2" charset="0"/>
              <a:ea typeface="VAGRounded" panose="00000400000000000000" pitchFamily="2" charset="0"/>
            </a:endParaRPr>
          </a:p>
        </p:txBody>
      </p:sp>
      <p:sp>
        <p:nvSpPr>
          <p:cNvPr id="20" name="TextBox 19">
            <a:extLst>
              <a:ext uri="{FF2B5EF4-FFF2-40B4-BE49-F238E27FC236}">
                <a16:creationId xmlns:a16="http://schemas.microsoft.com/office/drawing/2014/main" id="{E7B60DAB-65EC-D917-E47B-0FF1B492BDD2}"/>
              </a:ext>
            </a:extLst>
          </p:cNvPr>
          <p:cNvSpPr txBox="1"/>
          <p:nvPr/>
        </p:nvSpPr>
        <p:spPr>
          <a:xfrm flipH="1">
            <a:off x="2969109" y="5427167"/>
            <a:ext cx="2159001" cy="646331"/>
          </a:xfrm>
          <a:prstGeom prst="rect">
            <a:avLst/>
          </a:prstGeom>
          <a:noFill/>
        </p:spPr>
        <p:txBody>
          <a:bodyPr wrap="square" rtlCol="0">
            <a:spAutoFit/>
          </a:bodyPr>
          <a:lstStyle/>
          <a:p>
            <a:pPr algn="ctr"/>
            <a:r>
              <a:rPr lang="en-US" dirty="0">
                <a:latin typeface="VAGRounded" panose="00000400000000000000" pitchFamily="2" charset="0"/>
                <a:ea typeface="VAGRounded" panose="00000400000000000000" pitchFamily="2" charset="0"/>
              </a:rPr>
              <a:t>Product Certification Mark</a:t>
            </a:r>
            <a:endParaRPr lang="en-ZA" dirty="0">
              <a:latin typeface="VAGRounded" panose="00000400000000000000" pitchFamily="2" charset="0"/>
              <a:ea typeface="VAGRounded" panose="00000400000000000000" pitchFamily="2" charset="0"/>
            </a:endParaRPr>
          </a:p>
        </p:txBody>
      </p:sp>
      <p:sp>
        <p:nvSpPr>
          <p:cNvPr id="26" name="Rectangle 25">
            <a:extLst>
              <a:ext uri="{FF2B5EF4-FFF2-40B4-BE49-F238E27FC236}">
                <a16:creationId xmlns:a16="http://schemas.microsoft.com/office/drawing/2014/main" id="{AD81E36A-7FF1-2033-6C1C-48E3FD765AB1}"/>
              </a:ext>
            </a:extLst>
          </p:cNvPr>
          <p:cNvSpPr/>
          <p:nvPr/>
        </p:nvSpPr>
        <p:spPr>
          <a:xfrm>
            <a:off x="8179363" y="3644900"/>
            <a:ext cx="4012637" cy="242859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21" name="TextBox 20">
            <a:extLst>
              <a:ext uri="{FF2B5EF4-FFF2-40B4-BE49-F238E27FC236}">
                <a16:creationId xmlns:a16="http://schemas.microsoft.com/office/drawing/2014/main" id="{C9E856E6-722F-375B-1AF9-32EE4CF717F1}"/>
              </a:ext>
            </a:extLst>
          </p:cNvPr>
          <p:cNvSpPr txBox="1"/>
          <p:nvPr/>
        </p:nvSpPr>
        <p:spPr>
          <a:xfrm>
            <a:off x="5369855" y="5427167"/>
            <a:ext cx="2777473" cy="646331"/>
          </a:xfrm>
          <a:prstGeom prst="rect">
            <a:avLst/>
          </a:prstGeom>
          <a:noFill/>
        </p:spPr>
        <p:txBody>
          <a:bodyPr wrap="square" rtlCol="0">
            <a:spAutoFit/>
          </a:bodyPr>
          <a:lstStyle/>
          <a:p>
            <a:pPr algn="ctr"/>
            <a:r>
              <a:rPr lang="en-ZA" dirty="0">
                <a:latin typeface="VAGRounded" panose="00000400000000000000" pitchFamily="2" charset="0"/>
                <a:ea typeface="VAGRounded" panose="00000400000000000000" pitchFamily="2" charset="0"/>
              </a:rPr>
              <a:t>Compulsory Standards Quality Mark</a:t>
            </a:r>
          </a:p>
        </p:txBody>
      </p:sp>
      <p:sp>
        <p:nvSpPr>
          <p:cNvPr id="22" name="TextBox 21">
            <a:extLst>
              <a:ext uri="{FF2B5EF4-FFF2-40B4-BE49-F238E27FC236}">
                <a16:creationId xmlns:a16="http://schemas.microsoft.com/office/drawing/2014/main" id="{5D12A7EA-8923-FE7E-56FF-07734574E25C}"/>
              </a:ext>
            </a:extLst>
          </p:cNvPr>
          <p:cNvSpPr txBox="1"/>
          <p:nvPr/>
        </p:nvSpPr>
        <p:spPr>
          <a:xfrm>
            <a:off x="8209935" y="5427166"/>
            <a:ext cx="2114838" cy="646331"/>
          </a:xfrm>
          <a:prstGeom prst="rect">
            <a:avLst/>
          </a:prstGeom>
          <a:noFill/>
        </p:spPr>
        <p:txBody>
          <a:bodyPr wrap="square" rtlCol="0">
            <a:spAutoFit/>
          </a:bodyPr>
          <a:lstStyle/>
          <a:p>
            <a:pPr algn="ctr"/>
            <a:r>
              <a:rPr lang="en-US" dirty="0">
                <a:latin typeface="VAGRounded" panose="00000400000000000000" pitchFamily="2" charset="0"/>
                <a:ea typeface="VAGRounded" panose="00000400000000000000" pitchFamily="2" charset="0"/>
              </a:rPr>
              <a:t>Ingelo Certification Scheme Mark</a:t>
            </a:r>
            <a:endParaRPr lang="en-ZA" dirty="0">
              <a:latin typeface="VAGRounded" panose="00000400000000000000" pitchFamily="2" charset="0"/>
              <a:ea typeface="VAGRounded" panose="00000400000000000000" pitchFamily="2" charset="0"/>
            </a:endParaRPr>
          </a:p>
        </p:txBody>
      </p:sp>
      <p:pic>
        <p:nvPicPr>
          <p:cNvPr id="24" name="Picture 23" descr="A black and white sign with a black and white text&#10;&#10;AI-generated content may be incorrect.">
            <a:extLst>
              <a:ext uri="{FF2B5EF4-FFF2-40B4-BE49-F238E27FC236}">
                <a16:creationId xmlns:a16="http://schemas.microsoft.com/office/drawing/2014/main" id="{BAAD6D57-54B5-CFD0-5A72-A72248B765F2}"/>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246289" y="1446484"/>
            <a:ext cx="3060000" cy="3960000"/>
          </a:xfrm>
          <a:prstGeom prst="rect">
            <a:avLst/>
          </a:prstGeom>
        </p:spPr>
      </p:pic>
      <p:sp>
        <p:nvSpPr>
          <p:cNvPr id="25" name="Arrow: Pentagon 24">
            <a:extLst>
              <a:ext uri="{FF2B5EF4-FFF2-40B4-BE49-F238E27FC236}">
                <a16:creationId xmlns:a16="http://schemas.microsoft.com/office/drawing/2014/main" id="{02B2B6D6-AA08-EE89-0190-16421279E7E7}"/>
              </a:ext>
            </a:extLst>
          </p:cNvPr>
          <p:cNvSpPr/>
          <p:nvPr/>
        </p:nvSpPr>
        <p:spPr>
          <a:xfrm>
            <a:off x="1574695" y="1287581"/>
            <a:ext cx="2664000" cy="56131"/>
          </a:xfrm>
          <a:prstGeom prst="homePlate">
            <a:avLst/>
          </a:prstGeom>
          <a:solidFill>
            <a:srgbClr val="004A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27" name="Picture 26" descr="A black and white sign with a swasa logo&#10;&#10;AI-generated content may be incorrect.">
            <a:extLst>
              <a:ext uri="{FF2B5EF4-FFF2-40B4-BE49-F238E27FC236}">
                <a16:creationId xmlns:a16="http://schemas.microsoft.com/office/drawing/2014/main" id="{198BB16B-83D9-45BA-B139-7F835DAE3654}"/>
              </a:ext>
            </a:extLst>
          </p:cNvPr>
          <p:cNvPicPr>
            <a:picLocks noChangeAspect="1"/>
          </p:cNvPicPr>
          <p:nvPr/>
        </p:nvPicPr>
        <p:blipFill>
          <a:blip r:embed="rId9">
            <a:extLst>
              <a:ext uri="{28A0092B-C50C-407E-A947-70E740481C1C}">
                <a14:useLocalDpi xmlns:a14="http://schemas.microsoft.com/office/drawing/2010/main" val="0"/>
              </a:ext>
            </a:extLst>
          </a:blip>
          <a:srcRect l="10416" t="5900" r="10573" b="5631"/>
          <a:stretch>
            <a:fillRect/>
          </a:stretch>
        </p:blipFill>
        <p:spPr>
          <a:xfrm>
            <a:off x="8215388" y="1652689"/>
            <a:ext cx="2637510" cy="3821800"/>
          </a:xfrm>
          <a:prstGeom prst="rect">
            <a:avLst/>
          </a:prstGeom>
        </p:spPr>
      </p:pic>
    </p:spTree>
    <p:extLst>
      <p:ext uri="{BB962C8B-B14F-4D97-AF65-F5344CB8AC3E}">
        <p14:creationId xmlns:p14="http://schemas.microsoft.com/office/powerpoint/2010/main" val="18737291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4EC4FE-3F33-120D-D143-9D0A3D2251FB}"/>
            </a:ext>
          </a:extLst>
        </p:cNvPr>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FFD99003-11CD-5D72-8F64-036BB00E9CD2}"/>
              </a:ext>
            </a:extLst>
          </p:cNvPr>
          <p:cNvPicPr>
            <a:picLocks noGrp="1" noChangeAspect="1"/>
          </p:cNvPicPr>
          <p:nvPr>
            <p:ph idx="1"/>
          </p:nvPr>
        </p:nvPicPr>
        <p:blipFill>
          <a:blip r:embed="rId2"/>
          <a:stretch>
            <a:fillRect/>
          </a:stretch>
        </p:blipFill>
        <p:spPr>
          <a:xfrm>
            <a:off x="0" y="0"/>
            <a:ext cx="12192000" cy="6858000"/>
          </a:xfrm>
        </p:spPr>
      </p:pic>
      <p:sp>
        <p:nvSpPr>
          <p:cNvPr id="6" name="Rectangle 5">
            <a:extLst>
              <a:ext uri="{FF2B5EF4-FFF2-40B4-BE49-F238E27FC236}">
                <a16:creationId xmlns:a16="http://schemas.microsoft.com/office/drawing/2014/main" id="{B09A4E34-2B93-3937-590A-0C0CA37512C3}"/>
              </a:ext>
            </a:extLst>
          </p:cNvPr>
          <p:cNvSpPr/>
          <p:nvPr/>
        </p:nvSpPr>
        <p:spPr>
          <a:xfrm>
            <a:off x="599103" y="1492045"/>
            <a:ext cx="10196051" cy="387391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7" name="Rectangle 6">
            <a:extLst>
              <a:ext uri="{FF2B5EF4-FFF2-40B4-BE49-F238E27FC236}">
                <a16:creationId xmlns:a16="http://schemas.microsoft.com/office/drawing/2014/main" id="{9807DDF7-1A04-7C93-E9A3-6A3FB6726D19}"/>
              </a:ext>
            </a:extLst>
          </p:cNvPr>
          <p:cNvSpPr/>
          <p:nvPr/>
        </p:nvSpPr>
        <p:spPr>
          <a:xfrm>
            <a:off x="481781" y="648929"/>
            <a:ext cx="1976284" cy="7374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8" name="Picture 7">
            <a:extLst>
              <a:ext uri="{FF2B5EF4-FFF2-40B4-BE49-F238E27FC236}">
                <a16:creationId xmlns:a16="http://schemas.microsoft.com/office/drawing/2014/main" id="{5320E584-6E0A-E06F-19A4-70450D74B56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038"/>
            <a:ext cx="1080000" cy="1080000"/>
          </a:xfrm>
          <a:prstGeom prst="rect">
            <a:avLst/>
          </a:prstGeom>
        </p:spPr>
      </p:pic>
      <p:sp>
        <p:nvSpPr>
          <p:cNvPr id="11" name="Rectangle 10">
            <a:extLst>
              <a:ext uri="{FF2B5EF4-FFF2-40B4-BE49-F238E27FC236}">
                <a16:creationId xmlns:a16="http://schemas.microsoft.com/office/drawing/2014/main" id="{3B8E98EB-E12E-9C31-28CD-EB356A375013}"/>
              </a:ext>
            </a:extLst>
          </p:cNvPr>
          <p:cNvSpPr/>
          <p:nvPr/>
        </p:nvSpPr>
        <p:spPr>
          <a:xfrm>
            <a:off x="665822" y="1171017"/>
            <a:ext cx="5188877" cy="9144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2800" b="1" dirty="0">
                <a:solidFill>
                  <a:schemeClr val="tx1"/>
                </a:solidFill>
                <a:latin typeface="Garamond" panose="02020404030301010803" pitchFamily="18" charset="0"/>
              </a:rPr>
              <a:t>Management Systems&amp; Product Certification</a:t>
            </a:r>
            <a:endParaRPr lang="en-ZA" sz="2800" b="1" dirty="0">
              <a:solidFill>
                <a:schemeClr val="tx1"/>
              </a:solidFill>
              <a:latin typeface="Garamond" panose="02020404030301010803" pitchFamily="18" charset="0"/>
            </a:endParaRPr>
          </a:p>
        </p:txBody>
      </p:sp>
      <p:sp>
        <p:nvSpPr>
          <p:cNvPr id="4" name="Content Placeholder 1">
            <a:extLst>
              <a:ext uri="{FF2B5EF4-FFF2-40B4-BE49-F238E27FC236}">
                <a16:creationId xmlns:a16="http://schemas.microsoft.com/office/drawing/2014/main" id="{613EB58A-442D-9DCB-987A-E6575606485B}"/>
              </a:ext>
            </a:extLst>
          </p:cNvPr>
          <p:cNvSpPr txBox="1">
            <a:spLocks/>
          </p:cNvSpPr>
          <p:nvPr/>
        </p:nvSpPr>
        <p:spPr>
          <a:xfrm>
            <a:off x="142252" y="2210011"/>
            <a:ext cx="4848848" cy="381491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en-GB" sz="1400" dirty="0"/>
              <a:t>ESWASA implemented the ISO 17021 and 17065 Standards on our management systems and product certification schemes in order to provide trusted certification services and assurance that products and services meet customer expectations. </a:t>
            </a:r>
          </a:p>
          <a:p>
            <a:pPr marL="0" indent="0">
              <a:lnSpc>
                <a:spcPct val="150000"/>
              </a:lnSpc>
              <a:buNone/>
            </a:pPr>
            <a:r>
              <a:rPr lang="en-GB" sz="1400" dirty="0"/>
              <a:t>The Authority is further mandated to administer certification marks for both management systems and product certification schemes. </a:t>
            </a:r>
          </a:p>
          <a:p>
            <a:pPr marL="0" indent="0">
              <a:lnSpc>
                <a:spcPct val="150000"/>
              </a:lnSpc>
              <a:buNone/>
            </a:pPr>
            <a:r>
              <a:rPr lang="en-GB" sz="1400" dirty="0"/>
              <a:t> </a:t>
            </a:r>
            <a:endParaRPr lang="en-US" sz="1400" dirty="0">
              <a:latin typeface="Garamond" panose="02020404030301010803" pitchFamily="18" charset="0"/>
            </a:endParaRPr>
          </a:p>
        </p:txBody>
      </p:sp>
      <p:pic>
        <p:nvPicPr>
          <p:cNvPr id="9" name="Picture 8">
            <a:extLst>
              <a:ext uri="{FF2B5EF4-FFF2-40B4-BE49-F238E27FC236}">
                <a16:creationId xmlns:a16="http://schemas.microsoft.com/office/drawing/2014/main" id="{2DEC38AB-C1A0-C772-8F53-EC7F0852707D}"/>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16591" t="10011" r="9733" b="3655"/>
          <a:stretch/>
        </p:blipFill>
        <p:spPr>
          <a:xfrm>
            <a:off x="5776559" y="2094654"/>
            <a:ext cx="1424343" cy="2160000"/>
          </a:xfrm>
          <a:prstGeom prst="rect">
            <a:avLst/>
          </a:prstGeom>
        </p:spPr>
      </p:pic>
      <p:pic>
        <p:nvPicPr>
          <p:cNvPr id="12" name="Picture 2">
            <a:extLst>
              <a:ext uri="{FF2B5EF4-FFF2-40B4-BE49-F238E27FC236}">
                <a16:creationId xmlns:a16="http://schemas.microsoft.com/office/drawing/2014/main" id="{5BA8DEDB-D012-9CEA-1021-BE07868C0A4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85089" y="4926664"/>
            <a:ext cx="4152192" cy="1440000"/>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pic>
      <p:sp>
        <p:nvSpPr>
          <p:cNvPr id="13" name="Arrow: Pentagon 12">
            <a:extLst>
              <a:ext uri="{FF2B5EF4-FFF2-40B4-BE49-F238E27FC236}">
                <a16:creationId xmlns:a16="http://schemas.microsoft.com/office/drawing/2014/main" id="{27AF73F4-0BEC-EAB8-81A8-16CC7F6CE92F}"/>
              </a:ext>
            </a:extLst>
          </p:cNvPr>
          <p:cNvSpPr/>
          <p:nvPr/>
        </p:nvSpPr>
        <p:spPr>
          <a:xfrm>
            <a:off x="726965" y="2073760"/>
            <a:ext cx="2664000" cy="58994"/>
          </a:xfrm>
          <a:prstGeom prst="homePlate">
            <a:avLst/>
          </a:prstGeom>
          <a:solidFill>
            <a:srgbClr val="004A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3" name="Picture 2" descr="A black and white sign with a swasa logo&#10;&#10;AI-generated content may be incorrect.">
            <a:extLst>
              <a:ext uri="{FF2B5EF4-FFF2-40B4-BE49-F238E27FC236}">
                <a16:creationId xmlns:a16="http://schemas.microsoft.com/office/drawing/2014/main" id="{A77BAD20-C124-160A-C97A-4E9269CAD184}"/>
              </a:ext>
            </a:extLst>
          </p:cNvPr>
          <p:cNvPicPr>
            <a:picLocks noChangeAspect="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5855701" y="4285955"/>
            <a:ext cx="1669091" cy="2160000"/>
          </a:xfrm>
          <a:prstGeom prst="rect">
            <a:avLst/>
          </a:prstGeom>
        </p:spPr>
      </p:pic>
      <p:sp>
        <p:nvSpPr>
          <p:cNvPr id="10" name="Text Box 2">
            <a:extLst>
              <a:ext uri="{FF2B5EF4-FFF2-40B4-BE49-F238E27FC236}">
                <a16:creationId xmlns:a16="http://schemas.microsoft.com/office/drawing/2014/main" id="{DBC7A6B8-D0AE-FC01-7BEE-F7F9EC26E0D4}"/>
              </a:ext>
            </a:extLst>
          </p:cNvPr>
          <p:cNvSpPr txBox="1">
            <a:spLocks noChangeArrowheads="1"/>
          </p:cNvSpPr>
          <p:nvPr/>
        </p:nvSpPr>
        <p:spPr bwMode="auto">
          <a:xfrm>
            <a:off x="8927111" y="6550060"/>
            <a:ext cx="2527722" cy="307940"/>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2E3191"/>
                </a:solidFill>
                <a:effectLst/>
                <a:latin typeface="BankGothic Lt BT" panose="020B0607020203060204" pitchFamily="34" charset="0"/>
              </a:rPr>
              <a:t>#ImprovingTheWorldWeLiveIn</a:t>
            </a:r>
            <a:endParaRPr kumimoji="0" lang="en-US" altLang="en-US" sz="1200" b="0" i="0" u="none" strike="noStrike" cap="none" normalizeH="0" baseline="0" dirty="0">
              <a:ln>
                <a:noFill/>
              </a:ln>
              <a:solidFill>
                <a:schemeClr val="tx1"/>
              </a:solidFill>
              <a:effectLst/>
              <a:latin typeface="Arial" panose="020B0604020202020204" pitchFamily="34" charset="0"/>
            </a:endParaRPr>
          </a:p>
        </p:txBody>
      </p:sp>
      <p:pic>
        <p:nvPicPr>
          <p:cNvPr id="14" name="Picture 5" descr="social-media-logos-facebook-twitter-instagram-youtube-flickr-vector-pg-transparent-background-high-resolution-linkedin-googleplus-210299554">
            <a:extLst>
              <a:ext uri="{FF2B5EF4-FFF2-40B4-BE49-F238E27FC236}">
                <a16:creationId xmlns:a16="http://schemas.microsoft.com/office/drawing/2014/main" id="{CFC8AE1A-BEDB-9B5B-3F12-5F977233756D}"/>
              </a:ext>
            </a:extLst>
          </p:cNvPr>
          <p:cNvPicPr>
            <a:picLocks noChangeAspect="1" noChangeArrowheads="1"/>
          </p:cNvPicPr>
          <p:nvPr/>
        </p:nvPicPr>
        <p:blipFill>
          <a:blip r:embed="rId7" cstate="print">
            <a:clrChange>
              <a:clrFrom>
                <a:srgbClr val="FFFFFF"/>
              </a:clrFrom>
              <a:clrTo>
                <a:srgbClr val="FFFFFF">
                  <a:alpha val="0"/>
                </a:srgbClr>
              </a:clrTo>
            </a:clrChange>
            <a:extLst>
              <a:ext uri="{28A0092B-C50C-407E-A947-70E740481C1C}">
                <a14:useLocalDpi xmlns:a14="http://schemas.microsoft.com/office/drawing/2010/main" val="0"/>
              </a:ext>
            </a:extLst>
          </a:blip>
          <a:srcRect l="51178" t="8835" r="39842" b="71758"/>
          <a:stretch>
            <a:fillRect/>
          </a:stretch>
        </p:blipFill>
        <p:spPr bwMode="auto">
          <a:xfrm>
            <a:off x="11587144" y="6622626"/>
            <a:ext cx="177800" cy="184150"/>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pic>
      <p:pic>
        <p:nvPicPr>
          <p:cNvPr id="15" name="Picture 6" descr="social-media-logos-facebook-twitter-instagram-youtube-flickr-vector-pg-transparent-background-high-resolution-linkedin-googleplus-210299554">
            <a:extLst>
              <a:ext uri="{FF2B5EF4-FFF2-40B4-BE49-F238E27FC236}">
                <a16:creationId xmlns:a16="http://schemas.microsoft.com/office/drawing/2014/main" id="{5D29AF60-F1A7-E144-5A5C-F1CC37D4CA95}"/>
              </a:ext>
            </a:extLst>
          </p:cNvPr>
          <p:cNvPicPr>
            <a:picLocks noChangeAspect="1" noChangeArrowheads="1"/>
          </p:cNvPicPr>
          <p:nvPr/>
        </p:nvPicPr>
        <p:blipFill>
          <a:blip r:embed="rId8" cstate="print">
            <a:clrChange>
              <a:clrFrom>
                <a:srgbClr val="FFFFFF"/>
              </a:clrFrom>
              <a:clrTo>
                <a:srgbClr val="FFFFFF">
                  <a:alpha val="0"/>
                </a:srgbClr>
              </a:clrTo>
            </a:clrChange>
            <a:extLst>
              <a:ext uri="{28A0092B-C50C-407E-A947-70E740481C1C}">
                <a14:useLocalDpi xmlns:a14="http://schemas.microsoft.com/office/drawing/2010/main" val="0"/>
              </a:ext>
            </a:extLst>
          </a:blip>
          <a:srcRect l="86784" t="34485" r="4137" b="46553"/>
          <a:stretch>
            <a:fillRect/>
          </a:stretch>
        </p:blipFill>
        <p:spPr bwMode="auto">
          <a:xfrm>
            <a:off x="11828214" y="6622626"/>
            <a:ext cx="184150" cy="184150"/>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pic>
      <p:cxnSp>
        <p:nvCxnSpPr>
          <p:cNvPr id="16" name="Straight Connector 15">
            <a:extLst>
              <a:ext uri="{FF2B5EF4-FFF2-40B4-BE49-F238E27FC236}">
                <a16:creationId xmlns:a16="http://schemas.microsoft.com/office/drawing/2014/main" id="{D91D7908-063C-E71B-BC54-2757F4149B69}"/>
              </a:ext>
            </a:extLst>
          </p:cNvPr>
          <p:cNvCxnSpPr/>
          <p:nvPr/>
        </p:nvCxnSpPr>
        <p:spPr>
          <a:xfrm>
            <a:off x="6690247" y="6674604"/>
            <a:ext cx="2160000" cy="0"/>
          </a:xfrm>
          <a:prstGeom prst="line">
            <a:avLst/>
          </a:prstGeom>
          <a:ln w="28575">
            <a:solidFill>
              <a:srgbClr val="2E3191"/>
            </a:solidFill>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C653F7B8-26FE-0CEB-6CE6-31FC5D6F1011}"/>
              </a:ext>
            </a:extLst>
          </p:cNvPr>
          <p:cNvSpPr txBox="1"/>
          <p:nvPr/>
        </p:nvSpPr>
        <p:spPr>
          <a:xfrm>
            <a:off x="7486876" y="1386348"/>
            <a:ext cx="4705124" cy="4858189"/>
          </a:xfrm>
          <a:prstGeom prst="rect">
            <a:avLst/>
          </a:prstGeom>
          <a:noFill/>
        </p:spPr>
        <p:txBody>
          <a:bodyPr wrap="square">
            <a:spAutoFit/>
          </a:bodyPr>
          <a:lstStyle/>
          <a:p>
            <a:pPr marL="0" indent="0">
              <a:lnSpc>
                <a:spcPct val="150000"/>
              </a:lnSpc>
              <a:buFont typeface="Arial" panose="020B0604020202020204" pitchFamily="34" charset="0"/>
              <a:buNone/>
            </a:pPr>
            <a:r>
              <a:rPr lang="en-US" sz="1600" b="1" dirty="0">
                <a:solidFill>
                  <a:srgbClr val="13108A"/>
                </a:solidFill>
              </a:rPr>
              <a:t>CERTIFICATION BENEFITS:</a:t>
            </a:r>
            <a:endParaRPr lang="en-US" sz="1600" dirty="0">
              <a:solidFill>
                <a:srgbClr val="13108A"/>
              </a:solidFill>
            </a:endParaRPr>
          </a:p>
          <a:p>
            <a:pPr>
              <a:lnSpc>
                <a:spcPct val="150000"/>
              </a:lnSpc>
              <a:buFont typeface="Wingdings" panose="05000000000000000000" pitchFamily="2" charset="2"/>
              <a:buChar char="ü"/>
            </a:pPr>
            <a:r>
              <a:rPr lang="en-US" sz="1600" dirty="0"/>
              <a:t>Increased market share</a:t>
            </a:r>
          </a:p>
          <a:p>
            <a:pPr>
              <a:lnSpc>
                <a:spcPct val="150000"/>
              </a:lnSpc>
              <a:buFont typeface="Wingdings" panose="05000000000000000000" pitchFamily="2" charset="2"/>
              <a:buChar char="ü"/>
            </a:pPr>
            <a:r>
              <a:rPr lang="en-US" sz="1600" dirty="0"/>
              <a:t>Increased efficiencies (reduced costs and wastage)</a:t>
            </a:r>
          </a:p>
          <a:p>
            <a:pPr>
              <a:lnSpc>
                <a:spcPct val="150000"/>
              </a:lnSpc>
              <a:buFont typeface="Wingdings" panose="05000000000000000000" pitchFamily="2" charset="2"/>
              <a:buChar char="ü"/>
            </a:pPr>
            <a:r>
              <a:rPr lang="en-US" sz="1600" dirty="0"/>
              <a:t>Increased consistency in practices and product/service  quality </a:t>
            </a:r>
          </a:p>
          <a:p>
            <a:pPr>
              <a:lnSpc>
                <a:spcPct val="150000"/>
              </a:lnSpc>
              <a:buFont typeface="Wingdings" panose="05000000000000000000" pitchFamily="2" charset="2"/>
              <a:buChar char="ü"/>
            </a:pPr>
            <a:r>
              <a:rPr lang="en-US" sz="1600" dirty="0"/>
              <a:t>Increased customer satisfaction</a:t>
            </a:r>
          </a:p>
          <a:p>
            <a:pPr>
              <a:lnSpc>
                <a:spcPct val="150000"/>
              </a:lnSpc>
              <a:buFont typeface="Wingdings" panose="05000000000000000000" pitchFamily="2" charset="2"/>
              <a:buChar char="ü"/>
            </a:pPr>
            <a:r>
              <a:rPr lang="en-US" sz="1600" dirty="0"/>
              <a:t>Increased risk management</a:t>
            </a:r>
          </a:p>
          <a:p>
            <a:pPr>
              <a:lnSpc>
                <a:spcPct val="150000"/>
              </a:lnSpc>
              <a:buFont typeface="Wingdings" panose="05000000000000000000" pitchFamily="2" charset="2"/>
              <a:buChar char="ü"/>
            </a:pPr>
            <a:r>
              <a:rPr lang="en-US" sz="1600" dirty="0"/>
              <a:t>Increased access to financial support services</a:t>
            </a:r>
          </a:p>
          <a:p>
            <a:pPr>
              <a:lnSpc>
                <a:spcPct val="150000"/>
              </a:lnSpc>
              <a:buFont typeface="Wingdings" panose="05000000000000000000" pitchFamily="2" charset="2"/>
              <a:buChar char="ü"/>
            </a:pPr>
            <a:r>
              <a:rPr lang="en-US" sz="1600" dirty="0"/>
              <a:t>Reduced liability risk </a:t>
            </a:r>
          </a:p>
          <a:p>
            <a:pPr>
              <a:lnSpc>
                <a:spcPct val="150000"/>
              </a:lnSpc>
              <a:buFont typeface="Wingdings" panose="05000000000000000000" pitchFamily="2" charset="2"/>
              <a:buChar char="ü"/>
            </a:pPr>
            <a:r>
              <a:rPr lang="en-US" sz="1600" dirty="0"/>
              <a:t>Provides for continuous systematic verification of effectiveness</a:t>
            </a:r>
          </a:p>
          <a:p>
            <a:pPr>
              <a:lnSpc>
                <a:spcPct val="150000"/>
              </a:lnSpc>
              <a:buFont typeface="Wingdings" panose="05000000000000000000" pitchFamily="2" charset="2"/>
              <a:buChar char="ü"/>
            </a:pPr>
            <a:r>
              <a:rPr lang="en-US" sz="1600" dirty="0"/>
              <a:t>Improved credibility and image</a:t>
            </a:r>
          </a:p>
        </p:txBody>
      </p:sp>
    </p:spTree>
    <p:extLst>
      <p:ext uri="{BB962C8B-B14F-4D97-AF65-F5344CB8AC3E}">
        <p14:creationId xmlns:p14="http://schemas.microsoft.com/office/powerpoint/2010/main" val="14879987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1686AACE-B887-BB48-E268-B981B3694F89}"/>
              </a:ext>
            </a:extLst>
          </p:cNvPr>
          <p:cNvPicPr>
            <a:picLocks noGrp="1" noChangeAspect="1"/>
          </p:cNvPicPr>
          <p:nvPr>
            <p:ph idx="1"/>
          </p:nvPr>
        </p:nvPicPr>
        <p:blipFill>
          <a:blip r:embed="rId2"/>
          <a:stretch>
            <a:fillRect/>
          </a:stretch>
        </p:blipFill>
        <p:spPr>
          <a:xfrm>
            <a:off x="0" y="0"/>
            <a:ext cx="12192000" cy="6858000"/>
          </a:xfrm>
        </p:spPr>
      </p:pic>
      <p:sp>
        <p:nvSpPr>
          <p:cNvPr id="6" name="Rectangle 5">
            <a:extLst>
              <a:ext uri="{FF2B5EF4-FFF2-40B4-BE49-F238E27FC236}">
                <a16:creationId xmlns:a16="http://schemas.microsoft.com/office/drawing/2014/main" id="{FFE4139C-FC52-56A8-B994-45D4C949B440}"/>
              </a:ext>
            </a:extLst>
          </p:cNvPr>
          <p:cNvSpPr/>
          <p:nvPr/>
        </p:nvSpPr>
        <p:spPr>
          <a:xfrm>
            <a:off x="599103" y="1492045"/>
            <a:ext cx="10196051" cy="387391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7" name="Rectangle 6">
            <a:extLst>
              <a:ext uri="{FF2B5EF4-FFF2-40B4-BE49-F238E27FC236}">
                <a16:creationId xmlns:a16="http://schemas.microsoft.com/office/drawing/2014/main" id="{6663FB37-7E25-B890-CEB7-6052F4CFB27C}"/>
              </a:ext>
            </a:extLst>
          </p:cNvPr>
          <p:cNvSpPr/>
          <p:nvPr/>
        </p:nvSpPr>
        <p:spPr>
          <a:xfrm>
            <a:off x="481781" y="648929"/>
            <a:ext cx="1976284" cy="7374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8" name="Picture 7">
            <a:extLst>
              <a:ext uri="{FF2B5EF4-FFF2-40B4-BE49-F238E27FC236}">
                <a16:creationId xmlns:a16="http://schemas.microsoft.com/office/drawing/2014/main" id="{BF698797-B043-5372-38BC-F41B5363607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038"/>
            <a:ext cx="1080000" cy="1080000"/>
          </a:xfrm>
          <a:prstGeom prst="rect">
            <a:avLst/>
          </a:prstGeom>
        </p:spPr>
      </p:pic>
      <p:sp>
        <p:nvSpPr>
          <p:cNvPr id="9" name="Rectangle 8">
            <a:extLst>
              <a:ext uri="{FF2B5EF4-FFF2-40B4-BE49-F238E27FC236}">
                <a16:creationId xmlns:a16="http://schemas.microsoft.com/office/drawing/2014/main" id="{8DC2404A-C28E-9396-A26C-B9F91D318C6C}"/>
              </a:ext>
            </a:extLst>
          </p:cNvPr>
          <p:cNvSpPr/>
          <p:nvPr/>
        </p:nvSpPr>
        <p:spPr>
          <a:xfrm>
            <a:off x="329380" y="1075613"/>
            <a:ext cx="3693979" cy="9144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800" b="1" dirty="0">
                <a:solidFill>
                  <a:schemeClr val="tx1"/>
                </a:solidFill>
                <a:latin typeface="Garamond" panose="02020404030301010803" pitchFamily="18" charset="0"/>
              </a:rPr>
              <a:t>Certifications Offered</a:t>
            </a:r>
            <a:endParaRPr lang="en-ZA" sz="2800" b="1" dirty="0">
              <a:solidFill>
                <a:schemeClr val="tx1"/>
              </a:solidFill>
              <a:latin typeface="Garamond" panose="02020404030301010803" pitchFamily="18" charset="0"/>
            </a:endParaRPr>
          </a:p>
        </p:txBody>
      </p:sp>
      <p:sp>
        <p:nvSpPr>
          <p:cNvPr id="10" name="Arrow: Pentagon 9">
            <a:extLst>
              <a:ext uri="{FF2B5EF4-FFF2-40B4-BE49-F238E27FC236}">
                <a16:creationId xmlns:a16="http://schemas.microsoft.com/office/drawing/2014/main" id="{A7A14DC3-3B9E-0FB1-D62E-7EB91880ADA4}"/>
              </a:ext>
            </a:extLst>
          </p:cNvPr>
          <p:cNvSpPr/>
          <p:nvPr/>
        </p:nvSpPr>
        <p:spPr>
          <a:xfrm>
            <a:off x="540000" y="1797827"/>
            <a:ext cx="2700000" cy="58994"/>
          </a:xfrm>
          <a:prstGeom prst="homePlate">
            <a:avLst/>
          </a:prstGeom>
          <a:solidFill>
            <a:srgbClr val="004A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1" name="TextBox 10">
            <a:extLst>
              <a:ext uri="{FF2B5EF4-FFF2-40B4-BE49-F238E27FC236}">
                <a16:creationId xmlns:a16="http://schemas.microsoft.com/office/drawing/2014/main" id="{D8B345CF-BA83-E5A5-750F-9E375DF60915}"/>
              </a:ext>
            </a:extLst>
          </p:cNvPr>
          <p:cNvSpPr txBox="1"/>
          <p:nvPr/>
        </p:nvSpPr>
        <p:spPr>
          <a:xfrm>
            <a:off x="0" y="2177628"/>
            <a:ext cx="5276069" cy="584775"/>
          </a:xfrm>
          <a:prstGeom prst="rect">
            <a:avLst/>
          </a:prstGeom>
          <a:noFill/>
        </p:spPr>
        <p:txBody>
          <a:bodyPr wrap="square">
            <a:spAutoFit/>
          </a:bodyPr>
          <a:lstStyle/>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cs typeface="Times New Roman" panose="02020603050405020304" pitchFamily="18" charset="0"/>
              </a:rPr>
              <a:t>SZNS ISO 9001:2015</a:t>
            </a:r>
            <a:endParaRPr kumimoji="0" lang="en-US" sz="1600" i="0" u="none" strike="noStrike" kern="1200" cap="none" spc="0" normalizeH="0" baseline="0" noProof="0" dirty="0">
              <a:ln>
                <a:noFill/>
              </a:ln>
              <a:solidFill>
                <a:prstClr val="black"/>
              </a:solidFill>
              <a:effectLst/>
              <a:uLnTx/>
              <a:uFillTx/>
              <a:ea typeface="SimSun" panose="02010600030101010101" pitchFamily="2" charset="-122"/>
              <a:cs typeface="Times New Roman" panose="02020603050405020304" pitchFamily="18" charset="0"/>
              <a:sym typeface="Wingdings 2" panose="05020102010507070707" pitchFamily="18" charset="2"/>
            </a:endParaRP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1600" i="0" u="none" strike="noStrike" kern="1200" cap="none" spc="0" normalizeH="0" baseline="0" noProof="0" dirty="0">
                <a:ln>
                  <a:noFill/>
                </a:ln>
                <a:solidFill>
                  <a:prstClr val="black"/>
                </a:solidFill>
                <a:effectLst/>
                <a:uLnTx/>
                <a:uFillTx/>
                <a:ea typeface="SimSun" panose="02010600030101010101" pitchFamily="2" charset="-122"/>
                <a:cs typeface="Times New Roman" panose="02020603050405020304" pitchFamily="18" charset="0"/>
                <a:sym typeface="Wingdings 2" panose="05020102010507070707" pitchFamily="18" charset="2"/>
              </a:rPr>
              <a:t>Quality management systems – Requirements </a:t>
            </a:r>
          </a:p>
        </p:txBody>
      </p:sp>
      <p:sp>
        <p:nvSpPr>
          <p:cNvPr id="12" name="Rectangle 11">
            <a:extLst>
              <a:ext uri="{FF2B5EF4-FFF2-40B4-BE49-F238E27FC236}">
                <a16:creationId xmlns:a16="http://schemas.microsoft.com/office/drawing/2014/main" id="{C5CE77B6-7EB2-5B3C-D9BD-5B42B63F81D8}"/>
              </a:ext>
            </a:extLst>
          </p:cNvPr>
          <p:cNvSpPr/>
          <p:nvPr/>
        </p:nvSpPr>
        <p:spPr>
          <a:xfrm>
            <a:off x="421060" y="3007672"/>
            <a:ext cx="5432504" cy="716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ysClr val="windowText" lastClr="000000"/>
                </a:solidFill>
                <a:effectLst/>
                <a:uLnTx/>
                <a:uFillTx/>
              </a:rPr>
              <a:t>SZNS ISO 14001:2015</a:t>
            </a:r>
            <a:endParaRPr kumimoji="0" lang="en-US" sz="1600" b="0" i="0" u="none" strike="noStrike" kern="1200" cap="none" spc="0" normalizeH="0" baseline="0" noProof="0" dirty="0">
              <a:ln>
                <a:noFill/>
              </a:ln>
              <a:solidFill>
                <a:sysClr val="windowText" lastClr="000000"/>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ysClr val="windowText" lastClr="000000"/>
                </a:solidFill>
                <a:effectLst/>
                <a:uLnTx/>
                <a:uFillTx/>
              </a:rPr>
              <a:t>Environmental Management Systems Requirements</a:t>
            </a:r>
          </a:p>
        </p:txBody>
      </p:sp>
      <p:sp>
        <p:nvSpPr>
          <p:cNvPr id="13" name="Rectangle 12">
            <a:extLst>
              <a:ext uri="{FF2B5EF4-FFF2-40B4-BE49-F238E27FC236}">
                <a16:creationId xmlns:a16="http://schemas.microsoft.com/office/drawing/2014/main" id="{D76E2347-9910-B083-ED21-22A5AF4FBB97}"/>
              </a:ext>
            </a:extLst>
          </p:cNvPr>
          <p:cNvSpPr/>
          <p:nvPr/>
        </p:nvSpPr>
        <p:spPr>
          <a:xfrm>
            <a:off x="481781" y="3846217"/>
            <a:ext cx="5763579" cy="716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ysClr val="windowText" lastClr="000000"/>
                </a:solidFill>
                <a:effectLst/>
                <a:uLnTx/>
                <a:uFillTx/>
              </a:rPr>
              <a:t>SZNS ISO 45001:2018</a:t>
            </a:r>
            <a:endParaRPr kumimoji="0" lang="en-US" sz="1600" b="0" i="0" u="none" strike="noStrike" kern="1200" cap="none" spc="0" normalizeH="0" baseline="0" noProof="0" dirty="0">
              <a:ln>
                <a:noFill/>
              </a:ln>
              <a:solidFill>
                <a:sysClr val="windowText" lastClr="000000"/>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ysClr val="windowText" lastClr="000000"/>
                </a:solidFill>
                <a:effectLst/>
                <a:uLnTx/>
                <a:uFillTx/>
              </a:rPr>
              <a:t>Occupational Health and Safety Management Systems</a:t>
            </a:r>
          </a:p>
        </p:txBody>
      </p:sp>
      <p:sp>
        <p:nvSpPr>
          <p:cNvPr id="14" name="TextBox 13">
            <a:extLst>
              <a:ext uri="{FF2B5EF4-FFF2-40B4-BE49-F238E27FC236}">
                <a16:creationId xmlns:a16="http://schemas.microsoft.com/office/drawing/2014/main" id="{F0560956-1C0D-E3B3-7D3A-209414164B93}"/>
              </a:ext>
            </a:extLst>
          </p:cNvPr>
          <p:cNvSpPr txBox="1"/>
          <p:nvPr/>
        </p:nvSpPr>
        <p:spPr>
          <a:xfrm>
            <a:off x="0" y="4760935"/>
            <a:ext cx="9233102" cy="584775"/>
          </a:xfrm>
          <a:prstGeom prst="rect">
            <a:avLst/>
          </a:prstGeom>
          <a:noFill/>
        </p:spPr>
        <p:txBody>
          <a:bodyPr wrap="square">
            <a:spAutoFit/>
          </a:bodyPr>
          <a:lstStyle/>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cs typeface="Times New Roman" panose="02020603050405020304" pitchFamily="18" charset="0"/>
              </a:rPr>
              <a:t>SZNS ISO 22000: 2018</a:t>
            </a: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1600" i="0" u="none" strike="noStrike" kern="1200" cap="none" spc="0" normalizeH="0" baseline="0" noProof="0" dirty="0">
                <a:ln>
                  <a:noFill/>
                </a:ln>
                <a:solidFill>
                  <a:prstClr val="black"/>
                </a:solidFill>
                <a:effectLst/>
                <a:uLnTx/>
                <a:uFillTx/>
                <a:cs typeface="Times New Roman" panose="02020603050405020304" pitchFamily="18" charset="0"/>
              </a:rPr>
              <a:t>Food safety management systems Requirements for any organization in the food chain</a:t>
            </a:r>
          </a:p>
        </p:txBody>
      </p:sp>
      <p:sp>
        <p:nvSpPr>
          <p:cNvPr id="15" name="TextBox 14">
            <a:extLst>
              <a:ext uri="{FF2B5EF4-FFF2-40B4-BE49-F238E27FC236}">
                <a16:creationId xmlns:a16="http://schemas.microsoft.com/office/drawing/2014/main" id="{A5A1DB04-F32C-32B0-81C5-80253D898622}"/>
              </a:ext>
            </a:extLst>
          </p:cNvPr>
          <p:cNvSpPr txBox="1"/>
          <p:nvPr/>
        </p:nvSpPr>
        <p:spPr>
          <a:xfrm>
            <a:off x="951124" y="5575296"/>
            <a:ext cx="8649890" cy="584775"/>
          </a:xfrm>
          <a:prstGeom prst="rect">
            <a:avLst/>
          </a:prstGeom>
          <a:noFill/>
        </p:spPr>
        <p:txBody>
          <a:bodyPr wrap="square">
            <a:spAutoFit/>
          </a:bodyPr>
          <a:lstStyle/>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cs typeface="Times New Roman" panose="02020603050405020304" pitchFamily="18" charset="0"/>
              </a:rPr>
              <a:t>SZNS SANS 10330:2020</a:t>
            </a:r>
            <a:r>
              <a:rPr kumimoji="0" lang="en-US" sz="1600" b="1" i="0" u="none" strike="noStrike" kern="1200" cap="none" spc="0" normalizeH="0" baseline="0" noProof="0" dirty="0">
                <a:ln>
                  <a:noFill/>
                </a:ln>
                <a:solidFill>
                  <a:prstClr val="black"/>
                </a:solidFill>
                <a:effectLst/>
                <a:uLnTx/>
                <a:uFillTx/>
                <a:ea typeface="SimSun" panose="02010600030101010101" pitchFamily="2" charset="-122"/>
                <a:cs typeface="Times New Roman" panose="02020603050405020304" pitchFamily="18" charset="0"/>
                <a:sym typeface="Wingdings 2" panose="05020102010507070707" pitchFamily="18" charset="2"/>
              </a:rPr>
              <a:t>  </a:t>
            </a:r>
            <a:r>
              <a:rPr kumimoji="0" lang="en-US" sz="1600" i="0" u="none" strike="noStrike" kern="1200" cap="none" spc="0" normalizeH="0" baseline="0" noProof="0" dirty="0">
                <a:ln>
                  <a:noFill/>
                </a:ln>
                <a:solidFill>
                  <a:prstClr val="black"/>
                </a:solidFill>
                <a:effectLst/>
                <a:uLnTx/>
                <a:uFillTx/>
                <a:cs typeface="Times New Roman" panose="02020603050405020304" pitchFamily="18" charset="0"/>
              </a:rPr>
              <a:t>	 </a:t>
            </a: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1600" i="0" u="none" strike="noStrike" kern="1200" cap="none" spc="0" normalizeH="0" baseline="0" noProof="0" dirty="0">
                <a:ln>
                  <a:noFill/>
                </a:ln>
                <a:solidFill>
                  <a:prstClr val="black"/>
                </a:solidFill>
                <a:effectLst/>
                <a:uLnTx/>
                <a:uFillTx/>
                <a:cs typeface="Times New Roman" panose="02020603050405020304" pitchFamily="18" charset="0"/>
              </a:rPr>
              <a:t>Requirements for a Hazard Analysis and Critical Control Point (HACCP) system</a:t>
            </a:r>
          </a:p>
        </p:txBody>
      </p:sp>
      <p:pic>
        <p:nvPicPr>
          <p:cNvPr id="24" name="Picture 8" descr="ISO 45001:2018 &amp; BizSAFE STAR Certificates Update">
            <a:extLst>
              <a:ext uri="{FF2B5EF4-FFF2-40B4-BE49-F238E27FC236}">
                <a16:creationId xmlns:a16="http://schemas.microsoft.com/office/drawing/2014/main" id="{F71B7B82-F8B4-18CA-D7EC-CDC5D334FAA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86012" y="3827152"/>
            <a:ext cx="1028570" cy="900000"/>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12" descr="FOSS &amp; ESG Achieves ISO 22000 Certification - FOSS &amp; ESG Catering">
            <a:extLst>
              <a:ext uri="{FF2B5EF4-FFF2-40B4-BE49-F238E27FC236}">
                <a16:creationId xmlns:a16="http://schemas.microsoft.com/office/drawing/2014/main" id="{D730E3E7-6943-5CF6-FAF4-FAE0D0909E4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092567" y="4372446"/>
            <a:ext cx="916764" cy="900000"/>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20">
            <a:extLst>
              <a:ext uri="{FF2B5EF4-FFF2-40B4-BE49-F238E27FC236}">
                <a16:creationId xmlns:a16="http://schemas.microsoft.com/office/drawing/2014/main" id="{7DE51BAA-CB40-47E2-BEE3-2326F559F1B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62072" y="1990013"/>
            <a:ext cx="983720" cy="900000"/>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4" descr="Certification of environmental management systems ISO 14001:2015 - SV Cert  Group EN">
            <a:extLst>
              <a:ext uri="{FF2B5EF4-FFF2-40B4-BE49-F238E27FC236}">
                <a16:creationId xmlns:a16="http://schemas.microsoft.com/office/drawing/2014/main" id="{8DD24A8F-1ABB-A5D7-314D-E73CD02CE93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177333" y="2893369"/>
            <a:ext cx="1352462" cy="900000"/>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29">
            <a:extLst>
              <a:ext uri="{FF2B5EF4-FFF2-40B4-BE49-F238E27FC236}">
                <a16:creationId xmlns:a16="http://schemas.microsoft.com/office/drawing/2014/main" id="{7827AD18-01D5-F880-74CC-6EB318C1712F}"/>
              </a:ext>
            </a:extLst>
          </p:cNvPr>
          <p:cNvPicPr>
            <a:picLocks noChangeAspect="1"/>
          </p:cNvPicPr>
          <p:nvPr/>
        </p:nvPicPr>
        <p:blipFill>
          <a:blip r:embed="rId8"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8537302" y="5417683"/>
            <a:ext cx="944057" cy="900000"/>
          </a:xfrm>
          <a:prstGeom prst="rect">
            <a:avLst/>
          </a:prstGeom>
        </p:spPr>
      </p:pic>
      <p:sp>
        <p:nvSpPr>
          <p:cNvPr id="2" name="Text Box 2">
            <a:extLst>
              <a:ext uri="{FF2B5EF4-FFF2-40B4-BE49-F238E27FC236}">
                <a16:creationId xmlns:a16="http://schemas.microsoft.com/office/drawing/2014/main" id="{A89DC1FD-EE98-77AE-5B8A-0A9713B9F4DE}"/>
              </a:ext>
            </a:extLst>
          </p:cNvPr>
          <p:cNvSpPr txBox="1">
            <a:spLocks noChangeArrowheads="1"/>
          </p:cNvSpPr>
          <p:nvPr/>
        </p:nvSpPr>
        <p:spPr bwMode="auto">
          <a:xfrm>
            <a:off x="9069113" y="6500761"/>
            <a:ext cx="2527722" cy="307940"/>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2E3191"/>
                </a:solidFill>
                <a:effectLst/>
                <a:latin typeface="BankGothic Lt BT" panose="020B0607020203060204" pitchFamily="34" charset="0"/>
              </a:rPr>
              <a:t>#ImprovingTheWorldWeLiveIn</a:t>
            </a:r>
            <a:endParaRPr kumimoji="0" lang="en-US" altLang="en-US" sz="1200" b="0" i="0" u="none" strike="noStrike" cap="none" normalizeH="0" baseline="0" dirty="0">
              <a:ln>
                <a:noFill/>
              </a:ln>
              <a:solidFill>
                <a:schemeClr val="tx1"/>
              </a:solidFill>
              <a:effectLst/>
              <a:latin typeface="Arial" panose="020B0604020202020204" pitchFamily="34" charset="0"/>
            </a:endParaRPr>
          </a:p>
        </p:txBody>
      </p:sp>
      <p:pic>
        <p:nvPicPr>
          <p:cNvPr id="3" name="Picture 5" descr="social-media-logos-facebook-twitter-instagram-youtube-flickr-vector-pg-transparent-background-high-resolution-linkedin-googleplus-210299554">
            <a:extLst>
              <a:ext uri="{FF2B5EF4-FFF2-40B4-BE49-F238E27FC236}">
                <a16:creationId xmlns:a16="http://schemas.microsoft.com/office/drawing/2014/main" id="{DF39D5D8-DDED-FC56-DF77-7DF758F6A4A5}"/>
              </a:ext>
            </a:extLst>
          </p:cNvPr>
          <p:cNvPicPr>
            <a:picLocks noChangeAspect="1" noChangeArrowheads="1"/>
          </p:cNvPicPr>
          <p:nvPr/>
        </p:nvPicPr>
        <p:blipFill>
          <a:blip r:embed="rId9" cstate="print">
            <a:clrChange>
              <a:clrFrom>
                <a:srgbClr val="FFFFFF"/>
              </a:clrFrom>
              <a:clrTo>
                <a:srgbClr val="FFFFFF">
                  <a:alpha val="0"/>
                </a:srgbClr>
              </a:clrTo>
            </a:clrChange>
            <a:extLst>
              <a:ext uri="{28A0092B-C50C-407E-A947-70E740481C1C}">
                <a14:useLocalDpi xmlns:a14="http://schemas.microsoft.com/office/drawing/2010/main" val="0"/>
              </a:ext>
            </a:extLst>
          </a:blip>
          <a:srcRect l="51178" t="8835" r="39842" b="71758"/>
          <a:stretch>
            <a:fillRect/>
          </a:stretch>
        </p:blipFill>
        <p:spPr bwMode="auto">
          <a:xfrm>
            <a:off x="11729146" y="6573327"/>
            <a:ext cx="177800" cy="184150"/>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pic>
      <p:pic>
        <p:nvPicPr>
          <p:cNvPr id="4" name="Picture 6" descr="social-media-logos-facebook-twitter-instagram-youtube-flickr-vector-pg-transparent-background-high-resolution-linkedin-googleplus-210299554">
            <a:extLst>
              <a:ext uri="{FF2B5EF4-FFF2-40B4-BE49-F238E27FC236}">
                <a16:creationId xmlns:a16="http://schemas.microsoft.com/office/drawing/2014/main" id="{E97772F1-F522-C302-0015-37BCE5234845}"/>
              </a:ext>
            </a:extLst>
          </p:cNvPr>
          <p:cNvPicPr>
            <a:picLocks noChangeAspect="1" noChangeArrowheads="1"/>
          </p:cNvPicPr>
          <p:nvPr/>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rcRect l="86784" t="34485" r="4137" b="46553"/>
          <a:stretch>
            <a:fillRect/>
          </a:stretch>
        </p:blipFill>
        <p:spPr bwMode="auto">
          <a:xfrm>
            <a:off x="11970216" y="6573327"/>
            <a:ext cx="184150" cy="184150"/>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pic>
      <p:cxnSp>
        <p:nvCxnSpPr>
          <p:cNvPr id="16" name="Straight Connector 15">
            <a:extLst>
              <a:ext uri="{FF2B5EF4-FFF2-40B4-BE49-F238E27FC236}">
                <a16:creationId xmlns:a16="http://schemas.microsoft.com/office/drawing/2014/main" id="{0A270F11-7EE3-9DF1-C094-B184CD52AE57}"/>
              </a:ext>
            </a:extLst>
          </p:cNvPr>
          <p:cNvCxnSpPr/>
          <p:nvPr/>
        </p:nvCxnSpPr>
        <p:spPr>
          <a:xfrm>
            <a:off x="6832249" y="6625305"/>
            <a:ext cx="2160000" cy="0"/>
          </a:xfrm>
          <a:prstGeom prst="line">
            <a:avLst/>
          </a:prstGeom>
          <a:ln w="28575">
            <a:solidFill>
              <a:srgbClr val="2E319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822981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A90340-7446-8DE0-301E-817800592E6F}"/>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5E0595FD-8DC7-CB94-247A-98699D9B4BBC}"/>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14093" y="5286619"/>
            <a:ext cx="2456472" cy="1584000"/>
          </a:xfrm>
          <a:prstGeom prst="rect">
            <a:avLst/>
          </a:prstGeom>
        </p:spPr>
      </p:pic>
      <p:pic>
        <p:nvPicPr>
          <p:cNvPr id="12" name="Picture 11">
            <a:extLst>
              <a:ext uri="{FF2B5EF4-FFF2-40B4-BE49-F238E27FC236}">
                <a16:creationId xmlns:a16="http://schemas.microsoft.com/office/drawing/2014/main" id="{98EA16A2-BE86-B44E-F85D-BA4C9320AD1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038"/>
            <a:ext cx="1080000" cy="1080000"/>
          </a:xfrm>
          <a:prstGeom prst="rect">
            <a:avLst/>
          </a:prstGeom>
        </p:spPr>
      </p:pic>
      <p:sp>
        <p:nvSpPr>
          <p:cNvPr id="13" name="Text Box 2">
            <a:extLst>
              <a:ext uri="{FF2B5EF4-FFF2-40B4-BE49-F238E27FC236}">
                <a16:creationId xmlns:a16="http://schemas.microsoft.com/office/drawing/2014/main" id="{09EBFFD9-E974-EA6A-856E-552BB01A2304}"/>
              </a:ext>
            </a:extLst>
          </p:cNvPr>
          <p:cNvSpPr txBox="1">
            <a:spLocks noChangeArrowheads="1"/>
          </p:cNvSpPr>
          <p:nvPr/>
        </p:nvSpPr>
        <p:spPr bwMode="auto">
          <a:xfrm>
            <a:off x="8927111" y="6550060"/>
            <a:ext cx="2527722" cy="307940"/>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2E3191"/>
                </a:solidFill>
                <a:effectLst/>
                <a:latin typeface="BankGothic Lt BT" panose="020B0607020203060204" pitchFamily="34" charset="0"/>
              </a:rPr>
              <a:t>#ImprovingTheWorldWeLiveIn</a:t>
            </a:r>
            <a:endParaRPr kumimoji="0" lang="en-US" altLang="en-US" sz="1200" b="0" i="0" u="none" strike="noStrike" cap="none" normalizeH="0" baseline="0" dirty="0">
              <a:ln>
                <a:noFill/>
              </a:ln>
              <a:solidFill>
                <a:schemeClr val="tx1"/>
              </a:solidFill>
              <a:effectLst/>
              <a:latin typeface="Arial" panose="020B0604020202020204" pitchFamily="34" charset="0"/>
            </a:endParaRPr>
          </a:p>
        </p:txBody>
      </p:sp>
      <p:pic>
        <p:nvPicPr>
          <p:cNvPr id="14" name="Picture 5" descr="social-media-logos-facebook-twitter-instagram-youtube-flickr-vector-pg-transparent-background-high-resolution-linkedin-googleplus-210299554">
            <a:extLst>
              <a:ext uri="{FF2B5EF4-FFF2-40B4-BE49-F238E27FC236}">
                <a16:creationId xmlns:a16="http://schemas.microsoft.com/office/drawing/2014/main" id="{46E7903B-87C4-493D-3814-C2D3929E2E97}"/>
              </a:ext>
            </a:extLst>
          </p:cNvPr>
          <p:cNvPicPr>
            <a:picLocks noChangeAspect="1" noChangeArrowheads="1"/>
          </p:cNvPicPr>
          <p:nvPr/>
        </p:nvPicPr>
        <p:blipFill>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rcRect l="51178" t="8835" r="39842" b="71758"/>
          <a:stretch>
            <a:fillRect/>
          </a:stretch>
        </p:blipFill>
        <p:spPr bwMode="auto">
          <a:xfrm>
            <a:off x="11587144" y="6622626"/>
            <a:ext cx="177800" cy="184150"/>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pic>
      <p:pic>
        <p:nvPicPr>
          <p:cNvPr id="15" name="Picture 6" descr="social-media-logos-facebook-twitter-instagram-youtube-flickr-vector-pg-transparent-background-high-resolution-linkedin-googleplus-210299554">
            <a:extLst>
              <a:ext uri="{FF2B5EF4-FFF2-40B4-BE49-F238E27FC236}">
                <a16:creationId xmlns:a16="http://schemas.microsoft.com/office/drawing/2014/main" id="{D917F638-8F2A-D438-DF99-1502F54E0D99}"/>
              </a:ext>
            </a:extLst>
          </p:cNvPr>
          <p:cNvPicPr>
            <a:picLocks noChangeAspect="1" noChangeArrowheads="1"/>
          </p:cNvPicPr>
          <p:nvPr/>
        </p:nvPicPr>
        <p:blipFill>
          <a:blip r:embed="rId5" cstate="print">
            <a:clrChange>
              <a:clrFrom>
                <a:srgbClr val="FFFFFF"/>
              </a:clrFrom>
              <a:clrTo>
                <a:srgbClr val="FFFFFF">
                  <a:alpha val="0"/>
                </a:srgbClr>
              </a:clrTo>
            </a:clrChange>
            <a:extLst>
              <a:ext uri="{28A0092B-C50C-407E-A947-70E740481C1C}">
                <a14:useLocalDpi xmlns:a14="http://schemas.microsoft.com/office/drawing/2010/main" val="0"/>
              </a:ext>
            </a:extLst>
          </a:blip>
          <a:srcRect l="86784" t="34485" r="4137" b="46553"/>
          <a:stretch>
            <a:fillRect/>
          </a:stretch>
        </p:blipFill>
        <p:spPr bwMode="auto">
          <a:xfrm>
            <a:off x="11828214" y="6622626"/>
            <a:ext cx="184150" cy="184150"/>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pic>
      <p:cxnSp>
        <p:nvCxnSpPr>
          <p:cNvPr id="16" name="Straight Connector 15">
            <a:extLst>
              <a:ext uri="{FF2B5EF4-FFF2-40B4-BE49-F238E27FC236}">
                <a16:creationId xmlns:a16="http://schemas.microsoft.com/office/drawing/2014/main" id="{6FCEB4EA-EC98-4AC6-5AE4-B814B6BC745B}"/>
              </a:ext>
            </a:extLst>
          </p:cNvPr>
          <p:cNvCxnSpPr/>
          <p:nvPr/>
        </p:nvCxnSpPr>
        <p:spPr>
          <a:xfrm>
            <a:off x="6690247" y="6674604"/>
            <a:ext cx="2160000" cy="0"/>
          </a:xfrm>
          <a:prstGeom prst="line">
            <a:avLst/>
          </a:prstGeom>
          <a:ln w="28575">
            <a:solidFill>
              <a:srgbClr val="2E3191"/>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3BD86ED8-27E6-B6E2-B900-3D3F7B6E47DA}"/>
              </a:ext>
            </a:extLst>
          </p:cNvPr>
          <p:cNvSpPr txBox="1"/>
          <p:nvPr/>
        </p:nvSpPr>
        <p:spPr>
          <a:xfrm>
            <a:off x="175422" y="1933292"/>
            <a:ext cx="6100916" cy="1754326"/>
          </a:xfrm>
          <a:prstGeom prst="rect">
            <a:avLst/>
          </a:prstGeom>
          <a:noFill/>
        </p:spPr>
        <p:txBody>
          <a:bodyPr wrap="square">
            <a:spAutoFit/>
          </a:bodyPr>
          <a:lstStyle/>
          <a:p>
            <a:r>
              <a:rPr lang="en-ZA" sz="1200" dirty="0"/>
              <a:t>SZNS ISO 9001 Certification is one of the most recognized and leading ISO standards on </a:t>
            </a:r>
            <a:r>
              <a:rPr lang="en-ZA" sz="1200" b="1" dirty="0"/>
              <a:t>Quality Management Systems (QMS)</a:t>
            </a:r>
            <a:r>
              <a:rPr lang="en-ZA" sz="1200" dirty="0"/>
              <a:t>. </a:t>
            </a:r>
          </a:p>
          <a:p>
            <a:endParaRPr lang="en-ZA" sz="1200" dirty="0"/>
          </a:p>
          <a:p>
            <a:r>
              <a:rPr lang="en-ZA" sz="1200" dirty="0"/>
              <a:t>If your business is SZNS  ISO 9001 Certified, it shows that your organization follows internationally recognized standards for ensuring quality throughout every aspect of your business. This includes everything from manufacturing to customer service</a:t>
            </a:r>
            <a:r>
              <a:rPr lang="en-GB" sz="1200" dirty="0"/>
              <a:t>. The certification is meant to be used by any organization, regardless of its magnitude, category, or nature. </a:t>
            </a:r>
          </a:p>
          <a:p>
            <a:pPr marL="285750" indent="-285750">
              <a:buFont typeface="Wingdings" panose="05000000000000000000" pitchFamily="2" charset="2"/>
              <a:buChar char="Ø"/>
            </a:pPr>
            <a:endParaRPr lang="en-GB" sz="1200" dirty="0"/>
          </a:p>
        </p:txBody>
      </p:sp>
      <p:sp>
        <p:nvSpPr>
          <p:cNvPr id="11" name="TextBox 10">
            <a:extLst>
              <a:ext uri="{FF2B5EF4-FFF2-40B4-BE49-F238E27FC236}">
                <a16:creationId xmlns:a16="http://schemas.microsoft.com/office/drawing/2014/main" id="{5806BD2C-C288-A735-2E9E-A851FE3FA5E1}"/>
              </a:ext>
            </a:extLst>
          </p:cNvPr>
          <p:cNvSpPr txBox="1"/>
          <p:nvPr/>
        </p:nvSpPr>
        <p:spPr>
          <a:xfrm>
            <a:off x="227658" y="3664880"/>
            <a:ext cx="6100916" cy="1864100"/>
          </a:xfrm>
          <a:prstGeom prst="rect">
            <a:avLst/>
          </a:prstGeom>
          <a:noFill/>
        </p:spPr>
        <p:txBody>
          <a:bodyPr wrap="square">
            <a:spAutoFit/>
          </a:bodyPr>
          <a:lstStyle/>
          <a:p>
            <a:pPr marL="342900" lvl="0" indent="-342900">
              <a:lnSpc>
                <a:spcPct val="107000"/>
              </a:lnSpc>
              <a:buFont typeface="Wingdings" panose="05000000000000000000" pitchFamily="2" charset="2"/>
              <a:buChar char=""/>
            </a:pPr>
            <a:r>
              <a:rPr lang="en-ZA" sz="1200" kern="100" dirty="0">
                <a:effectLst/>
                <a:latin typeface="Aptos" panose="020B0004020202020204" pitchFamily="34" charset="0"/>
                <a:ea typeface="Aptos" panose="020B0004020202020204" pitchFamily="34" charset="0"/>
                <a:cs typeface="Times New Roman" panose="02020603050405020304" pitchFamily="18" charset="0"/>
              </a:rPr>
              <a:t>Improved Operational Efficiency</a:t>
            </a:r>
          </a:p>
          <a:p>
            <a:pPr marL="342900" lvl="0" indent="-342900">
              <a:lnSpc>
                <a:spcPct val="107000"/>
              </a:lnSpc>
              <a:buFont typeface="Wingdings" panose="05000000000000000000" pitchFamily="2" charset="2"/>
              <a:buChar char=""/>
            </a:pPr>
            <a:r>
              <a:rPr lang="en-ZA" sz="1200" kern="100" dirty="0">
                <a:effectLst/>
                <a:latin typeface="Aptos" panose="020B0004020202020204" pitchFamily="34" charset="0"/>
                <a:ea typeface="Aptos" panose="020B0004020202020204" pitchFamily="34" charset="0"/>
                <a:cs typeface="Times New Roman" panose="02020603050405020304" pitchFamily="18" charset="0"/>
              </a:rPr>
              <a:t>Enhanced Customer Satisfaction and Loyalty</a:t>
            </a:r>
          </a:p>
          <a:p>
            <a:pPr marL="342900" lvl="0" indent="-342900">
              <a:lnSpc>
                <a:spcPct val="107000"/>
              </a:lnSpc>
              <a:buFont typeface="Wingdings" panose="05000000000000000000" pitchFamily="2" charset="2"/>
              <a:buChar char=""/>
            </a:pPr>
            <a:r>
              <a:rPr lang="en-ZA" sz="1200" kern="100" dirty="0">
                <a:effectLst/>
                <a:latin typeface="Aptos" panose="020B0004020202020204" pitchFamily="34" charset="0"/>
                <a:ea typeface="Aptos" panose="020B0004020202020204" pitchFamily="34" charset="0"/>
                <a:cs typeface="Times New Roman" panose="02020603050405020304" pitchFamily="18" charset="0"/>
              </a:rPr>
              <a:t>Increased Employee Engagement</a:t>
            </a:r>
          </a:p>
          <a:p>
            <a:pPr marL="342900" lvl="0" indent="-342900">
              <a:lnSpc>
                <a:spcPct val="107000"/>
              </a:lnSpc>
              <a:buFont typeface="Wingdings" panose="05000000000000000000" pitchFamily="2" charset="2"/>
              <a:buChar char=""/>
            </a:pPr>
            <a:r>
              <a:rPr lang="en-ZA" sz="1200" kern="100" dirty="0">
                <a:effectLst/>
                <a:latin typeface="Aptos" panose="020B0004020202020204" pitchFamily="34" charset="0"/>
                <a:ea typeface="Aptos" panose="020B0004020202020204" pitchFamily="34" charset="0"/>
                <a:cs typeface="Times New Roman" panose="02020603050405020304" pitchFamily="18" charset="0"/>
              </a:rPr>
              <a:t>Better Decision-Making Through Data</a:t>
            </a:r>
          </a:p>
          <a:p>
            <a:pPr marL="342900" lvl="0" indent="-342900">
              <a:lnSpc>
                <a:spcPct val="107000"/>
              </a:lnSpc>
              <a:buFont typeface="Wingdings" panose="05000000000000000000" pitchFamily="2" charset="2"/>
              <a:buChar char=""/>
            </a:pPr>
            <a:r>
              <a:rPr lang="en-ZA" sz="1200" kern="100" dirty="0">
                <a:effectLst/>
                <a:latin typeface="Aptos" panose="020B0004020202020204" pitchFamily="34" charset="0"/>
                <a:ea typeface="Aptos" panose="020B0004020202020204" pitchFamily="34" charset="0"/>
                <a:cs typeface="Times New Roman" panose="02020603050405020304" pitchFamily="18" charset="0"/>
              </a:rPr>
              <a:t>Reduced Waste and Improved Resource Management</a:t>
            </a:r>
          </a:p>
          <a:p>
            <a:pPr marL="342900" lvl="0" indent="-342900">
              <a:lnSpc>
                <a:spcPct val="107000"/>
              </a:lnSpc>
              <a:buFont typeface="Wingdings" panose="05000000000000000000" pitchFamily="2" charset="2"/>
              <a:buChar char=""/>
            </a:pPr>
            <a:r>
              <a:rPr lang="en-ZA" sz="1200" kern="100" dirty="0">
                <a:effectLst/>
                <a:latin typeface="Aptos" panose="020B0004020202020204" pitchFamily="34" charset="0"/>
                <a:ea typeface="Aptos" panose="020B0004020202020204" pitchFamily="34" charset="0"/>
                <a:cs typeface="Times New Roman" panose="02020603050405020304" pitchFamily="18" charset="0"/>
              </a:rPr>
              <a:t>Compliance with Statutory and Regulatory Requirements</a:t>
            </a:r>
          </a:p>
          <a:p>
            <a:pPr marL="342900" lvl="0" indent="-342900">
              <a:lnSpc>
                <a:spcPct val="107000"/>
              </a:lnSpc>
              <a:buFont typeface="Wingdings" panose="05000000000000000000" pitchFamily="2" charset="2"/>
              <a:buChar char=""/>
            </a:pPr>
            <a:r>
              <a:rPr lang="en-ZA" sz="1200" kern="100" dirty="0">
                <a:effectLst/>
                <a:latin typeface="Aptos" panose="020B0004020202020204" pitchFamily="34" charset="0"/>
                <a:ea typeface="Aptos" panose="020B0004020202020204" pitchFamily="34" charset="0"/>
                <a:cs typeface="Times New Roman" panose="02020603050405020304" pitchFamily="18" charset="0"/>
              </a:rPr>
              <a:t>Consistent Product and Service Quality</a:t>
            </a:r>
          </a:p>
          <a:p>
            <a:pPr marL="342900" lvl="0" indent="-342900">
              <a:lnSpc>
                <a:spcPct val="107000"/>
              </a:lnSpc>
              <a:buFont typeface="Wingdings" panose="05000000000000000000" pitchFamily="2" charset="2"/>
              <a:buChar char=""/>
            </a:pPr>
            <a:r>
              <a:rPr lang="en-ZA" sz="1200" kern="100" dirty="0">
                <a:effectLst/>
                <a:latin typeface="Aptos" panose="020B0004020202020204" pitchFamily="34" charset="0"/>
                <a:ea typeface="Aptos" panose="020B0004020202020204" pitchFamily="34" charset="0"/>
                <a:cs typeface="Times New Roman" panose="02020603050405020304" pitchFamily="18" charset="0"/>
              </a:rPr>
              <a:t>Increased Competitiveness in </a:t>
            </a:r>
            <a:r>
              <a:rPr lang="en-ZA" sz="1200" kern="100" dirty="0">
                <a:latin typeface="Aptos" panose="020B0004020202020204" pitchFamily="34" charset="0"/>
                <a:ea typeface="Aptos" panose="020B0004020202020204" pitchFamily="34" charset="0"/>
                <a:cs typeface="Times New Roman" panose="02020603050405020304" pitchFamily="18" charset="0"/>
              </a:rPr>
              <a:t>Eswatini</a:t>
            </a:r>
            <a:r>
              <a:rPr lang="en-ZA" sz="1200" kern="100" dirty="0">
                <a:effectLst/>
                <a:latin typeface="Aptos" panose="020B0004020202020204" pitchFamily="34" charset="0"/>
                <a:ea typeface="Aptos" panose="020B0004020202020204" pitchFamily="34" charset="0"/>
                <a:cs typeface="Times New Roman" panose="02020603050405020304" pitchFamily="18" charset="0"/>
              </a:rPr>
              <a:t> and International Markets</a:t>
            </a:r>
          </a:p>
          <a:p>
            <a:pPr marL="342900" lvl="0" indent="-342900">
              <a:lnSpc>
                <a:spcPct val="107000"/>
              </a:lnSpc>
              <a:buFont typeface="Wingdings" panose="05000000000000000000" pitchFamily="2" charset="2"/>
              <a:buChar char=""/>
            </a:pPr>
            <a:r>
              <a:rPr lang="en-ZA" sz="1200" kern="100" dirty="0">
                <a:effectLst/>
                <a:latin typeface="Aptos" panose="020B0004020202020204" pitchFamily="34" charset="0"/>
                <a:ea typeface="Aptos" panose="020B0004020202020204" pitchFamily="34" charset="0"/>
                <a:cs typeface="Times New Roman" panose="02020603050405020304" pitchFamily="18" charset="0"/>
              </a:rPr>
              <a:t>Easier Integration with Other ISO Standards</a:t>
            </a:r>
          </a:p>
        </p:txBody>
      </p:sp>
      <p:pic>
        <p:nvPicPr>
          <p:cNvPr id="22" name="Content Placeholder 19">
            <a:extLst>
              <a:ext uri="{FF2B5EF4-FFF2-40B4-BE49-F238E27FC236}">
                <a16:creationId xmlns:a16="http://schemas.microsoft.com/office/drawing/2014/main" id="{5E0F9362-827F-A596-F0AB-8FB90BFF30D0}"/>
              </a:ext>
            </a:extLst>
          </p:cNvPr>
          <p:cNvPicPr>
            <a:picLocks noChangeAspect="1"/>
          </p:cNvPicPr>
          <p:nvPr/>
        </p:nvPicPr>
        <p:blipFill>
          <a:blip r:embed="rId6">
            <a:extLst>
              <a:ext uri="{28A0092B-C50C-407E-A947-70E740481C1C}">
                <a14:useLocalDpi xmlns:a14="http://schemas.microsoft.com/office/drawing/2010/main" val="0"/>
              </a:ext>
            </a:extLst>
          </a:blip>
          <a:srcRect l="25925" r="7122" b="-1"/>
          <a:stretch>
            <a:fillRect/>
          </a:stretch>
        </p:blipFill>
        <p:spPr>
          <a:xfrm>
            <a:off x="6091084" y="0"/>
            <a:ext cx="6100916" cy="637200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
        <p:nvSpPr>
          <p:cNvPr id="24" name="TextBox 23">
            <a:extLst>
              <a:ext uri="{FF2B5EF4-FFF2-40B4-BE49-F238E27FC236}">
                <a16:creationId xmlns:a16="http://schemas.microsoft.com/office/drawing/2014/main" id="{6E9E9008-8243-F446-3EBF-D9E5C9857C12}"/>
              </a:ext>
            </a:extLst>
          </p:cNvPr>
          <p:cNvSpPr txBox="1"/>
          <p:nvPr/>
        </p:nvSpPr>
        <p:spPr>
          <a:xfrm>
            <a:off x="1669331" y="5515022"/>
            <a:ext cx="6100916" cy="876009"/>
          </a:xfrm>
          <a:prstGeom prst="rect">
            <a:avLst/>
          </a:prstGeom>
          <a:noFill/>
        </p:spPr>
        <p:txBody>
          <a:bodyPr wrap="square">
            <a:spAutoFit/>
          </a:bodyPr>
          <a:lstStyle/>
          <a:p>
            <a:pPr marL="342900" lvl="0" indent="-342900">
              <a:lnSpc>
                <a:spcPct val="107000"/>
              </a:lnSpc>
              <a:buFont typeface="Wingdings" panose="05000000000000000000" pitchFamily="2" charset="2"/>
              <a:buChar char=""/>
            </a:pPr>
            <a:r>
              <a:rPr lang="en-ZA" sz="1200" kern="100" dirty="0">
                <a:effectLst/>
                <a:latin typeface="Aptos" panose="020B0004020202020204" pitchFamily="34" charset="0"/>
                <a:ea typeface="Aptos" panose="020B0004020202020204" pitchFamily="34" charset="0"/>
                <a:cs typeface="Times New Roman" panose="02020603050405020304" pitchFamily="18" charset="0"/>
              </a:rPr>
              <a:t>Structured Approach to Risk Management</a:t>
            </a:r>
          </a:p>
          <a:p>
            <a:pPr marL="342900" lvl="0" indent="-342900">
              <a:lnSpc>
                <a:spcPct val="107000"/>
              </a:lnSpc>
              <a:buFont typeface="Wingdings" panose="05000000000000000000" pitchFamily="2" charset="2"/>
              <a:buChar char=""/>
            </a:pPr>
            <a:r>
              <a:rPr lang="en-ZA" sz="1200" kern="100" dirty="0">
                <a:effectLst/>
                <a:latin typeface="Aptos" panose="020B0004020202020204" pitchFamily="34" charset="0"/>
                <a:ea typeface="Aptos" panose="020B0004020202020204" pitchFamily="34" charset="0"/>
                <a:cs typeface="Times New Roman" panose="02020603050405020304" pitchFamily="18" charset="0"/>
              </a:rPr>
              <a:t>Enhanced Supplier Relationships</a:t>
            </a:r>
          </a:p>
          <a:p>
            <a:pPr marL="342900" lvl="0" indent="-342900">
              <a:lnSpc>
                <a:spcPct val="107000"/>
              </a:lnSpc>
              <a:buFont typeface="Wingdings" panose="05000000000000000000" pitchFamily="2" charset="2"/>
              <a:buChar char=""/>
            </a:pPr>
            <a:r>
              <a:rPr lang="en-ZA" sz="1200" kern="100" dirty="0">
                <a:effectLst/>
                <a:latin typeface="Aptos" panose="020B0004020202020204" pitchFamily="34" charset="0"/>
                <a:ea typeface="Aptos" panose="020B0004020202020204" pitchFamily="34" charset="0"/>
                <a:cs typeface="Times New Roman" panose="02020603050405020304" pitchFamily="18" charset="0"/>
              </a:rPr>
              <a:t>Clear Internal Communication</a:t>
            </a:r>
          </a:p>
          <a:p>
            <a:pPr marL="342900" lvl="0" indent="-342900">
              <a:lnSpc>
                <a:spcPct val="107000"/>
              </a:lnSpc>
              <a:spcAft>
                <a:spcPts val="800"/>
              </a:spcAft>
              <a:buFont typeface="Wingdings" panose="05000000000000000000" pitchFamily="2" charset="2"/>
              <a:buChar char=""/>
            </a:pPr>
            <a:r>
              <a:rPr lang="en-ZA" sz="1200" kern="100" dirty="0">
                <a:effectLst/>
                <a:latin typeface="Aptos" panose="020B0004020202020204" pitchFamily="34" charset="0"/>
                <a:ea typeface="Aptos" panose="020B0004020202020204" pitchFamily="34" charset="0"/>
                <a:cs typeface="Times New Roman" panose="02020603050405020304" pitchFamily="18" charset="0"/>
              </a:rPr>
              <a:t>Culture of Continuous Improvement</a:t>
            </a:r>
          </a:p>
        </p:txBody>
      </p:sp>
      <p:sp>
        <p:nvSpPr>
          <p:cNvPr id="3" name="Rectangle 2">
            <a:extLst>
              <a:ext uri="{FF2B5EF4-FFF2-40B4-BE49-F238E27FC236}">
                <a16:creationId xmlns:a16="http://schemas.microsoft.com/office/drawing/2014/main" id="{82F5FFD1-A509-0C4E-DF9B-78F28A1DF651}"/>
              </a:ext>
            </a:extLst>
          </p:cNvPr>
          <p:cNvSpPr/>
          <p:nvPr/>
        </p:nvSpPr>
        <p:spPr>
          <a:xfrm>
            <a:off x="1297860" y="814389"/>
            <a:ext cx="6634315" cy="9144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2800" b="1" dirty="0">
                <a:solidFill>
                  <a:schemeClr val="tx1"/>
                </a:solidFill>
                <a:latin typeface="Garamond" panose="02020404030301010803" pitchFamily="18" charset="0"/>
              </a:rPr>
              <a:t>SZNS ISO 9001:2015</a:t>
            </a:r>
          </a:p>
          <a:p>
            <a:endParaRPr lang="en-ZA" sz="2800" b="1" dirty="0">
              <a:solidFill>
                <a:schemeClr val="tx1"/>
              </a:solidFill>
              <a:latin typeface="Garamond" panose="02020404030301010803" pitchFamily="18" charset="0"/>
            </a:endParaRPr>
          </a:p>
        </p:txBody>
      </p:sp>
      <p:sp>
        <p:nvSpPr>
          <p:cNvPr id="4" name="Arrow: Pentagon 3">
            <a:extLst>
              <a:ext uri="{FF2B5EF4-FFF2-40B4-BE49-F238E27FC236}">
                <a16:creationId xmlns:a16="http://schemas.microsoft.com/office/drawing/2014/main" id="{892C2602-F296-A7E7-BECA-D6CE0ED7A818}"/>
              </a:ext>
            </a:extLst>
          </p:cNvPr>
          <p:cNvSpPr/>
          <p:nvPr/>
        </p:nvSpPr>
        <p:spPr>
          <a:xfrm>
            <a:off x="1447017" y="1298408"/>
            <a:ext cx="3168000" cy="56131"/>
          </a:xfrm>
          <a:prstGeom prst="homePlate">
            <a:avLst/>
          </a:prstGeom>
          <a:solidFill>
            <a:srgbClr val="004A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Tree>
    <p:extLst>
      <p:ext uri="{BB962C8B-B14F-4D97-AF65-F5344CB8AC3E}">
        <p14:creationId xmlns:p14="http://schemas.microsoft.com/office/powerpoint/2010/main" val="2576113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D2D1C7-6354-CE53-59CE-AD7C20F7081C}"/>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5DAC130F-91F6-8475-AD29-6A8E141B2150}"/>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14093" y="5286619"/>
            <a:ext cx="2456472" cy="1584000"/>
          </a:xfrm>
          <a:prstGeom prst="rect">
            <a:avLst/>
          </a:prstGeom>
        </p:spPr>
      </p:pic>
      <p:sp>
        <p:nvSpPr>
          <p:cNvPr id="10" name="Rectangle 9">
            <a:extLst>
              <a:ext uri="{FF2B5EF4-FFF2-40B4-BE49-F238E27FC236}">
                <a16:creationId xmlns:a16="http://schemas.microsoft.com/office/drawing/2014/main" id="{40783200-5B48-C33B-5CA9-0DEB0CAEFC38}"/>
              </a:ext>
            </a:extLst>
          </p:cNvPr>
          <p:cNvSpPr/>
          <p:nvPr/>
        </p:nvSpPr>
        <p:spPr>
          <a:xfrm>
            <a:off x="1297860" y="814389"/>
            <a:ext cx="6634315" cy="9144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2800" b="1" dirty="0">
                <a:solidFill>
                  <a:schemeClr val="tx1"/>
                </a:solidFill>
                <a:latin typeface="Garamond" panose="02020404030301010803" pitchFamily="18" charset="0"/>
              </a:rPr>
              <a:t>SZNS ISO 45001:2018</a:t>
            </a:r>
          </a:p>
          <a:p>
            <a:endParaRPr lang="en-ZA" sz="2800" b="1" dirty="0">
              <a:solidFill>
                <a:schemeClr val="tx1"/>
              </a:solidFill>
              <a:latin typeface="Garamond" panose="02020404030301010803" pitchFamily="18" charset="0"/>
            </a:endParaRPr>
          </a:p>
        </p:txBody>
      </p:sp>
      <p:pic>
        <p:nvPicPr>
          <p:cNvPr id="12" name="Picture 11">
            <a:extLst>
              <a:ext uri="{FF2B5EF4-FFF2-40B4-BE49-F238E27FC236}">
                <a16:creationId xmlns:a16="http://schemas.microsoft.com/office/drawing/2014/main" id="{4B42838F-7DA9-32DF-3DED-920C340D51B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038"/>
            <a:ext cx="1080000" cy="1080000"/>
          </a:xfrm>
          <a:prstGeom prst="rect">
            <a:avLst/>
          </a:prstGeom>
        </p:spPr>
      </p:pic>
      <p:sp>
        <p:nvSpPr>
          <p:cNvPr id="13" name="Text Box 2">
            <a:extLst>
              <a:ext uri="{FF2B5EF4-FFF2-40B4-BE49-F238E27FC236}">
                <a16:creationId xmlns:a16="http://schemas.microsoft.com/office/drawing/2014/main" id="{2E24F0AB-CE8F-CD9E-462F-5E68A82E2D76}"/>
              </a:ext>
            </a:extLst>
          </p:cNvPr>
          <p:cNvSpPr txBox="1">
            <a:spLocks noChangeArrowheads="1"/>
          </p:cNvSpPr>
          <p:nvPr/>
        </p:nvSpPr>
        <p:spPr bwMode="auto">
          <a:xfrm>
            <a:off x="8927111" y="6550060"/>
            <a:ext cx="2527722" cy="307940"/>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2E3191"/>
                </a:solidFill>
                <a:effectLst/>
                <a:latin typeface="BankGothic Lt BT" panose="020B0607020203060204" pitchFamily="34" charset="0"/>
              </a:rPr>
              <a:t>#ImprovingTheWorldWeLiveIn</a:t>
            </a:r>
            <a:endParaRPr kumimoji="0" lang="en-US" altLang="en-US" sz="1200" b="0" i="0" u="none" strike="noStrike" cap="none" normalizeH="0" baseline="0" dirty="0">
              <a:ln>
                <a:noFill/>
              </a:ln>
              <a:solidFill>
                <a:schemeClr val="tx1"/>
              </a:solidFill>
              <a:effectLst/>
              <a:latin typeface="Arial" panose="020B0604020202020204" pitchFamily="34" charset="0"/>
            </a:endParaRPr>
          </a:p>
        </p:txBody>
      </p:sp>
      <p:pic>
        <p:nvPicPr>
          <p:cNvPr id="14" name="Picture 5" descr="social-media-logos-facebook-twitter-instagram-youtube-flickr-vector-pg-transparent-background-high-resolution-linkedin-googleplus-210299554">
            <a:extLst>
              <a:ext uri="{FF2B5EF4-FFF2-40B4-BE49-F238E27FC236}">
                <a16:creationId xmlns:a16="http://schemas.microsoft.com/office/drawing/2014/main" id="{5492EB31-6431-C640-94D8-912756365C8E}"/>
              </a:ext>
            </a:extLst>
          </p:cNvPr>
          <p:cNvPicPr>
            <a:picLocks noChangeAspect="1" noChangeArrowheads="1"/>
          </p:cNvPicPr>
          <p:nvPr/>
        </p:nvPicPr>
        <p:blipFill>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rcRect l="51178" t="8835" r="39842" b="71758"/>
          <a:stretch>
            <a:fillRect/>
          </a:stretch>
        </p:blipFill>
        <p:spPr bwMode="auto">
          <a:xfrm>
            <a:off x="11587144" y="6622626"/>
            <a:ext cx="177800" cy="184150"/>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pic>
      <p:pic>
        <p:nvPicPr>
          <p:cNvPr id="15" name="Picture 6" descr="social-media-logos-facebook-twitter-instagram-youtube-flickr-vector-pg-transparent-background-high-resolution-linkedin-googleplus-210299554">
            <a:extLst>
              <a:ext uri="{FF2B5EF4-FFF2-40B4-BE49-F238E27FC236}">
                <a16:creationId xmlns:a16="http://schemas.microsoft.com/office/drawing/2014/main" id="{F704F829-E98D-5923-2472-DF0955E0A72F}"/>
              </a:ext>
            </a:extLst>
          </p:cNvPr>
          <p:cNvPicPr>
            <a:picLocks noChangeAspect="1" noChangeArrowheads="1"/>
          </p:cNvPicPr>
          <p:nvPr/>
        </p:nvPicPr>
        <p:blipFill>
          <a:blip r:embed="rId5" cstate="print">
            <a:clrChange>
              <a:clrFrom>
                <a:srgbClr val="FFFFFF"/>
              </a:clrFrom>
              <a:clrTo>
                <a:srgbClr val="FFFFFF">
                  <a:alpha val="0"/>
                </a:srgbClr>
              </a:clrTo>
            </a:clrChange>
            <a:extLst>
              <a:ext uri="{28A0092B-C50C-407E-A947-70E740481C1C}">
                <a14:useLocalDpi xmlns:a14="http://schemas.microsoft.com/office/drawing/2010/main" val="0"/>
              </a:ext>
            </a:extLst>
          </a:blip>
          <a:srcRect l="86784" t="34485" r="4137" b="46553"/>
          <a:stretch>
            <a:fillRect/>
          </a:stretch>
        </p:blipFill>
        <p:spPr bwMode="auto">
          <a:xfrm>
            <a:off x="11828214" y="6622626"/>
            <a:ext cx="184150" cy="184150"/>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pic>
      <p:cxnSp>
        <p:nvCxnSpPr>
          <p:cNvPr id="16" name="Straight Connector 15">
            <a:extLst>
              <a:ext uri="{FF2B5EF4-FFF2-40B4-BE49-F238E27FC236}">
                <a16:creationId xmlns:a16="http://schemas.microsoft.com/office/drawing/2014/main" id="{00106B94-0C5F-74DD-1FE4-188D2DEEF884}"/>
              </a:ext>
            </a:extLst>
          </p:cNvPr>
          <p:cNvCxnSpPr/>
          <p:nvPr/>
        </p:nvCxnSpPr>
        <p:spPr>
          <a:xfrm>
            <a:off x="6690247" y="6674604"/>
            <a:ext cx="2160000" cy="0"/>
          </a:xfrm>
          <a:prstGeom prst="line">
            <a:avLst/>
          </a:prstGeom>
          <a:ln w="28575">
            <a:solidFill>
              <a:srgbClr val="2E3191"/>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AEDC1596-655C-7063-8464-A52B34FC7225}"/>
              </a:ext>
            </a:extLst>
          </p:cNvPr>
          <p:cNvSpPr txBox="1"/>
          <p:nvPr/>
        </p:nvSpPr>
        <p:spPr>
          <a:xfrm>
            <a:off x="175422" y="1511946"/>
            <a:ext cx="7305602" cy="1938992"/>
          </a:xfrm>
          <a:prstGeom prst="rect">
            <a:avLst/>
          </a:prstGeom>
          <a:noFill/>
        </p:spPr>
        <p:txBody>
          <a:bodyPr wrap="square">
            <a:spAutoFit/>
          </a:bodyPr>
          <a:lstStyle/>
          <a:p>
            <a:pPr marL="285750" indent="-285750">
              <a:buFont typeface="Wingdings" panose="05000000000000000000" pitchFamily="2" charset="2"/>
              <a:buChar char="Ø"/>
            </a:pPr>
            <a:r>
              <a:rPr lang="en-GB" sz="1400" dirty="0"/>
              <a:t>SZNS ISO 45001 is an International Standard that outlines the standards for an Occupational Health and Safety (OH&amp;S) Management System, as well as for instructions on how to apply it, in order for an organization’s OH&amp;S performance to be proactive in preventing injury and sickness. The certification is meant to be used by any organization, regardless of its magnitude, category, or nature. </a:t>
            </a:r>
          </a:p>
          <a:p>
            <a:endParaRPr lang="en-GB" sz="800" dirty="0"/>
          </a:p>
          <a:p>
            <a:pPr marL="285750" indent="-285750">
              <a:buFont typeface="Wingdings" panose="05000000000000000000" pitchFamily="2" charset="2"/>
              <a:buChar char="Ø"/>
            </a:pPr>
            <a:r>
              <a:rPr lang="en-GB" sz="1400" dirty="0"/>
              <a:t>SZNS ISO 45001 is a standard for companies who are serious about enhancing employee safety, eliminating workplace risks, and establishing better, safer working conditions. Thousands of people perish each day as a result of avoidable workplace hazards.</a:t>
            </a:r>
            <a:endParaRPr lang="en-GB" sz="1400" b="1" dirty="0"/>
          </a:p>
        </p:txBody>
      </p:sp>
      <p:sp>
        <p:nvSpPr>
          <p:cNvPr id="2" name="Arrow: Pentagon 1">
            <a:extLst>
              <a:ext uri="{FF2B5EF4-FFF2-40B4-BE49-F238E27FC236}">
                <a16:creationId xmlns:a16="http://schemas.microsoft.com/office/drawing/2014/main" id="{333B9556-7FC2-473B-943A-1E35C903F890}"/>
              </a:ext>
            </a:extLst>
          </p:cNvPr>
          <p:cNvSpPr/>
          <p:nvPr/>
        </p:nvSpPr>
        <p:spPr>
          <a:xfrm>
            <a:off x="1447017" y="1298408"/>
            <a:ext cx="3168000" cy="56131"/>
          </a:xfrm>
          <a:prstGeom prst="homePlate">
            <a:avLst/>
          </a:prstGeom>
          <a:solidFill>
            <a:srgbClr val="004A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6" name="TextBox 5">
            <a:extLst>
              <a:ext uri="{FF2B5EF4-FFF2-40B4-BE49-F238E27FC236}">
                <a16:creationId xmlns:a16="http://schemas.microsoft.com/office/drawing/2014/main" id="{69FBDB0D-3321-590B-7490-A39B385AAFA3}"/>
              </a:ext>
            </a:extLst>
          </p:cNvPr>
          <p:cNvSpPr txBox="1"/>
          <p:nvPr/>
        </p:nvSpPr>
        <p:spPr>
          <a:xfrm>
            <a:off x="349946" y="3528774"/>
            <a:ext cx="7131078" cy="1600438"/>
          </a:xfrm>
          <a:prstGeom prst="rect">
            <a:avLst/>
          </a:prstGeom>
          <a:noFill/>
        </p:spPr>
        <p:txBody>
          <a:bodyPr wrap="square">
            <a:spAutoFit/>
          </a:bodyPr>
          <a:lstStyle/>
          <a:p>
            <a:pPr>
              <a:buNone/>
            </a:pPr>
            <a:r>
              <a:rPr lang="en-GB" sz="1400" b="1" i="0" dirty="0">
                <a:solidFill>
                  <a:srgbClr val="30373E"/>
                </a:solidFill>
                <a:effectLst/>
              </a:rPr>
              <a:t>An OH&amp;S management system based on SZNS ISO 45001 will enable an organization to improve its OH&amp;S performance by:</a:t>
            </a:r>
            <a:endParaRPr lang="en-GB" sz="1400" b="0" i="0" dirty="0">
              <a:solidFill>
                <a:srgbClr val="30373E"/>
              </a:solidFill>
              <a:effectLst/>
            </a:endParaRPr>
          </a:p>
          <a:p>
            <a:pPr marL="171450" indent="-171450" algn="just">
              <a:buFont typeface="Wingdings" panose="05000000000000000000" pitchFamily="2" charset="2"/>
              <a:buChar char="ü"/>
            </a:pPr>
            <a:r>
              <a:rPr lang="en-GB" sz="1400" b="0" i="0" dirty="0">
                <a:solidFill>
                  <a:srgbClr val="30373E"/>
                </a:solidFill>
                <a:effectLst/>
              </a:rPr>
              <a:t>Set up checks and balances to ensure legal compliance</a:t>
            </a:r>
          </a:p>
          <a:p>
            <a:pPr marL="171450" indent="-171450" algn="just">
              <a:buFont typeface="Wingdings" panose="05000000000000000000" pitchFamily="2" charset="2"/>
              <a:buChar char="ü"/>
            </a:pPr>
            <a:r>
              <a:rPr lang="en-GB" sz="1400" b="0" i="0" dirty="0">
                <a:solidFill>
                  <a:srgbClr val="30373E"/>
                </a:solidFill>
                <a:effectLst/>
              </a:rPr>
              <a:t>Raise Public Awareness of Health and Safety</a:t>
            </a:r>
          </a:p>
          <a:p>
            <a:pPr marL="171450" indent="-171450" algn="just">
              <a:buFont typeface="Wingdings" panose="05000000000000000000" pitchFamily="2" charset="2"/>
              <a:buChar char="ü"/>
            </a:pPr>
            <a:r>
              <a:rPr lang="en-GB" sz="1400" b="0" i="0" dirty="0">
                <a:solidFill>
                  <a:srgbClr val="30373E"/>
                </a:solidFill>
                <a:effectLst/>
              </a:rPr>
              <a:t>Improve your public image</a:t>
            </a:r>
          </a:p>
          <a:p>
            <a:pPr marL="171450" indent="-171450" algn="just">
              <a:buFont typeface="Wingdings" panose="05000000000000000000" pitchFamily="2" charset="2"/>
              <a:buChar char="ü"/>
            </a:pPr>
            <a:r>
              <a:rPr lang="en-GB" sz="1400" b="0" i="0" dirty="0">
                <a:solidFill>
                  <a:srgbClr val="30373E"/>
                </a:solidFill>
                <a:effectLst/>
              </a:rPr>
              <a:t>Absenteeism should be reduced</a:t>
            </a:r>
          </a:p>
          <a:p>
            <a:pPr marL="171450" indent="-171450" algn="just">
              <a:buFont typeface="Wingdings" panose="05000000000000000000" pitchFamily="2" charset="2"/>
              <a:buChar char="ü"/>
            </a:pPr>
            <a:r>
              <a:rPr lang="en-GB" sz="1400" b="0" i="0" dirty="0">
                <a:solidFill>
                  <a:srgbClr val="30373E"/>
                </a:solidFill>
                <a:effectLst/>
              </a:rPr>
              <a:t>Insurance Premiums Should Be Reduced</a:t>
            </a:r>
          </a:p>
        </p:txBody>
      </p:sp>
      <p:pic>
        <p:nvPicPr>
          <p:cNvPr id="9" name="Picture 8">
            <a:extLst>
              <a:ext uri="{FF2B5EF4-FFF2-40B4-BE49-F238E27FC236}">
                <a16:creationId xmlns:a16="http://schemas.microsoft.com/office/drawing/2014/main" id="{343733D3-AA5E-D0B1-747C-E1AE93350EE3}"/>
              </a:ext>
            </a:extLst>
          </p:cNvPr>
          <p:cNvPicPr>
            <a:picLocks noChangeAspect="1"/>
          </p:cNvPicPr>
          <p:nvPr/>
        </p:nvPicPr>
        <p:blipFill>
          <a:blip r:embed="rId6">
            <a:extLst>
              <a:ext uri="{28A0092B-C50C-407E-A947-70E740481C1C}">
                <a14:useLocalDpi xmlns:a14="http://schemas.microsoft.com/office/drawing/2010/main" val="0"/>
              </a:ext>
            </a:extLst>
          </a:blip>
          <a:srcRect l="10824" t="16768" r="9802" b="3432"/>
          <a:stretch>
            <a:fillRect/>
          </a:stretch>
        </p:blipFill>
        <p:spPr>
          <a:xfrm>
            <a:off x="7433164" y="1632620"/>
            <a:ext cx="4579200" cy="4608000"/>
          </a:xfrm>
          <a:prstGeom prst="rect">
            <a:avLst/>
          </a:prstGeom>
        </p:spPr>
      </p:pic>
      <p:sp>
        <p:nvSpPr>
          <p:cNvPr id="17" name="TextBox 16">
            <a:extLst>
              <a:ext uri="{FF2B5EF4-FFF2-40B4-BE49-F238E27FC236}">
                <a16:creationId xmlns:a16="http://schemas.microsoft.com/office/drawing/2014/main" id="{616E4615-207E-925C-4CA0-9EBF1C353262}"/>
              </a:ext>
            </a:extLst>
          </p:cNvPr>
          <p:cNvSpPr txBox="1"/>
          <p:nvPr/>
        </p:nvSpPr>
        <p:spPr>
          <a:xfrm>
            <a:off x="927749" y="5202457"/>
            <a:ext cx="6100916" cy="738664"/>
          </a:xfrm>
          <a:prstGeom prst="rect">
            <a:avLst/>
          </a:prstGeom>
          <a:noFill/>
        </p:spPr>
        <p:txBody>
          <a:bodyPr wrap="square">
            <a:spAutoFit/>
          </a:bodyPr>
          <a:lstStyle/>
          <a:p>
            <a:pPr marL="171450" indent="-171450" algn="just">
              <a:buFont typeface="Wingdings" panose="05000000000000000000" pitchFamily="2" charset="2"/>
              <a:buChar char="ü"/>
            </a:pPr>
            <a:r>
              <a:rPr lang="en-GB" sz="1400" dirty="0">
                <a:solidFill>
                  <a:srgbClr val="30373E"/>
                </a:solidFill>
              </a:rPr>
              <a:t>Management of H&amp;S Compliance Issues should be improved</a:t>
            </a:r>
            <a:endParaRPr lang="en-GB" sz="1400" b="0" i="0" dirty="0">
              <a:solidFill>
                <a:srgbClr val="30373E"/>
              </a:solidFill>
              <a:effectLst/>
            </a:endParaRPr>
          </a:p>
          <a:p>
            <a:pPr marL="171450" indent="-171450" algn="just">
              <a:buFont typeface="Wingdings" panose="05000000000000000000" pitchFamily="2" charset="2"/>
              <a:buChar char="ü"/>
            </a:pPr>
            <a:r>
              <a:rPr lang="en-GB" sz="1400" b="0" i="0" dirty="0">
                <a:solidFill>
                  <a:srgbClr val="30373E"/>
                </a:solidFill>
                <a:effectLst/>
              </a:rPr>
              <a:t>Improved Health and Safety Risk Management</a:t>
            </a:r>
          </a:p>
          <a:p>
            <a:pPr marL="171450" indent="-171450" algn="just">
              <a:buFont typeface="Wingdings" panose="05000000000000000000" pitchFamily="2" charset="2"/>
              <a:buChar char="ü"/>
            </a:pPr>
            <a:r>
              <a:rPr lang="en-GB" sz="1400" b="0" i="0" dirty="0">
                <a:solidFill>
                  <a:srgbClr val="30373E"/>
                </a:solidFill>
                <a:effectLst/>
              </a:rPr>
              <a:t>Increases the accuracy of danger detection and risk assessment</a:t>
            </a:r>
          </a:p>
        </p:txBody>
      </p:sp>
      <p:sp>
        <p:nvSpPr>
          <p:cNvPr id="19" name="TextBox 18">
            <a:extLst>
              <a:ext uri="{FF2B5EF4-FFF2-40B4-BE49-F238E27FC236}">
                <a16:creationId xmlns:a16="http://schemas.microsoft.com/office/drawing/2014/main" id="{DF25D411-A1C4-9119-7EFD-3F8A236AB937}"/>
              </a:ext>
            </a:extLst>
          </p:cNvPr>
          <p:cNvSpPr txBox="1"/>
          <p:nvPr/>
        </p:nvSpPr>
        <p:spPr>
          <a:xfrm>
            <a:off x="1831259" y="5944392"/>
            <a:ext cx="6100916" cy="738664"/>
          </a:xfrm>
          <a:prstGeom prst="rect">
            <a:avLst/>
          </a:prstGeom>
          <a:noFill/>
        </p:spPr>
        <p:txBody>
          <a:bodyPr wrap="square">
            <a:spAutoFit/>
          </a:bodyPr>
          <a:lstStyle/>
          <a:p>
            <a:pPr marL="171450" indent="-171450" algn="just">
              <a:buFont typeface="Wingdings" panose="05000000000000000000" pitchFamily="2" charset="2"/>
              <a:buChar char="ü"/>
            </a:pPr>
            <a:r>
              <a:rPr lang="en-GB" sz="1400" b="0" i="0" dirty="0">
                <a:solidFill>
                  <a:srgbClr val="30373E"/>
                </a:solidFill>
                <a:effectLst/>
              </a:rPr>
              <a:t>Reduces downtime, overall expenses of workplace events, and the number of claims for insurance premiums</a:t>
            </a:r>
          </a:p>
          <a:p>
            <a:pPr marL="171450" indent="-171450" algn="just">
              <a:buFont typeface="Wingdings" panose="05000000000000000000" pitchFamily="2" charset="2"/>
              <a:buChar char="ü"/>
            </a:pPr>
            <a:r>
              <a:rPr lang="en-GB" sz="1400" b="0" i="0" dirty="0">
                <a:solidFill>
                  <a:srgbClr val="30373E"/>
                </a:solidFill>
                <a:effectLst/>
              </a:rPr>
              <a:t>Enhances leadership involvement as well as worker participation.</a:t>
            </a:r>
          </a:p>
        </p:txBody>
      </p:sp>
    </p:spTree>
    <p:extLst>
      <p:ext uri="{BB962C8B-B14F-4D97-AF65-F5344CB8AC3E}">
        <p14:creationId xmlns:p14="http://schemas.microsoft.com/office/powerpoint/2010/main" val="17079258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FF7D217-E4DB-0FA9-D129-B269908495AD}"/>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14093" y="5286619"/>
            <a:ext cx="2456472" cy="1584000"/>
          </a:xfrm>
          <a:prstGeom prst="rect">
            <a:avLst/>
          </a:prstGeom>
        </p:spPr>
      </p:pic>
      <p:sp>
        <p:nvSpPr>
          <p:cNvPr id="9" name="TextBox 8">
            <a:extLst>
              <a:ext uri="{FF2B5EF4-FFF2-40B4-BE49-F238E27FC236}">
                <a16:creationId xmlns:a16="http://schemas.microsoft.com/office/drawing/2014/main" id="{C8AA8837-A831-56D2-D680-0BED9E6CD0DF}"/>
              </a:ext>
            </a:extLst>
          </p:cNvPr>
          <p:cNvSpPr txBox="1"/>
          <p:nvPr/>
        </p:nvSpPr>
        <p:spPr>
          <a:xfrm>
            <a:off x="136095" y="1524495"/>
            <a:ext cx="8129191" cy="4775859"/>
          </a:xfrm>
          <a:prstGeom prst="rect">
            <a:avLst/>
          </a:prstGeom>
          <a:noFill/>
        </p:spPr>
        <p:txBody>
          <a:bodyPr wrap="square">
            <a:spAutoFit/>
          </a:bodyPr>
          <a:lstStyle/>
          <a:p>
            <a:pPr>
              <a:lnSpc>
                <a:spcPct val="119000"/>
              </a:lnSpc>
              <a:spcAft>
                <a:spcPts val="800"/>
              </a:spcAft>
            </a:pPr>
            <a:r>
              <a:rPr lang="en-GB" sz="1400" dirty="0"/>
              <a:t>The implementation of a HACCP system to identify hazards and establish control measures for food safety, with SZNS ISO 22000 providing the overall framework for your entire food safety management system. SZNS </a:t>
            </a:r>
            <a:r>
              <a:rPr lang="en-ZA" sz="1400" dirty="0"/>
              <a:t>ISO 22000 is a globally recognised standard for Food Safety Management Systems (FSMS) that can be applied to any industry in the food chain, as it provides a systematic framework for identifying, preventing, and controlling food safety hazards. </a:t>
            </a:r>
            <a:r>
              <a:rPr lang="en-GB" sz="1400" dirty="0"/>
              <a:t>It integrates HACCP principles into a broader, management-focused system, covering the entire food chain from the farm to the consumer. </a:t>
            </a:r>
            <a:endParaRPr lang="en-ZA" sz="1400" dirty="0"/>
          </a:p>
          <a:p>
            <a:r>
              <a:rPr lang="en-GB" sz="1400" u="sng" dirty="0"/>
              <a:t>Benefits:</a:t>
            </a:r>
          </a:p>
          <a:p>
            <a:endParaRPr lang="en-GB" sz="1400" u="sng" dirty="0"/>
          </a:p>
          <a:p>
            <a:pPr marL="285750" indent="-285750">
              <a:buFont typeface="Wingdings" panose="05000000000000000000" pitchFamily="2" charset="2"/>
              <a:buChar char="ü"/>
            </a:pPr>
            <a:r>
              <a:rPr lang="en-GB" sz="1400" b="1" dirty="0"/>
              <a:t>Ensures Food Safety: </a:t>
            </a:r>
            <a:r>
              <a:rPr lang="en-GB" sz="1400" dirty="0"/>
              <a:t>It helps identify and control hazards, leading to safer products for consumers. </a:t>
            </a:r>
          </a:p>
          <a:p>
            <a:pPr marL="285750" indent="-285750">
              <a:buFont typeface="Wingdings" panose="05000000000000000000" pitchFamily="2" charset="2"/>
              <a:buChar char="ü"/>
            </a:pPr>
            <a:r>
              <a:rPr lang="en-GB" sz="1400" b="1" dirty="0"/>
              <a:t>Enhances Traceability: </a:t>
            </a:r>
            <a:r>
              <a:rPr lang="en-GB" sz="1400" dirty="0"/>
              <a:t>The system requires documentation and records, which help in accounting for all stages of production and improving traceability. </a:t>
            </a:r>
          </a:p>
          <a:p>
            <a:pPr marL="285750" indent="-285750">
              <a:buFont typeface="Wingdings" panose="05000000000000000000" pitchFamily="2" charset="2"/>
              <a:buChar char="ü"/>
            </a:pPr>
            <a:r>
              <a:rPr lang="en-GB" sz="1400" b="1" dirty="0"/>
              <a:t>Boosts Marketability: </a:t>
            </a:r>
            <a:r>
              <a:rPr lang="en-GB" sz="1400" dirty="0"/>
              <a:t>Certification can increase market access, particularly for export, as it demonstrates adherence to international food safety standards. </a:t>
            </a:r>
          </a:p>
          <a:p>
            <a:pPr marL="285750" indent="-285750">
              <a:buFont typeface="Wingdings" panose="05000000000000000000" pitchFamily="2" charset="2"/>
              <a:buChar char="ü"/>
            </a:pPr>
            <a:r>
              <a:rPr lang="en-GB" sz="1400" b="1" dirty="0"/>
              <a:t>Improves Overall Performance: </a:t>
            </a:r>
            <a:r>
              <a:rPr lang="en-GB" sz="1400" dirty="0"/>
              <a:t>A systematic approach to food safety leads to better performance and a more robust management system. </a:t>
            </a:r>
          </a:p>
          <a:p>
            <a:pPr marL="285750" indent="-285750">
              <a:buFont typeface="Wingdings" panose="05000000000000000000" pitchFamily="2" charset="2"/>
              <a:buChar char="ü"/>
            </a:pPr>
            <a:r>
              <a:rPr lang="en-GB" sz="1400" b="1" dirty="0"/>
              <a:t>Ongoing Compliance: </a:t>
            </a:r>
            <a:r>
              <a:rPr lang="en-GB" sz="1400" dirty="0"/>
              <a:t>Periodic audits to ensure continued adherence to the SZNS ISO 22000 standard. </a:t>
            </a:r>
          </a:p>
          <a:p>
            <a:pPr lvl="0"/>
            <a:endParaRPr lang="en-ZA" sz="1400" dirty="0"/>
          </a:p>
          <a:p>
            <a:pPr>
              <a:lnSpc>
                <a:spcPct val="119000"/>
              </a:lnSpc>
              <a:spcAft>
                <a:spcPts val="800"/>
              </a:spcAft>
            </a:pPr>
            <a:endParaRPr lang="en-GB" sz="1400" b="1" kern="1200" dirty="0">
              <a:ln>
                <a:noFill/>
              </a:ln>
              <a:solidFill>
                <a:srgbClr val="000000"/>
              </a:solidFill>
              <a:effectLst/>
            </a:endParaRPr>
          </a:p>
        </p:txBody>
      </p:sp>
      <p:pic>
        <p:nvPicPr>
          <p:cNvPr id="12" name="Picture 11">
            <a:extLst>
              <a:ext uri="{FF2B5EF4-FFF2-40B4-BE49-F238E27FC236}">
                <a16:creationId xmlns:a16="http://schemas.microsoft.com/office/drawing/2014/main" id="{7A9D6754-6E44-178E-F117-A6F8DC64481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2038"/>
            <a:ext cx="1080000" cy="1080000"/>
          </a:xfrm>
          <a:prstGeom prst="rect">
            <a:avLst/>
          </a:prstGeom>
        </p:spPr>
      </p:pic>
      <p:sp>
        <p:nvSpPr>
          <p:cNvPr id="13" name="Text Box 2">
            <a:extLst>
              <a:ext uri="{FF2B5EF4-FFF2-40B4-BE49-F238E27FC236}">
                <a16:creationId xmlns:a16="http://schemas.microsoft.com/office/drawing/2014/main" id="{F4051E15-DFBD-E3F6-C59F-DBFFA158FAB7}"/>
              </a:ext>
            </a:extLst>
          </p:cNvPr>
          <p:cNvSpPr txBox="1">
            <a:spLocks noChangeArrowheads="1"/>
          </p:cNvSpPr>
          <p:nvPr/>
        </p:nvSpPr>
        <p:spPr bwMode="auto">
          <a:xfrm>
            <a:off x="8927111" y="6550060"/>
            <a:ext cx="2527722" cy="307940"/>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2E3191"/>
                </a:solidFill>
                <a:effectLst/>
                <a:latin typeface="BankGothic Lt BT" panose="020B0607020203060204" pitchFamily="34" charset="0"/>
              </a:rPr>
              <a:t>#ImprovingTheWorldWeLiveIn</a:t>
            </a:r>
            <a:endParaRPr kumimoji="0" lang="en-US" altLang="en-US" sz="1200" b="0" i="0" u="none" strike="noStrike" cap="none" normalizeH="0" baseline="0" dirty="0">
              <a:ln>
                <a:noFill/>
              </a:ln>
              <a:solidFill>
                <a:schemeClr val="tx1"/>
              </a:solidFill>
              <a:effectLst/>
              <a:latin typeface="Arial" panose="020B0604020202020204" pitchFamily="34" charset="0"/>
            </a:endParaRPr>
          </a:p>
        </p:txBody>
      </p:sp>
      <p:pic>
        <p:nvPicPr>
          <p:cNvPr id="14" name="Picture 5" descr="social-media-logos-facebook-twitter-instagram-youtube-flickr-vector-pg-transparent-background-high-resolution-linkedin-googleplus-210299554">
            <a:extLst>
              <a:ext uri="{FF2B5EF4-FFF2-40B4-BE49-F238E27FC236}">
                <a16:creationId xmlns:a16="http://schemas.microsoft.com/office/drawing/2014/main" id="{FD0A52D9-1AA3-D25A-5BAC-E3AC10C9B751}"/>
              </a:ext>
            </a:extLst>
          </p:cNvPr>
          <p:cNvPicPr>
            <a:picLocks noChangeAspect="1" noChangeArrowheads="1"/>
          </p:cNvPicPr>
          <p:nvPr/>
        </p:nvPicPr>
        <p:blipFill>
          <a:blip r:embed="rId5" cstate="print">
            <a:clrChange>
              <a:clrFrom>
                <a:srgbClr val="FFFFFF"/>
              </a:clrFrom>
              <a:clrTo>
                <a:srgbClr val="FFFFFF">
                  <a:alpha val="0"/>
                </a:srgbClr>
              </a:clrTo>
            </a:clrChange>
            <a:extLst>
              <a:ext uri="{28A0092B-C50C-407E-A947-70E740481C1C}">
                <a14:useLocalDpi xmlns:a14="http://schemas.microsoft.com/office/drawing/2010/main" val="0"/>
              </a:ext>
            </a:extLst>
          </a:blip>
          <a:srcRect l="51178" t="8835" r="39842" b="71758"/>
          <a:stretch>
            <a:fillRect/>
          </a:stretch>
        </p:blipFill>
        <p:spPr bwMode="auto">
          <a:xfrm>
            <a:off x="11587144" y="6622626"/>
            <a:ext cx="177800" cy="184150"/>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pic>
      <p:pic>
        <p:nvPicPr>
          <p:cNvPr id="15" name="Picture 6" descr="social-media-logos-facebook-twitter-instagram-youtube-flickr-vector-pg-transparent-background-high-resolution-linkedin-googleplus-210299554">
            <a:extLst>
              <a:ext uri="{FF2B5EF4-FFF2-40B4-BE49-F238E27FC236}">
                <a16:creationId xmlns:a16="http://schemas.microsoft.com/office/drawing/2014/main" id="{79BCB802-95DE-E5BB-788E-134C08F2DA5C}"/>
              </a:ext>
            </a:extLst>
          </p:cNvPr>
          <p:cNvPicPr>
            <a:picLocks noChangeAspect="1" noChangeArrowheads="1"/>
          </p:cNvPicPr>
          <p:nvPr/>
        </p:nvPicPr>
        <p:blipFill>
          <a:blip r:embed="rId6" cstate="print">
            <a:clrChange>
              <a:clrFrom>
                <a:srgbClr val="FFFFFF"/>
              </a:clrFrom>
              <a:clrTo>
                <a:srgbClr val="FFFFFF">
                  <a:alpha val="0"/>
                </a:srgbClr>
              </a:clrTo>
            </a:clrChange>
            <a:extLst>
              <a:ext uri="{28A0092B-C50C-407E-A947-70E740481C1C}">
                <a14:useLocalDpi xmlns:a14="http://schemas.microsoft.com/office/drawing/2010/main" val="0"/>
              </a:ext>
            </a:extLst>
          </a:blip>
          <a:srcRect l="86784" t="34485" r="4137" b="46553"/>
          <a:stretch>
            <a:fillRect/>
          </a:stretch>
        </p:blipFill>
        <p:spPr bwMode="auto">
          <a:xfrm>
            <a:off x="11828214" y="6622626"/>
            <a:ext cx="184150" cy="184150"/>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pic>
      <p:cxnSp>
        <p:nvCxnSpPr>
          <p:cNvPr id="16" name="Straight Connector 15">
            <a:extLst>
              <a:ext uri="{FF2B5EF4-FFF2-40B4-BE49-F238E27FC236}">
                <a16:creationId xmlns:a16="http://schemas.microsoft.com/office/drawing/2014/main" id="{A71376F0-C601-CFC5-E82D-BB474EA08F5F}"/>
              </a:ext>
            </a:extLst>
          </p:cNvPr>
          <p:cNvCxnSpPr/>
          <p:nvPr/>
        </p:nvCxnSpPr>
        <p:spPr>
          <a:xfrm>
            <a:off x="6690247" y="6674604"/>
            <a:ext cx="2160000" cy="0"/>
          </a:xfrm>
          <a:prstGeom prst="line">
            <a:avLst/>
          </a:prstGeom>
          <a:ln w="28575">
            <a:solidFill>
              <a:srgbClr val="2E3191"/>
            </a:solidFill>
          </a:ln>
        </p:spPr>
        <p:style>
          <a:lnRef idx="1">
            <a:schemeClr val="accent1"/>
          </a:lnRef>
          <a:fillRef idx="0">
            <a:schemeClr val="accent1"/>
          </a:fillRef>
          <a:effectRef idx="0">
            <a:schemeClr val="accent1"/>
          </a:effectRef>
          <a:fontRef idx="minor">
            <a:schemeClr val="tx1"/>
          </a:fontRef>
        </p:style>
      </p:cxnSp>
      <p:pic>
        <p:nvPicPr>
          <p:cNvPr id="4" name="Picture 3" descr="A group of people in blue uniforms&#10;&#10;AI-generated content may be incorrect.">
            <a:extLst>
              <a:ext uri="{FF2B5EF4-FFF2-40B4-BE49-F238E27FC236}">
                <a16:creationId xmlns:a16="http://schemas.microsoft.com/office/drawing/2014/main" id="{681CE06F-DA0C-516D-3362-57DA29E8AB2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434751" y="1378472"/>
            <a:ext cx="3241293" cy="2160000"/>
          </a:xfrm>
          <a:prstGeom prst="rect">
            <a:avLst/>
          </a:prstGeom>
        </p:spPr>
      </p:pic>
      <p:sp>
        <p:nvSpPr>
          <p:cNvPr id="2" name="Arrow: Pentagon 1">
            <a:extLst>
              <a:ext uri="{FF2B5EF4-FFF2-40B4-BE49-F238E27FC236}">
                <a16:creationId xmlns:a16="http://schemas.microsoft.com/office/drawing/2014/main" id="{E604DDF1-4F2F-0A5C-0D1C-65680E55AFC6}"/>
              </a:ext>
            </a:extLst>
          </p:cNvPr>
          <p:cNvSpPr/>
          <p:nvPr/>
        </p:nvSpPr>
        <p:spPr>
          <a:xfrm>
            <a:off x="1447017" y="1298408"/>
            <a:ext cx="3168000" cy="56131"/>
          </a:xfrm>
          <a:prstGeom prst="homePlate">
            <a:avLst/>
          </a:prstGeom>
          <a:solidFill>
            <a:srgbClr val="004A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3" name="Rectangle 2">
            <a:extLst>
              <a:ext uri="{FF2B5EF4-FFF2-40B4-BE49-F238E27FC236}">
                <a16:creationId xmlns:a16="http://schemas.microsoft.com/office/drawing/2014/main" id="{38963617-9D93-9449-7B41-814B631A7D1E}"/>
              </a:ext>
            </a:extLst>
          </p:cNvPr>
          <p:cNvSpPr/>
          <p:nvPr/>
        </p:nvSpPr>
        <p:spPr>
          <a:xfrm>
            <a:off x="1297860" y="814389"/>
            <a:ext cx="6634315" cy="9144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2800" b="1" dirty="0">
                <a:solidFill>
                  <a:schemeClr val="tx1"/>
                </a:solidFill>
                <a:latin typeface="Garamond" panose="02020404030301010803" pitchFamily="18" charset="0"/>
              </a:rPr>
              <a:t>SZNS ISO 22000:2018</a:t>
            </a:r>
          </a:p>
          <a:p>
            <a:endParaRPr lang="en-ZA" sz="2800" b="1" dirty="0">
              <a:solidFill>
                <a:schemeClr val="tx1"/>
              </a:solidFill>
              <a:latin typeface="Garamond" panose="02020404030301010803" pitchFamily="18" charset="0"/>
            </a:endParaRPr>
          </a:p>
        </p:txBody>
      </p:sp>
      <p:pic>
        <p:nvPicPr>
          <p:cNvPr id="5" name="Picture 4">
            <a:extLst>
              <a:ext uri="{FF2B5EF4-FFF2-40B4-BE49-F238E27FC236}">
                <a16:creationId xmlns:a16="http://schemas.microsoft.com/office/drawing/2014/main" id="{7471D60A-8B59-444D-E0DB-62A3078D2B72}"/>
              </a:ext>
            </a:extLst>
          </p:cNvPr>
          <p:cNvPicPr>
            <a:picLocks noChangeAspect="1"/>
          </p:cNvPicPr>
          <p:nvPr/>
        </p:nvPicPr>
        <p:blipFill>
          <a:blip r:embed="rId8"/>
          <a:srcRect b="22460"/>
          <a:stretch>
            <a:fillRect/>
          </a:stretch>
        </p:blipFill>
        <p:spPr>
          <a:xfrm>
            <a:off x="8265286" y="3838549"/>
            <a:ext cx="3790619" cy="2484000"/>
          </a:xfrm>
          <a:prstGeom prst="rect">
            <a:avLst/>
          </a:prstGeom>
        </p:spPr>
      </p:pic>
    </p:spTree>
    <p:extLst>
      <p:ext uri="{BB962C8B-B14F-4D97-AF65-F5344CB8AC3E}">
        <p14:creationId xmlns:p14="http://schemas.microsoft.com/office/powerpoint/2010/main" val="25137493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97953E-03FE-F77E-D21F-DBD2BCE7A2DD}"/>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0AC4F9C8-C95A-C680-B772-9B1AAA844ECC}"/>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14093" y="5286619"/>
            <a:ext cx="2456472" cy="1584000"/>
          </a:xfrm>
          <a:prstGeom prst="rect">
            <a:avLst/>
          </a:prstGeom>
        </p:spPr>
      </p:pic>
      <p:pic>
        <p:nvPicPr>
          <p:cNvPr id="12" name="Picture 11">
            <a:extLst>
              <a:ext uri="{FF2B5EF4-FFF2-40B4-BE49-F238E27FC236}">
                <a16:creationId xmlns:a16="http://schemas.microsoft.com/office/drawing/2014/main" id="{A97848AC-C204-BE1B-8449-B097D9C82CF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2038"/>
            <a:ext cx="1080000" cy="1080000"/>
          </a:xfrm>
          <a:prstGeom prst="rect">
            <a:avLst/>
          </a:prstGeom>
        </p:spPr>
      </p:pic>
      <p:sp>
        <p:nvSpPr>
          <p:cNvPr id="13" name="Text Box 2">
            <a:extLst>
              <a:ext uri="{FF2B5EF4-FFF2-40B4-BE49-F238E27FC236}">
                <a16:creationId xmlns:a16="http://schemas.microsoft.com/office/drawing/2014/main" id="{74D74355-E37D-D21D-C2C4-5672B9A5EF8E}"/>
              </a:ext>
            </a:extLst>
          </p:cNvPr>
          <p:cNvSpPr txBox="1">
            <a:spLocks noChangeArrowheads="1"/>
          </p:cNvSpPr>
          <p:nvPr/>
        </p:nvSpPr>
        <p:spPr bwMode="auto">
          <a:xfrm>
            <a:off x="8927111" y="6550060"/>
            <a:ext cx="2527722" cy="307940"/>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2E3191"/>
                </a:solidFill>
                <a:effectLst/>
                <a:latin typeface="BankGothic Lt BT" panose="020B0607020203060204" pitchFamily="34" charset="0"/>
              </a:rPr>
              <a:t>#ImprovingTheWorldWeLiveIn</a:t>
            </a:r>
            <a:endParaRPr kumimoji="0" lang="en-US" altLang="en-US" sz="1200" b="0" i="0" u="none" strike="noStrike" cap="none" normalizeH="0" baseline="0" dirty="0">
              <a:ln>
                <a:noFill/>
              </a:ln>
              <a:solidFill>
                <a:schemeClr val="tx1"/>
              </a:solidFill>
              <a:effectLst/>
              <a:latin typeface="Arial" panose="020B0604020202020204" pitchFamily="34" charset="0"/>
            </a:endParaRPr>
          </a:p>
        </p:txBody>
      </p:sp>
      <p:pic>
        <p:nvPicPr>
          <p:cNvPr id="14" name="Picture 5" descr="social-media-logos-facebook-twitter-instagram-youtube-flickr-vector-pg-transparent-background-high-resolution-linkedin-googleplus-210299554">
            <a:extLst>
              <a:ext uri="{FF2B5EF4-FFF2-40B4-BE49-F238E27FC236}">
                <a16:creationId xmlns:a16="http://schemas.microsoft.com/office/drawing/2014/main" id="{4510BDA0-29F1-0763-9522-CC48D1B0671D}"/>
              </a:ext>
            </a:extLst>
          </p:cNvPr>
          <p:cNvPicPr>
            <a:picLocks noChangeAspect="1" noChangeArrowheads="1"/>
          </p:cNvPicPr>
          <p:nvPr/>
        </p:nvPicPr>
        <p:blipFill>
          <a:blip r:embed="rId5" cstate="print">
            <a:clrChange>
              <a:clrFrom>
                <a:srgbClr val="FFFFFF"/>
              </a:clrFrom>
              <a:clrTo>
                <a:srgbClr val="FFFFFF">
                  <a:alpha val="0"/>
                </a:srgbClr>
              </a:clrTo>
            </a:clrChange>
            <a:extLst>
              <a:ext uri="{28A0092B-C50C-407E-A947-70E740481C1C}">
                <a14:useLocalDpi xmlns:a14="http://schemas.microsoft.com/office/drawing/2010/main" val="0"/>
              </a:ext>
            </a:extLst>
          </a:blip>
          <a:srcRect l="51178" t="8835" r="39842" b="71758"/>
          <a:stretch>
            <a:fillRect/>
          </a:stretch>
        </p:blipFill>
        <p:spPr bwMode="auto">
          <a:xfrm>
            <a:off x="11587144" y="6622626"/>
            <a:ext cx="177800" cy="184150"/>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pic>
      <p:pic>
        <p:nvPicPr>
          <p:cNvPr id="15" name="Picture 6" descr="social-media-logos-facebook-twitter-instagram-youtube-flickr-vector-pg-transparent-background-high-resolution-linkedin-googleplus-210299554">
            <a:extLst>
              <a:ext uri="{FF2B5EF4-FFF2-40B4-BE49-F238E27FC236}">
                <a16:creationId xmlns:a16="http://schemas.microsoft.com/office/drawing/2014/main" id="{72156B24-23C4-3DE7-4224-A3A41499C30C}"/>
              </a:ext>
            </a:extLst>
          </p:cNvPr>
          <p:cNvPicPr>
            <a:picLocks noChangeAspect="1" noChangeArrowheads="1"/>
          </p:cNvPicPr>
          <p:nvPr/>
        </p:nvPicPr>
        <p:blipFill>
          <a:blip r:embed="rId6" cstate="print">
            <a:clrChange>
              <a:clrFrom>
                <a:srgbClr val="FFFFFF"/>
              </a:clrFrom>
              <a:clrTo>
                <a:srgbClr val="FFFFFF">
                  <a:alpha val="0"/>
                </a:srgbClr>
              </a:clrTo>
            </a:clrChange>
            <a:extLst>
              <a:ext uri="{28A0092B-C50C-407E-A947-70E740481C1C}">
                <a14:useLocalDpi xmlns:a14="http://schemas.microsoft.com/office/drawing/2010/main" val="0"/>
              </a:ext>
            </a:extLst>
          </a:blip>
          <a:srcRect l="86784" t="34485" r="4137" b="46553"/>
          <a:stretch>
            <a:fillRect/>
          </a:stretch>
        </p:blipFill>
        <p:spPr bwMode="auto">
          <a:xfrm>
            <a:off x="11828214" y="6622626"/>
            <a:ext cx="184150" cy="184150"/>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pic>
      <p:cxnSp>
        <p:nvCxnSpPr>
          <p:cNvPr id="16" name="Straight Connector 15">
            <a:extLst>
              <a:ext uri="{FF2B5EF4-FFF2-40B4-BE49-F238E27FC236}">
                <a16:creationId xmlns:a16="http://schemas.microsoft.com/office/drawing/2014/main" id="{32E84797-9EFF-260B-A160-9E2A9BC80339}"/>
              </a:ext>
            </a:extLst>
          </p:cNvPr>
          <p:cNvCxnSpPr/>
          <p:nvPr/>
        </p:nvCxnSpPr>
        <p:spPr>
          <a:xfrm>
            <a:off x="6690247" y="6674604"/>
            <a:ext cx="2160000" cy="0"/>
          </a:xfrm>
          <a:prstGeom prst="line">
            <a:avLst/>
          </a:prstGeom>
          <a:ln w="28575">
            <a:solidFill>
              <a:srgbClr val="2E3191"/>
            </a:solidFill>
          </a:ln>
        </p:spPr>
        <p:style>
          <a:lnRef idx="1">
            <a:schemeClr val="accent1"/>
          </a:lnRef>
          <a:fillRef idx="0">
            <a:schemeClr val="accent1"/>
          </a:fillRef>
          <a:effectRef idx="0">
            <a:schemeClr val="accent1"/>
          </a:effectRef>
          <a:fontRef idx="minor">
            <a:schemeClr val="tx1"/>
          </a:fontRef>
        </p:style>
      </p:cxnSp>
      <p:pic>
        <p:nvPicPr>
          <p:cNvPr id="6" name="Picture 5" descr="A person holding a plant with dirt in their hands&#10;&#10;AI-generated content may be incorrect.">
            <a:extLst>
              <a:ext uri="{FF2B5EF4-FFF2-40B4-BE49-F238E27FC236}">
                <a16:creationId xmlns:a16="http://schemas.microsoft.com/office/drawing/2014/main" id="{7C3847DA-6EB0-1CAC-4A64-A89E70ECAB7A}"/>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310206" y="4133650"/>
            <a:ext cx="2702158" cy="1800000"/>
          </a:xfrm>
          <a:prstGeom prst="rect">
            <a:avLst/>
          </a:prstGeom>
        </p:spPr>
      </p:pic>
      <p:sp>
        <p:nvSpPr>
          <p:cNvPr id="2" name="Arrow: Pentagon 1">
            <a:extLst>
              <a:ext uri="{FF2B5EF4-FFF2-40B4-BE49-F238E27FC236}">
                <a16:creationId xmlns:a16="http://schemas.microsoft.com/office/drawing/2014/main" id="{7E4636CD-2671-2AD2-87BB-D7E47A205B8D}"/>
              </a:ext>
            </a:extLst>
          </p:cNvPr>
          <p:cNvSpPr/>
          <p:nvPr/>
        </p:nvSpPr>
        <p:spPr>
          <a:xfrm>
            <a:off x="1447017" y="1298408"/>
            <a:ext cx="3168000" cy="56131"/>
          </a:xfrm>
          <a:prstGeom prst="homePlate">
            <a:avLst/>
          </a:prstGeom>
          <a:solidFill>
            <a:srgbClr val="004A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3" name="Rectangle 2">
            <a:extLst>
              <a:ext uri="{FF2B5EF4-FFF2-40B4-BE49-F238E27FC236}">
                <a16:creationId xmlns:a16="http://schemas.microsoft.com/office/drawing/2014/main" id="{DEA4A60F-6D86-2A02-619E-A4AA4E9CFF1F}"/>
              </a:ext>
            </a:extLst>
          </p:cNvPr>
          <p:cNvSpPr/>
          <p:nvPr/>
        </p:nvSpPr>
        <p:spPr>
          <a:xfrm>
            <a:off x="1297860" y="814389"/>
            <a:ext cx="6634315" cy="9144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2800" b="1" dirty="0">
                <a:solidFill>
                  <a:schemeClr val="tx1"/>
                </a:solidFill>
                <a:latin typeface="Garamond" panose="02020404030301010803" pitchFamily="18" charset="0"/>
              </a:rPr>
              <a:t>SZNS ISO 14001:2015</a:t>
            </a:r>
          </a:p>
          <a:p>
            <a:endParaRPr lang="en-ZA" sz="2800" b="1" dirty="0">
              <a:solidFill>
                <a:schemeClr val="tx1"/>
              </a:solidFill>
              <a:latin typeface="Garamond" panose="02020404030301010803" pitchFamily="18" charset="0"/>
            </a:endParaRPr>
          </a:p>
        </p:txBody>
      </p:sp>
      <p:sp>
        <p:nvSpPr>
          <p:cNvPr id="19" name="Rectangle 18">
            <a:extLst>
              <a:ext uri="{FF2B5EF4-FFF2-40B4-BE49-F238E27FC236}">
                <a16:creationId xmlns:a16="http://schemas.microsoft.com/office/drawing/2014/main" id="{E59A864B-5E94-682F-5C9A-256E3E770180}"/>
              </a:ext>
            </a:extLst>
          </p:cNvPr>
          <p:cNvSpPr/>
          <p:nvPr/>
        </p:nvSpPr>
        <p:spPr>
          <a:xfrm>
            <a:off x="0" y="5168899"/>
            <a:ext cx="2909693" cy="158399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8" name="TextBox 7">
            <a:extLst>
              <a:ext uri="{FF2B5EF4-FFF2-40B4-BE49-F238E27FC236}">
                <a16:creationId xmlns:a16="http://schemas.microsoft.com/office/drawing/2014/main" id="{FD1F2D86-3551-C4D7-2CCA-29A6D30E4A7B}"/>
              </a:ext>
            </a:extLst>
          </p:cNvPr>
          <p:cNvSpPr txBox="1"/>
          <p:nvPr/>
        </p:nvSpPr>
        <p:spPr>
          <a:xfrm>
            <a:off x="23052" y="1386519"/>
            <a:ext cx="9066580" cy="5494261"/>
          </a:xfrm>
          <a:prstGeom prst="rect">
            <a:avLst/>
          </a:prstGeom>
          <a:noFill/>
        </p:spPr>
        <p:txBody>
          <a:bodyPr wrap="square">
            <a:spAutoFit/>
          </a:bodyPr>
          <a:lstStyle/>
          <a:p>
            <a:pPr>
              <a:lnSpc>
                <a:spcPct val="107000"/>
              </a:lnSpc>
              <a:spcAft>
                <a:spcPts val="800"/>
              </a:spcAft>
              <a:buNone/>
            </a:pPr>
            <a:r>
              <a:rPr lang="en-ZA" sz="1300" b="1" kern="100" dirty="0">
                <a:effectLst/>
                <a:latin typeface="Aptos" panose="020B0004020202020204" pitchFamily="34" charset="0"/>
                <a:ea typeface="Aptos" panose="020B0004020202020204" pitchFamily="34" charset="0"/>
                <a:cs typeface="Times New Roman" panose="02020603050405020304" pitchFamily="18" charset="0"/>
              </a:rPr>
              <a:t>SZNS ISO 14001 certification offers numerous advantages, including improved environmental performance (reduced waste and pollution), significant cost savings through increased efficiency, easier regulatory compliance, enhanced reputation, increased stakeholder trust, and competitive advantages. It enables firms to enter new markets by showing their commitment to sustainability through a systematic Environmental Management System (EMS). It promotes operational excellence through continuous improvement and increases employee engagement by linking values to positive outcomes.</a:t>
            </a:r>
            <a:endParaRPr lang="en-ZA" sz="1300" b="1" kern="100" dirty="0">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buNone/>
            </a:pPr>
            <a:endParaRPr lang="en-ZA" sz="4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buNone/>
            </a:pPr>
            <a:r>
              <a:rPr lang="en-ZA" sz="1300" b="1" kern="100" dirty="0">
                <a:effectLst/>
                <a:latin typeface="Aptos" panose="020B0004020202020204" pitchFamily="34" charset="0"/>
                <a:ea typeface="Aptos" panose="020B0004020202020204" pitchFamily="34" charset="0"/>
                <a:cs typeface="Times New Roman" panose="02020603050405020304" pitchFamily="18" charset="0"/>
              </a:rPr>
              <a:t>Key Benefits of SZNS ISO 14001 Certification:</a:t>
            </a:r>
            <a:endParaRPr lang="en-ZA" sz="1300" kern="100" dirty="0">
              <a:effectLst/>
              <a:latin typeface="Aptos" panose="020B0004020202020204" pitchFamily="34" charset="0"/>
              <a:ea typeface="Aptos" panose="020B0004020202020204" pitchFamily="34" charset="0"/>
              <a:cs typeface="Times New Roman" panose="02020603050405020304" pitchFamily="18" charset="0"/>
            </a:endParaRPr>
          </a:p>
          <a:p>
            <a:pPr marL="285750" indent="-285750">
              <a:lnSpc>
                <a:spcPct val="107000"/>
              </a:lnSpc>
              <a:spcAft>
                <a:spcPts val="800"/>
              </a:spcAft>
              <a:buFont typeface="Wingdings" panose="05000000000000000000" pitchFamily="2" charset="2"/>
              <a:buChar char="ü"/>
            </a:pPr>
            <a:r>
              <a:rPr lang="en-ZA" sz="1300" b="1" kern="100" dirty="0">
                <a:effectLst/>
                <a:latin typeface="Aptos" panose="020B0004020202020204" pitchFamily="34" charset="0"/>
                <a:ea typeface="Aptos" panose="020B0004020202020204" pitchFamily="34" charset="0"/>
                <a:cs typeface="Times New Roman" panose="02020603050405020304" pitchFamily="18" charset="0"/>
              </a:rPr>
              <a:t>Enhanced Environmental Performance:</a:t>
            </a:r>
            <a:r>
              <a:rPr lang="en-ZA" sz="1300" kern="100" dirty="0">
                <a:effectLst/>
                <a:latin typeface="Aptos" panose="020B0004020202020204" pitchFamily="34" charset="0"/>
                <a:ea typeface="Aptos" panose="020B0004020202020204" pitchFamily="34" charset="0"/>
                <a:cs typeface="Times New Roman" panose="02020603050405020304" pitchFamily="18" charset="0"/>
              </a:rPr>
              <a:t> Reduces waste, resource consumption (energy, water), and pollutant emissions, minimizing your footprint.</a:t>
            </a:r>
          </a:p>
          <a:p>
            <a:pPr marL="285750" indent="-285750">
              <a:lnSpc>
                <a:spcPct val="107000"/>
              </a:lnSpc>
              <a:spcAft>
                <a:spcPts val="800"/>
              </a:spcAft>
              <a:buFont typeface="Wingdings" panose="05000000000000000000" pitchFamily="2" charset="2"/>
              <a:buChar char="ü"/>
            </a:pPr>
            <a:r>
              <a:rPr lang="en-ZA" sz="1300" b="1" kern="100" dirty="0">
                <a:effectLst/>
                <a:latin typeface="Aptos" panose="020B0004020202020204" pitchFamily="34" charset="0"/>
                <a:ea typeface="Aptos" panose="020B0004020202020204" pitchFamily="34" charset="0"/>
                <a:cs typeface="Times New Roman" panose="02020603050405020304" pitchFamily="18" charset="0"/>
              </a:rPr>
              <a:t>Cost Savings:</a:t>
            </a:r>
            <a:r>
              <a:rPr lang="en-ZA" sz="1300" kern="100" dirty="0">
                <a:effectLst/>
                <a:latin typeface="Aptos" panose="020B0004020202020204" pitchFamily="34" charset="0"/>
                <a:ea typeface="Aptos" panose="020B0004020202020204" pitchFamily="34" charset="0"/>
                <a:cs typeface="Times New Roman" panose="02020603050405020304" pitchFamily="18" charset="0"/>
              </a:rPr>
              <a:t> Efficient resource use, waste minimization, and streamlined processes lower operating costs.</a:t>
            </a:r>
          </a:p>
          <a:p>
            <a:pPr marL="285750" indent="-285750">
              <a:lnSpc>
                <a:spcPct val="107000"/>
              </a:lnSpc>
              <a:spcAft>
                <a:spcPts val="800"/>
              </a:spcAft>
              <a:buFont typeface="Wingdings" panose="05000000000000000000" pitchFamily="2" charset="2"/>
              <a:buChar char="ü"/>
            </a:pPr>
            <a:r>
              <a:rPr lang="en-ZA" sz="1300" b="1" kern="100" dirty="0">
                <a:effectLst/>
                <a:latin typeface="Aptos" panose="020B0004020202020204" pitchFamily="34" charset="0"/>
                <a:ea typeface="Aptos" panose="020B0004020202020204" pitchFamily="34" charset="0"/>
                <a:cs typeface="Times New Roman" panose="02020603050405020304" pitchFamily="18" charset="0"/>
              </a:rPr>
              <a:t>Regulatory Compliance:</a:t>
            </a:r>
            <a:r>
              <a:rPr lang="en-ZA" sz="1300" kern="100" dirty="0">
                <a:effectLst/>
                <a:latin typeface="Aptos" panose="020B0004020202020204" pitchFamily="34" charset="0"/>
                <a:ea typeface="Aptos" panose="020B0004020202020204" pitchFamily="34" charset="0"/>
                <a:cs typeface="Times New Roman" panose="02020603050405020304" pitchFamily="18" charset="0"/>
              </a:rPr>
              <a:t> Helps meet legal requirements, avoiding fines and penalties by integrating compliance into your system.</a:t>
            </a:r>
          </a:p>
          <a:p>
            <a:pPr marL="285750" indent="-285750">
              <a:lnSpc>
                <a:spcPct val="107000"/>
              </a:lnSpc>
              <a:spcAft>
                <a:spcPts val="800"/>
              </a:spcAft>
              <a:buFont typeface="Wingdings" panose="05000000000000000000" pitchFamily="2" charset="2"/>
              <a:buChar char="ü"/>
            </a:pPr>
            <a:r>
              <a:rPr lang="en-ZA" sz="1300" b="1" kern="100" dirty="0">
                <a:effectLst/>
                <a:latin typeface="Aptos" panose="020B0004020202020204" pitchFamily="34" charset="0"/>
                <a:ea typeface="Aptos" panose="020B0004020202020204" pitchFamily="34" charset="0"/>
                <a:cs typeface="Times New Roman" panose="02020603050405020304" pitchFamily="18" charset="0"/>
              </a:rPr>
              <a:t>Improved Reputation &amp; Trust:</a:t>
            </a:r>
            <a:r>
              <a:rPr lang="en-ZA" sz="1300" kern="100" dirty="0">
                <a:effectLst/>
                <a:latin typeface="Aptos" panose="020B0004020202020204" pitchFamily="34" charset="0"/>
                <a:ea typeface="Aptos" panose="020B0004020202020204" pitchFamily="34" charset="0"/>
                <a:cs typeface="Times New Roman" panose="02020603050405020304" pitchFamily="18" charset="0"/>
              </a:rPr>
              <a:t> Shows commitment to sustainability, building credibility with customers, investors, and the community.</a:t>
            </a:r>
          </a:p>
          <a:p>
            <a:pPr marL="285750" indent="-285750">
              <a:lnSpc>
                <a:spcPct val="107000"/>
              </a:lnSpc>
              <a:spcAft>
                <a:spcPts val="800"/>
              </a:spcAft>
              <a:buFont typeface="Wingdings" panose="05000000000000000000" pitchFamily="2" charset="2"/>
              <a:buChar char="ü"/>
            </a:pPr>
            <a:r>
              <a:rPr lang="en-ZA" sz="1300" b="1" kern="100" dirty="0">
                <a:effectLst/>
                <a:latin typeface="Aptos" panose="020B0004020202020204" pitchFamily="34" charset="0"/>
                <a:ea typeface="Aptos" panose="020B0004020202020204" pitchFamily="34" charset="0"/>
                <a:cs typeface="Times New Roman" panose="02020603050405020304" pitchFamily="18" charset="0"/>
              </a:rPr>
              <a:t>Market Access &amp; Competitive Edge:</a:t>
            </a:r>
            <a:r>
              <a:rPr lang="en-ZA" sz="1300" kern="100" dirty="0">
                <a:effectLst/>
                <a:latin typeface="Aptos" panose="020B0004020202020204" pitchFamily="34" charset="0"/>
                <a:ea typeface="Aptos" panose="020B0004020202020204" pitchFamily="34" charset="0"/>
                <a:cs typeface="Times New Roman" panose="02020603050405020304" pitchFamily="18" charset="0"/>
              </a:rPr>
              <a:t> Can be a prerequisite for contracts and differentiates you from competitors.</a:t>
            </a:r>
          </a:p>
          <a:p>
            <a:pPr marL="285750" indent="-285750">
              <a:lnSpc>
                <a:spcPct val="107000"/>
              </a:lnSpc>
              <a:spcAft>
                <a:spcPts val="800"/>
              </a:spcAft>
              <a:buFont typeface="Wingdings" panose="05000000000000000000" pitchFamily="2" charset="2"/>
              <a:buChar char="ü"/>
            </a:pPr>
            <a:r>
              <a:rPr lang="en-ZA" sz="1300" b="1" kern="100" dirty="0">
                <a:effectLst/>
                <a:latin typeface="Aptos" panose="020B0004020202020204" pitchFamily="34" charset="0"/>
                <a:ea typeface="Aptos" panose="020B0004020202020204" pitchFamily="34" charset="0"/>
                <a:cs typeface="Times New Roman" panose="02020603050405020304" pitchFamily="18" charset="0"/>
              </a:rPr>
              <a:t>Better Risk Management:</a:t>
            </a:r>
            <a:r>
              <a:rPr lang="en-ZA" sz="1300" kern="100" dirty="0">
                <a:effectLst/>
                <a:latin typeface="Aptos" panose="020B0004020202020204" pitchFamily="34" charset="0"/>
                <a:ea typeface="Aptos" panose="020B0004020202020204" pitchFamily="34" charset="0"/>
                <a:cs typeface="Times New Roman" panose="02020603050405020304" pitchFamily="18" charset="0"/>
              </a:rPr>
              <a:t> Identifies, assesses, and controls environmental risks, preventing disruptions.</a:t>
            </a:r>
          </a:p>
          <a:p>
            <a:pPr marL="285750" indent="-285750">
              <a:lnSpc>
                <a:spcPct val="107000"/>
              </a:lnSpc>
              <a:spcAft>
                <a:spcPts val="800"/>
              </a:spcAft>
              <a:buFont typeface="Wingdings" panose="05000000000000000000" pitchFamily="2" charset="2"/>
              <a:buChar char="ü"/>
            </a:pPr>
            <a:r>
              <a:rPr lang="en-ZA" sz="1300" b="1" kern="100" dirty="0">
                <a:effectLst/>
                <a:latin typeface="Aptos" panose="020B0004020202020204" pitchFamily="34" charset="0"/>
                <a:ea typeface="Aptos" panose="020B0004020202020204" pitchFamily="34" charset="0"/>
                <a:cs typeface="Times New Roman" panose="02020603050405020304" pitchFamily="18" charset="0"/>
              </a:rPr>
              <a:t>Operational Efficiency:</a:t>
            </a:r>
            <a:r>
              <a:rPr lang="en-ZA" sz="1300" kern="100" dirty="0">
                <a:effectLst/>
                <a:latin typeface="Aptos" panose="020B0004020202020204" pitchFamily="34" charset="0"/>
                <a:ea typeface="Aptos" panose="020B0004020202020204" pitchFamily="34" charset="0"/>
                <a:cs typeface="Times New Roman" panose="02020603050405020304" pitchFamily="18" charset="0"/>
              </a:rPr>
              <a:t> Promotes leaner processes, waste reduction, and increased productivity.</a:t>
            </a:r>
          </a:p>
          <a:p>
            <a:pPr marL="285750" indent="-285750">
              <a:lnSpc>
                <a:spcPct val="107000"/>
              </a:lnSpc>
              <a:spcAft>
                <a:spcPts val="800"/>
              </a:spcAft>
              <a:buFont typeface="Wingdings" panose="05000000000000000000" pitchFamily="2" charset="2"/>
              <a:buChar char="ü"/>
            </a:pPr>
            <a:r>
              <a:rPr lang="en-ZA" sz="1300" b="1" kern="100" dirty="0">
                <a:effectLst/>
                <a:latin typeface="Aptos" panose="020B0004020202020204" pitchFamily="34" charset="0"/>
                <a:ea typeface="Aptos" panose="020B0004020202020204" pitchFamily="34" charset="0"/>
                <a:cs typeface="Times New Roman" panose="02020603050405020304" pitchFamily="18" charset="0"/>
              </a:rPr>
              <a:t>Employee Engagement:</a:t>
            </a:r>
            <a:r>
              <a:rPr lang="en-ZA" sz="1300" kern="100" dirty="0">
                <a:effectLst/>
                <a:latin typeface="Aptos" panose="020B0004020202020204" pitchFamily="34" charset="0"/>
                <a:ea typeface="Aptos" panose="020B0004020202020204" pitchFamily="34" charset="0"/>
                <a:cs typeface="Times New Roman" panose="02020603050405020304" pitchFamily="18" charset="0"/>
              </a:rPr>
              <a:t> Fosters a sense of ownership and motivation by involving staff in environmental goals.</a:t>
            </a:r>
          </a:p>
          <a:p>
            <a:pPr marL="285750" indent="-285750">
              <a:lnSpc>
                <a:spcPct val="107000"/>
              </a:lnSpc>
              <a:spcAft>
                <a:spcPts val="800"/>
              </a:spcAft>
              <a:buFont typeface="Wingdings" panose="05000000000000000000" pitchFamily="2" charset="2"/>
              <a:buChar char="ü"/>
            </a:pPr>
            <a:r>
              <a:rPr lang="en-ZA" sz="1300" b="1" kern="100" dirty="0">
                <a:effectLst/>
                <a:latin typeface="Aptos" panose="020B0004020202020204" pitchFamily="34" charset="0"/>
                <a:ea typeface="Aptos" panose="020B0004020202020204" pitchFamily="34" charset="0"/>
                <a:cs typeface="Times New Roman" panose="02020603050405020304" pitchFamily="18" charset="0"/>
              </a:rPr>
              <a:t>Continuous Improvement:</a:t>
            </a:r>
            <a:r>
              <a:rPr lang="en-ZA" sz="1300" kern="100" dirty="0">
                <a:effectLst/>
                <a:latin typeface="Aptos" panose="020B0004020202020204" pitchFamily="34" charset="0"/>
                <a:ea typeface="Aptos" panose="020B0004020202020204" pitchFamily="34" charset="0"/>
                <a:cs typeface="Times New Roman" panose="02020603050405020304" pitchFamily="18" charset="0"/>
              </a:rPr>
              <a:t> Embeds a culture of ongoing evaluation and improvement in environmental practices. </a:t>
            </a:r>
          </a:p>
        </p:txBody>
      </p:sp>
      <p:pic>
        <p:nvPicPr>
          <p:cNvPr id="18" name="Picture 17" descr="A hand holding a globe with icons around it&#10;&#10;AI-generated content may be incorrect.">
            <a:extLst>
              <a:ext uri="{FF2B5EF4-FFF2-40B4-BE49-F238E27FC236}">
                <a16:creationId xmlns:a16="http://schemas.microsoft.com/office/drawing/2014/main" id="{750BCA60-64D3-79DB-6ECF-1E197BAEC937}"/>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9089632" y="1461218"/>
            <a:ext cx="2926134" cy="2340000"/>
          </a:xfrm>
          <a:prstGeom prst="rect">
            <a:avLst/>
          </a:prstGeom>
        </p:spPr>
      </p:pic>
    </p:spTree>
    <p:extLst>
      <p:ext uri="{BB962C8B-B14F-4D97-AF65-F5344CB8AC3E}">
        <p14:creationId xmlns:p14="http://schemas.microsoft.com/office/powerpoint/2010/main" val="15919011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7444BD-83DC-E934-F1FC-AD9C48BB5B50}"/>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6BC26D90-3BDF-FB74-527A-5E3ECDEBF09A}"/>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14093" y="5286619"/>
            <a:ext cx="2456472" cy="1584000"/>
          </a:xfrm>
          <a:prstGeom prst="rect">
            <a:avLst/>
          </a:prstGeom>
        </p:spPr>
      </p:pic>
      <p:sp>
        <p:nvSpPr>
          <p:cNvPr id="10" name="Rectangle 9">
            <a:extLst>
              <a:ext uri="{FF2B5EF4-FFF2-40B4-BE49-F238E27FC236}">
                <a16:creationId xmlns:a16="http://schemas.microsoft.com/office/drawing/2014/main" id="{266A9ADC-82C3-7728-FE83-85E711FA846D}"/>
              </a:ext>
            </a:extLst>
          </p:cNvPr>
          <p:cNvSpPr/>
          <p:nvPr/>
        </p:nvSpPr>
        <p:spPr>
          <a:xfrm>
            <a:off x="846709" y="1193151"/>
            <a:ext cx="6634315" cy="9144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2800" b="1" dirty="0">
                <a:solidFill>
                  <a:schemeClr val="tx1"/>
                </a:solidFill>
                <a:latin typeface="Garamond" panose="02020404030301010803" pitchFamily="18" charset="0"/>
              </a:rPr>
              <a:t>Obtain SZNS ISO Certification</a:t>
            </a:r>
          </a:p>
          <a:p>
            <a:endParaRPr lang="en-ZA" sz="2800" b="1" dirty="0">
              <a:solidFill>
                <a:schemeClr val="tx1"/>
              </a:solidFill>
              <a:latin typeface="Garamond" panose="02020404030301010803" pitchFamily="18" charset="0"/>
            </a:endParaRPr>
          </a:p>
        </p:txBody>
      </p:sp>
      <p:pic>
        <p:nvPicPr>
          <p:cNvPr id="12" name="Picture 11">
            <a:extLst>
              <a:ext uri="{FF2B5EF4-FFF2-40B4-BE49-F238E27FC236}">
                <a16:creationId xmlns:a16="http://schemas.microsoft.com/office/drawing/2014/main" id="{1FE33459-9615-DF1F-A729-548160A9D90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038"/>
            <a:ext cx="1080000" cy="1080000"/>
          </a:xfrm>
          <a:prstGeom prst="rect">
            <a:avLst/>
          </a:prstGeom>
        </p:spPr>
      </p:pic>
      <p:sp>
        <p:nvSpPr>
          <p:cNvPr id="13" name="Text Box 2">
            <a:extLst>
              <a:ext uri="{FF2B5EF4-FFF2-40B4-BE49-F238E27FC236}">
                <a16:creationId xmlns:a16="http://schemas.microsoft.com/office/drawing/2014/main" id="{A5F41E47-242E-124B-5E41-6E50705CED8F}"/>
              </a:ext>
            </a:extLst>
          </p:cNvPr>
          <p:cNvSpPr txBox="1">
            <a:spLocks noChangeArrowheads="1"/>
          </p:cNvSpPr>
          <p:nvPr/>
        </p:nvSpPr>
        <p:spPr bwMode="auto">
          <a:xfrm>
            <a:off x="8927111" y="6550060"/>
            <a:ext cx="2527722" cy="307940"/>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2E3191"/>
                </a:solidFill>
                <a:effectLst/>
                <a:latin typeface="BankGothic Lt BT" panose="020B0607020203060204" pitchFamily="34" charset="0"/>
              </a:rPr>
              <a:t>#ImprovingTheWorldWeLiveIn</a:t>
            </a:r>
            <a:endParaRPr kumimoji="0" lang="en-US" altLang="en-US" sz="1200" b="0" i="0" u="none" strike="noStrike" cap="none" normalizeH="0" baseline="0" dirty="0">
              <a:ln>
                <a:noFill/>
              </a:ln>
              <a:solidFill>
                <a:schemeClr val="tx1"/>
              </a:solidFill>
              <a:effectLst/>
              <a:latin typeface="Arial" panose="020B0604020202020204" pitchFamily="34" charset="0"/>
            </a:endParaRPr>
          </a:p>
        </p:txBody>
      </p:sp>
      <p:pic>
        <p:nvPicPr>
          <p:cNvPr id="14" name="Picture 5" descr="social-media-logos-facebook-twitter-instagram-youtube-flickr-vector-pg-transparent-background-high-resolution-linkedin-googleplus-210299554">
            <a:extLst>
              <a:ext uri="{FF2B5EF4-FFF2-40B4-BE49-F238E27FC236}">
                <a16:creationId xmlns:a16="http://schemas.microsoft.com/office/drawing/2014/main" id="{D19871CC-7EF0-7CAE-1166-A28825308A2E}"/>
              </a:ext>
            </a:extLst>
          </p:cNvPr>
          <p:cNvPicPr>
            <a:picLocks noChangeAspect="1" noChangeArrowheads="1"/>
          </p:cNvPicPr>
          <p:nvPr/>
        </p:nvPicPr>
        <p:blipFill>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rcRect l="51178" t="8835" r="39842" b="71758"/>
          <a:stretch>
            <a:fillRect/>
          </a:stretch>
        </p:blipFill>
        <p:spPr bwMode="auto">
          <a:xfrm>
            <a:off x="11587144" y="6622626"/>
            <a:ext cx="177800" cy="184150"/>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pic>
      <p:pic>
        <p:nvPicPr>
          <p:cNvPr id="15" name="Picture 6" descr="social-media-logos-facebook-twitter-instagram-youtube-flickr-vector-pg-transparent-background-high-resolution-linkedin-googleplus-210299554">
            <a:extLst>
              <a:ext uri="{FF2B5EF4-FFF2-40B4-BE49-F238E27FC236}">
                <a16:creationId xmlns:a16="http://schemas.microsoft.com/office/drawing/2014/main" id="{81E1FA2D-83DA-63FB-408F-FC22C3E631EC}"/>
              </a:ext>
            </a:extLst>
          </p:cNvPr>
          <p:cNvPicPr>
            <a:picLocks noChangeAspect="1" noChangeArrowheads="1"/>
          </p:cNvPicPr>
          <p:nvPr/>
        </p:nvPicPr>
        <p:blipFill>
          <a:blip r:embed="rId5" cstate="print">
            <a:clrChange>
              <a:clrFrom>
                <a:srgbClr val="FFFFFF"/>
              </a:clrFrom>
              <a:clrTo>
                <a:srgbClr val="FFFFFF">
                  <a:alpha val="0"/>
                </a:srgbClr>
              </a:clrTo>
            </a:clrChange>
            <a:extLst>
              <a:ext uri="{28A0092B-C50C-407E-A947-70E740481C1C}">
                <a14:useLocalDpi xmlns:a14="http://schemas.microsoft.com/office/drawing/2010/main" val="0"/>
              </a:ext>
            </a:extLst>
          </a:blip>
          <a:srcRect l="86784" t="34485" r="4137" b="46553"/>
          <a:stretch>
            <a:fillRect/>
          </a:stretch>
        </p:blipFill>
        <p:spPr bwMode="auto">
          <a:xfrm>
            <a:off x="11828214" y="6622626"/>
            <a:ext cx="184150" cy="184150"/>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pic>
      <p:cxnSp>
        <p:nvCxnSpPr>
          <p:cNvPr id="16" name="Straight Connector 15">
            <a:extLst>
              <a:ext uri="{FF2B5EF4-FFF2-40B4-BE49-F238E27FC236}">
                <a16:creationId xmlns:a16="http://schemas.microsoft.com/office/drawing/2014/main" id="{8C12FED5-1C8E-4ED9-83CE-1B49B55EF226}"/>
              </a:ext>
            </a:extLst>
          </p:cNvPr>
          <p:cNvCxnSpPr/>
          <p:nvPr/>
        </p:nvCxnSpPr>
        <p:spPr>
          <a:xfrm>
            <a:off x="6690247" y="6674604"/>
            <a:ext cx="2160000" cy="0"/>
          </a:xfrm>
          <a:prstGeom prst="line">
            <a:avLst/>
          </a:prstGeom>
          <a:ln w="28575">
            <a:solidFill>
              <a:srgbClr val="2E3191"/>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2983EA71-7A93-6AA8-9BB1-F93E20E5F381}"/>
              </a:ext>
            </a:extLst>
          </p:cNvPr>
          <p:cNvSpPr txBox="1"/>
          <p:nvPr/>
        </p:nvSpPr>
        <p:spPr>
          <a:xfrm>
            <a:off x="136094" y="2288921"/>
            <a:ext cx="6667478" cy="3108543"/>
          </a:xfrm>
          <a:prstGeom prst="rect">
            <a:avLst/>
          </a:prstGeom>
          <a:noFill/>
        </p:spPr>
        <p:txBody>
          <a:bodyPr wrap="square">
            <a:spAutoFit/>
          </a:bodyPr>
          <a:lstStyle/>
          <a:p>
            <a:r>
              <a:rPr lang="en-GB" sz="1400" b="1" dirty="0"/>
              <a:t>1. Preliminary Assessment: </a:t>
            </a:r>
            <a:r>
              <a:rPr lang="en-GB" sz="1400" dirty="0"/>
              <a:t>Conduct a self-assessment to identify areas needing improvement within your operations. </a:t>
            </a:r>
          </a:p>
          <a:p>
            <a:endParaRPr lang="en-GB" sz="1400" dirty="0"/>
          </a:p>
          <a:p>
            <a:r>
              <a:rPr lang="en-GB" sz="1400" b="1" dirty="0"/>
              <a:t>2. Documentation: </a:t>
            </a:r>
            <a:r>
              <a:rPr lang="en-GB" sz="1400" dirty="0"/>
              <a:t>Develop and maintain clear, comprehensive records of all practices, procedures, and processes related to your company. </a:t>
            </a:r>
          </a:p>
          <a:p>
            <a:endParaRPr lang="en-GB" sz="1400" dirty="0"/>
          </a:p>
          <a:p>
            <a:r>
              <a:rPr lang="en-GB" sz="1400" b="1" dirty="0"/>
              <a:t>3. Training: </a:t>
            </a:r>
            <a:r>
              <a:rPr lang="en-GB" sz="1400" dirty="0"/>
              <a:t>Ensure that all employees are adequately trained in accordance with the requirements of the SZNS ISO standard. </a:t>
            </a:r>
          </a:p>
          <a:p>
            <a:endParaRPr lang="en-GB" sz="1400" dirty="0"/>
          </a:p>
          <a:p>
            <a:r>
              <a:rPr lang="en-GB" sz="1400" b="1" dirty="0"/>
              <a:t>4. Third-party Audit: </a:t>
            </a:r>
            <a:r>
              <a:rPr lang="en-GB" sz="1400" dirty="0"/>
              <a:t>Engage a certification body for a thorough inspection to verify compliance with the standard. </a:t>
            </a:r>
          </a:p>
          <a:p>
            <a:endParaRPr lang="en-GB" sz="1400" dirty="0"/>
          </a:p>
          <a:p>
            <a:r>
              <a:rPr lang="en-GB" sz="1400" b="1" dirty="0"/>
              <a:t>5. Corrective Actions: </a:t>
            </a:r>
            <a:r>
              <a:rPr lang="en-GB" sz="1400" dirty="0"/>
              <a:t>Rectify any non-conformities identified during the audit before certification can be granted. </a:t>
            </a:r>
          </a:p>
        </p:txBody>
      </p:sp>
      <p:sp>
        <p:nvSpPr>
          <p:cNvPr id="2" name="Arrow: Pentagon 1">
            <a:extLst>
              <a:ext uri="{FF2B5EF4-FFF2-40B4-BE49-F238E27FC236}">
                <a16:creationId xmlns:a16="http://schemas.microsoft.com/office/drawing/2014/main" id="{56F0EE2F-D074-5539-4925-69124D9817BA}"/>
              </a:ext>
            </a:extLst>
          </p:cNvPr>
          <p:cNvSpPr/>
          <p:nvPr/>
        </p:nvSpPr>
        <p:spPr>
          <a:xfrm>
            <a:off x="955565" y="1742539"/>
            <a:ext cx="4500000" cy="72000"/>
          </a:xfrm>
          <a:prstGeom prst="homePlate">
            <a:avLst/>
          </a:prstGeom>
          <a:solidFill>
            <a:srgbClr val="004A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3" name="Picture 2" descr="A diagram of a step-by-step process&#10;&#10;AI-generated content may be incorrect.">
            <a:extLst>
              <a:ext uri="{FF2B5EF4-FFF2-40B4-BE49-F238E27FC236}">
                <a16:creationId xmlns:a16="http://schemas.microsoft.com/office/drawing/2014/main" id="{6C131E4E-127A-606B-3541-73C591DB2E4F}"/>
              </a:ext>
            </a:extLst>
          </p:cNvPr>
          <p:cNvPicPr>
            <a:picLocks noChangeAspect="1"/>
          </p:cNvPicPr>
          <p:nvPr/>
        </p:nvPicPr>
        <p:blipFill>
          <a:blip r:embed="rId6">
            <a:extLst>
              <a:ext uri="{28A0092B-C50C-407E-A947-70E740481C1C}">
                <a14:useLocalDpi xmlns:a14="http://schemas.microsoft.com/office/drawing/2010/main" val="0"/>
              </a:ext>
            </a:extLst>
          </a:blip>
          <a:srcRect b="25192"/>
          <a:stretch>
            <a:fillRect/>
          </a:stretch>
        </p:blipFill>
        <p:spPr>
          <a:xfrm>
            <a:off x="6966351" y="537962"/>
            <a:ext cx="5089555" cy="5386119"/>
          </a:xfrm>
          <a:prstGeom prst="rect">
            <a:avLst/>
          </a:prstGeom>
        </p:spPr>
      </p:pic>
    </p:spTree>
    <p:extLst>
      <p:ext uri="{BB962C8B-B14F-4D97-AF65-F5344CB8AC3E}">
        <p14:creationId xmlns:p14="http://schemas.microsoft.com/office/powerpoint/2010/main" val="15025521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02A2A7-FDAD-D590-0E8C-BE43EEA63D8A}"/>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7F41FA16-3516-494F-005F-7178A3E3A1F9}"/>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14093" y="5286619"/>
            <a:ext cx="2456472" cy="1584000"/>
          </a:xfrm>
          <a:prstGeom prst="rect">
            <a:avLst/>
          </a:prstGeom>
        </p:spPr>
      </p:pic>
      <p:sp>
        <p:nvSpPr>
          <p:cNvPr id="10" name="Rectangle 9">
            <a:extLst>
              <a:ext uri="{FF2B5EF4-FFF2-40B4-BE49-F238E27FC236}">
                <a16:creationId xmlns:a16="http://schemas.microsoft.com/office/drawing/2014/main" id="{10120043-10D6-0AAE-653A-F86E3D2465C2}"/>
              </a:ext>
            </a:extLst>
          </p:cNvPr>
          <p:cNvSpPr/>
          <p:nvPr/>
        </p:nvSpPr>
        <p:spPr>
          <a:xfrm>
            <a:off x="1922512" y="195310"/>
            <a:ext cx="6634315" cy="9144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ZA" sz="2800" b="1" dirty="0">
                <a:solidFill>
                  <a:schemeClr val="tx1"/>
                </a:solidFill>
                <a:latin typeface="Garamond" panose="02020404030301010803" pitchFamily="18" charset="0"/>
              </a:rPr>
              <a:t>Certification Process</a:t>
            </a:r>
          </a:p>
        </p:txBody>
      </p:sp>
      <p:pic>
        <p:nvPicPr>
          <p:cNvPr id="12" name="Picture 11">
            <a:extLst>
              <a:ext uri="{FF2B5EF4-FFF2-40B4-BE49-F238E27FC236}">
                <a16:creationId xmlns:a16="http://schemas.microsoft.com/office/drawing/2014/main" id="{A3DB6E94-8802-5F4E-7711-F29357CEB87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2038"/>
            <a:ext cx="1080000" cy="1080000"/>
          </a:xfrm>
          <a:prstGeom prst="rect">
            <a:avLst/>
          </a:prstGeom>
        </p:spPr>
      </p:pic>
      <p:sp>
        <p:nvSpPr>
          <p:cNvPr id="13" name="Text Box 2">
            <a:extLst>
              <a:ext uri="{FF2B5EF4-FFF2-40B4-BE49-F238E27FC236}">
                <a16:creationId xmlns:a16="http://schemas.microsoft.com/office/drawing/2014/main" id="{4AE98644-2361-0E29-57FD-5D69712EC6E2}"/>
              </a:ext>
            </a:extLst>
          </p:cNvPr>
          <p:cNvSpPr txBox="1">
            <a:spLocks noChangeArrowheads="1"/>
          </p:cNvSpPr>
          <p:nvPr/>
        </p:nvSpPr>
        <p:spPr bwMode="auto">
          <a:xfrm>
            <a:off x="8927111" y="6550060"/>
            <a:ext cx="2527722" cy="307940"/>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2E3191"/>
                </a:solidFill>
                <a:effectLst/>
                <a:latin typeface="BankGothic Lt BT" panose="020B0607020203060204" pitchFamily="34" charset="0"/>
              </a:rPr>
              <a:t>#ImprovingTheWorldWeLiveIn</a:t>
            </a:r>
            <a:endParaRPr kumimoji="0" lang="en-US" altLang="en-US" sz="1200" b="0" i="0" u="none" strike="noStrike" cap="none" normalizeH="0" baseline="0" dirty="0">
              <a:ln>
                <a:noFill/>
              </a:ln>
              <a:solidFill>
                <a:schemeClr val="tx1"/>
              </a:solidFill>
              <a:effectLst/>
              <a:latin typeface="Arial" panose="020B0604020202020204" pitchFamily="34" charset="0"/>
            </a:endParaRPr>
          </a:p>
        </p:txBody>
      </p:sp>
      <p:pic>
        <p:nvPicPr>
          <p:cNvPr id="14" name="Picture 5" descr="social-media-logos-facebook-twitter-instagram-youtube-flickr-vector-pg-transparent-background-high-resolution-linkedin-googleplus-210299554">
            <a:extLst>
              <a:ext uri="{FF2B5EF4-FFF2-40B4-BE49-F238E27FC236}">
                <a16:creationId xmlns:a16="http://schemas.microsoft.com/office/drawing/2014/main" id="{DC63B8E8-E398-9CD9-53BF-AF8752AA818B}"/>
              </a:ext>
            </a:extLst>
          </p:cNvPr>
          <p:cNvPicPr>
            <a:picLocks noChangeAspect="1" noChangeArrowheads="1"/>
          </p:cNvPicPr>
          <p:nvPr/>
        </p:nvPicPr>
        <p:blipFill>
          <a:blip r:embed="rId5" cstate="print">
            <a:clrChange>
              <a:clrFrom>
                <a:srgbClr val="FFFFFF"/>
              </a:clrFrom>
              <a:clrTo>
                <a:srgbClr val="FFFFFF">
                  <a:alpha val="0"/>
                </a:srgbClr>
              </a:clrTo>
            </a:clrChange>
            <a:extLst>
              <a:ext uri="{28A0092B-C50C-407E-A947-70E740481C1C}">
                <a14:useLocalDpi xmlns:a14="http://schemas.microsoft.com/office/drawing/2010/main" val="0"/>
              </a:ext>
            </a:extLst>
          </a:blip>
          <a:srcRect l="51178" t="8835" r="39842" b="71758"/>
          <a:stretch>
            <a:fillRect/>
          </a:stretch>
        </p:blipFill>
        <p:spPr bwMode="auto">
          <a:xfrm>
            <a:off x="11587144" y="6622626"/>
            <a:ext cx="177800" cy="184150"/>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pic>
      <p:pic>
        <p:nvPicPr>
          <p:cNvPr id="15" name="Picture 6" descr="social-media-logos-facebook-twitter-instagram-youtube-flickr-vector-pg-transparent-background-high-resolution-linkedin-googleplus-210299554">
            <a:extLst>
              <a:ext uri="{FF2B5EF4-FFF2-40B4-BE49-F238E27FC236}">
                <a16:creationId xmlns:a16="http://schemas.microsoft.com/office/drawing/2014/main" id="{786342CB-1E95-805B-336E-2657D126635C}"/>
              </a:ext>
            </a:extLst>
          </p:cNvPr>
          <p:cNvPicPr>
            <a:picLocks noChangeAspect="1" noChangeArrowheads="1"/>
          </p:cNvPicPr>
          <p:nvPr/>
        </p:nvPicPr>
        <p:blipFill>
          <a:blip r:embed="rId6" cstate="print">
            <a:clrChange>
              <a:clrFrom>
                <a:srgbClr val="FFFFFF"/>
              </a:clrFrom>
              <a:clrTo>
                <a:srgbClr val="FFFFFF">
                  <a:alpha val="0"/>
                </a:srgbClr>
              </a:clrTo>
            </a:clrChange>
            <a:extLst>
              <a:ext uri="{28A0092B-C50C-407E-A947-70E740481C1C}">
                <a14:useLocalDpi xmlns:a14="http://schemas.microsoft.com/office/drawing/2010/main" val="0"/>
              </a:ext>
            </a:extLst>
          </a:blip>
          <a:srcRect l="86784" t="34485" r="4137" b="46553"/>
          <a:stretch>
            <a:fillRect/>
          </a:stretch>
        </p:blipFill>
        <p:spPr bwMode="auto">
          <a:xfrm>
            <a:off x="11828214" y="6622626"/>
            <a:ext cx="184150" cy="184150"/>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pic>
      <p:cxnSp>
        <p:nvCxnSpPr>
          <p:cNvPr id="16" name="Straight Connector 15">
            <a:extLst>
              <a:ext uri="{FF2B5EF4-FFF2-40B4-BE49-F238E27FC236}">
                <a16:creationId xmlns:a16="http://schemas.microsoft.com/office/drawing/2014/main" id="{697878F7-5768-24D9-49BC-18B2F599A794}"/>
              </a:ext>
            </a:extLst>
          </p:cNvPr>
          <p:cNvCxnSpPr/>
          <p:nvPr/>
        </p:nvCxnSpPr>
        <p:spPr>
          <a:xfrm>
            <a:off x="6690247" y="6674604"/>
            <a:ext cx="2160000" cy="0"/>
          </a:xfrm>
          <a:prstGeom prst="line">
            <a:avLst/>
          </a:prstGeom>
          <a:ln w="28575">
            <a:solidFill>
              <a:srgbClr val="2E3191"/>
            </a:solidFill>
          </a:ln>
        </p:spPr>
        <p:style>
          <a:lnRef idx="1">
            <a:schemeClr val="accent1"/>
          </a:lnRef>
          <a:fillRef idx="0">
            <a:schemeClr val="accent1"/>
          </a:fillRef>
          <a:effectRef idx="0">
            <a:schemeClr val="accent1"/>
          </a:effectRef>
          <a:fontRef idx="minor">
            <a:schemeClr val="tx1"/>
          </a:fontRef>
        </p:style>
      </p:cxnSp>
      <p:sp>
        <p:nvSpPr>
          <p:cNvPr id="2" name="Arrow: Pentagon 1">
            <a:extLst>
              <a:ext uri="{FF2B5EF4-FFF2-40B4-BE49-F238E27FC236}">
                <a16:creationId xmlns:a16="http://schemas.microsoft.com/office/drawing/2014/main" id="{7DEEBADF-1B27-4647-AB89-8DF9DCF97B8B}"/>
              </a:ext>
            </a:extLst>
          </p:cNvPr>
          <p:cNvSpPr/>
          <p:nvPr/>
        </p:nvSpPr>
        <p:spPr>
          <a:xfrm>
            <a:off x="2062176" y="939387"/>
            <a:ext cx="2880000" cy="72000"/>
          </a:xfrm>
          <a:prstGeom prst="homePlate">
            <a:avLst/>
          </a:prstGeom>
          <a:solidFill>
            <a:srgbClr val="004A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5" name="Rectangle 4">
            <a:extLst>
              <a:ext uri="{FF2B5EF4-FFF2-40B4-BE49-F238E27FC236}">
                <a16:creationId xmlns:a16="http://schemas.microsoft.com/office/drawing/2014/main" id="{FB04C176-B89F-7187-E887-90ECA7AD4F87}"/>
              </a:ext>
            </a:extLst>
          </p:cNvPr>
          <p:cNvSpPr/>
          <p:nvPr/>
        </p:nvSpPr>
        <p:spPr>
          <a:xfrm>
            <a:off x="0" y="5220044"/>
            <a:ext cx="3189912" cy="126360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graphicFrame>
        <p:nvGraphicFramePr>
          <p:cNvPr id="4" name="Content Placeholder 6">
            <a:extLst>
              <a:ext uri="{FF2B5EF4-FFF2-40B4-BE49-F238E27FC236}">
                <a16:creationId xmlns:a16="http://schemas.microsoft.com/office/drawing/2014/main" id="{9B85A245-7D45-1E27-FC03-1E571367EF75}"/>
              </a:ext>
            </a:extLst>
          </p:cNvPr>
          <p:cNvGraphicFramePr>
            <a:graphicFrameLocks noGrp="1"/>
          </p:cNvGraphicFramePr>
          <p:nvPr>
            <p:ph sz="half" idx="1"/>
          </p:nvPr>
        </p:nvGraphicFramePr>
        <p:xfrm>
          <a:off x="165540" y="1204398"/>
          <a:ext cx="11860919" cy="5126458"/>
        </p:xfrm>
        <a:graphic>
          <a:graphicData uri="http://schemas.openxmlformats.org/drawingml/2006/table">
            <a:tbl>
              <a:tblPr firstRow="1" firstCol="1" bandRow="1">
                <a:tableStyleId>{C4B1156A-380E-4F78-BDF5-A606A8083BF9}</a:tableStyleId>
              </a:tblPr>
              <a:tblGrid>
                <a:gridCol w="4270415">
                  <a:extLst>
                    <a:ext uri="{9D8B030D-6E8A-4147-A177-3AD203B41FA5}">
                      <a16:colId xmlns:a16="http://schemas.microsoft.com/office/drawing/2014/main" val="3512847663"/>
                    </a:ext>
                  </a:extLst>
                </a:gridCol>
                <a:gridCol w="7590504">
                  <a:extLst>
                    <a:ext uri="{9D8B030D-6E8A-4147-A177-3AD203B41FA5}">
                      <a16:colId xmlns:a16="http://schemas.microsoft.com/office/drawing/2014/main" val="1172767602"/>
                    </a:ext>
                  </a:extLst>
                </a:gridCol>
              </a:tblGrid>
              <a:tr h="226527">
                <a:tc>
                  <a:txBody>
                    <a:bodyPr/>
                    <a:lstStyle/>
                    <a:p>
                      <a:pPr algn="ctr">
                        <a:lnSpc>
                          <a:spcPct val="107000"/>
                        </a:lnSpc>
                        <a:spcAft>
                          <a:spcPts val="800"/>
                        </a:spcAft>
                        <a:buNone/>
                      </a:pPr>
                      <a:r>
                        <a:rPr lang="en-ZA" sz="1300" dirty="0">
                          <a:solidFill>
                            <a:schemeClr val="tx1"/>
                          </a:solidFill>
                          <a:effectLst/>
                          <a:latin typeface="Garamond" panose="02020404030301010803" pitchFamily="18" charset="0"/>
                        </a:rPr>
                        <a:t>ACTIVITY</a:t>
                      </a:r>
                      <a:endParaRPr lang="en-ZA" sz="1300" dirty="0">
                        <a:solidFill>
                          <a:schemeClr val="tx1"/>
                        </a:solidFill>
                        <a:effectLst/>
                        <a:latin typeface="Garamond" panose="02020404030301010803" pitchFamily="18" charset="0"/>
                        <a:ea typeface="Calibri" panose="020F0502020204030204" pitchFamily="34" charset="0"/>
                        <a:cs typeface="Times New Roman" panose="02020603050405020304" pitchFamily="18" charset="0"/>
                      </a:endParaRPr>
                    </a:p>
                  </a:txBody>
                  <a:tcPr marL="39875" marR="39875" marT="0" marB="0" anchor="ctr"/>
                </a:tc>
                <a:tc>
                  <a:txBody>
                    <a:bodyPr/>
                    <a:lstStyle/>
                    <a:p>
                      <a:pPr algn="ctr">
                        <a:lnSpc>
                          <a:spcPct val="107000"/>
                        </a:lnSpc>
                        <a:spcAft>
                          <a:spcPts val="800"/>
                        </a:spcAft>
                        <a:buNone/>
                      </a:pPr>
                      <a:r>
                        <a:rPr lang="en-ZA" sz="1300" dirty="0">
                          <a:solidFill>
                            <a:schemeClr val="tx1"/>
                          </a:solidFill>
                          <a:effectLst/>
                          <a:latin typeface="Garamond" panose="02020404030301010803" pitchFamily="18" charset="0"/>
                        </a:rPr>
                        <a:t>TIMELINE</a:t>
                      </a:r>
                      <a:endParaRPr lang="en-ZA" sz="1300" dirty="0">
                        <a:solidFill>
                          <a:schemeClr val="tx1"/>
                        </a:solidFill>
                        <a:effectLst/>
                        <a:latin typeface="Garamond" panose="02020404030301010803" pitchFamily="18" charset="0"/>
                        <a:ea typeface="Calibri" panose="020F0502020204030204" pitchFamily="34" charset="0"/>
                        <a:cs typeface="Times New Roman" panose="02020603050405020304" pitchFamily="18" charset="0"/>
                      </a:endParaRPr>
                    </a:p>
                  </a:txBody>
                  <a:tcPr marL="39875" marR="39875" marT="0" marB="0" anchor="ctr"/>
                </a:tc>
                <a:extLst>
                  <a:ext uri="{0D108BD9-81ED-4DB2-BD59-A6C34878D82A}">
                    <a16:rowId xmlns:a16="http://schemas.microsoft.com/office/drawing/2014/main" val="2636324668"/>
                  </a:ext>
                </a:extLst>
              </a:tr>
              <a:tr h="198255">
                <a:tc>
                  <a:txBody>
                    <a:bodyPr/>
                    <a:lstStyle/>
                    <a:p>
                      <a:pPr>
                        <a:lnSpc>
                          <a:spcPct val="107000"/>
                        </a:lnSpc>
                        <a:spcAft>
                          <a:spcPts val="800"/>
                        </a:spcAft>
                        <a:buNone/>
                      </a:pPr>
                      <a:r>
                        <a:rPr lang="en-ZA" sz="1300" dirty="0">
                          <a:effectLst/>
                          <a:latin typeface="Garamond" panose="02020404030301010803" pitchFamily="18" charset="0"/>
                        </a:rPr>
                        <a:t>Quotation acceptance and Application</a:t>
                      </a:r>
                      <a:endParaRPr lang="en-ZA" sz="1300" dirty="0">
                        <a:effectLst/>
                        <a:latin typeface="Garamond" panose="02020404030301010803" pitchFamily="18" charset="0"/>
                        <a:ea typeface="Calibri" panose="020F0502020204030204" pitchFamily="34" charset="0"/>
                        <a:cs typeface="Times New Roman" panose="02020603050405020304" pitchFamily="18" charset="0"/>
                      </a:endParaRPr>
                    </a:p>
                  </a:txBody>
                  <a:tcPr marL="39875" marR="39875" marT="0" marB="0" anchor="ctr"/>
                </a:tc>
                <a:tc>
                  <a:txBody>
                    <a:bodyPr/>
                    <a:lstStyle/>
                    <a:p>
                      <a:pPr>
                        <a:lnSpc>
                          <a:spcPct val="107000"/>
                        </a:lnSpc>
                        <a:spcAft>
                          <a:spcPts val="800"/>
                        </a:spcAft>
                        <a:buNone/>
                      </a:pPr>
                      <a:r>
                        <a:rPr lang="en-ZA" sz="1300" dirty="0">
                          <a:effectLst/>
                          <a:latin typeface="Garamond" panose="02020404030301010803" pitchFamily="18" charset="0"/>
                        </a:rPr>
                        <a:t>Stage 1 Audit scheduled during application</a:t>
                      </a:r>
                      <a:endParaRPr lang="en-ZA" sz="1300" dirty="0">
                        <a:effectLst/>
                        <a:latin typeface="Garamond" panose="02020404030301010803" pitchFamily="18" charset="0"/>
                        <a:ea typeface="Calibri" panose="020F0502020204030204" pitchFamily="34" charset="0"/>
                        <a:cs typeface="Times New Roman" panose="02020603050405020304" pitchFamily="18" charset="0"/>
                      </a:endParaRPr>
                    </a:p>
                  </a:txBody>
                  <a:tcPr marL="39875" marR="39875" marT="0" marB="0" anchor="ctr"/>
                </a:tc>
                <a:extLst>
                  <a:ext uri="{0D108BD9-81ED-4DB2-BD59-A6C34878D82A}">
                    <a16:rowId xmlns:a16="http://schemas.microsoft.com/office/drawing/2014/main" val="3861889648"/>
                  </a:ext>
                </a:extLst>
              </a:tr>
              <a:tr h="198255">
                <a:tc>
                  <a:txBody>
                    <a:bodyPr/>
                    <a:lstStyle/>
                    <a:p>
                      <a:pPr>
                        <a:lnSpc>
                          <a:spcPct val="107000"/>
                        </a:lnSpc>
                        <a:spcAft>
                          <a:spcPts val="800"/>
                        </a:spcAft>
                        <a:buNone/>
                      </a:pPr>
                      <a:r>
                        <a:rPr lang="en-ZA" sz="1300" dirty="0">
                          <a:effectLst/>
                          <a:latin typeface="Garamond" panose="02020404030301010803" pitchFamily="18" charset="0"/>
                        </a:rPr>
                        <a:t>Contracting</a:t>
                      </a:r>
                      <a:endParaRPr lang="en-ZA" sz="1300" dirty="0">
                        <a:effectLst/>
                        <a:latin typeface="Garamond" panose="02020404030301010803" pitchFamily="18" charset="0"/>
                        <a:ea typeface="Calibri" panose="020F0502020204030204" pitchFamily="34" charset="0"/>
                        <a:cs typeface="Times New Roman" panose="02020603050405020304" pitchFamily="18" charset="0"/>
                      </a:endParaRPr>
                    </a:p>
                  </a:txBody>
                  <a:tcPr marL="39875" marR="39875" marT="0" marB="0" anchor="ctr"/>
                </a:tc>
                <a:tc>
                  <a:txBody>
                    <a:bodyPr/>
                    <a:lstStyle/>
                    <a:p>
                      <a:pPr>
                        <a:lnSpc>
                          <a:spcPct val="107000"/>
                        </a:lnSpc>
                        <a:spcAft>
                          <a:spcPts val="800"/>
                        </a:spcAft>
                        <a:buNone/>
                      </a:pPr>
                      <a:r>
                        <a:rPr lang="en-ZA" sz="1300" dirty="0">
                          <a:effectLst/>
                          <a:latin typeface="Garamond" panose="02020404030301010803" pitchFamily="18" charset="0"/>
                        </a:rPr>
                        <a:t>Following application</a:t>
                      </a:r>
                      <a:endParaRPr lang="en-ZA" sz="1300" dirty="0">
                        <a:effectLst/>
                        <a:latin typeface="Garamond" panose="02020404030301010803" pitchFamily="18" charset="0"/>
                        <a:ea typeface="Calibri" panose="020F0502020204030204" pitchFamily="34" charset="0"/>
                        <a:cs typeface="Times New Roman" panose="02020603050405020304" pitchFamily="18" charset="0"/>
                      </a:endParaRPr>
                    </a:p>
                  </a:txBody>
                  <a:tcPr marL="39875" marR="39875" marT="0" marB="0" anchor="ctr"/>
                </a:tc>
                <a:extLst>
                  <a:ext uri="{0D108BD9-81ED-4DB2-BD59-A6C34878D82A}">
                    <a16:rowId xmlns:a16="http://schemas.microsoft.com/office/drawing/2014/main" val="2832841633"/>
                  </a:ext>
                </a:extLst>
              </a:tr>
              <a:tr h="198255">
                <a:tc>
                  <a:txBody>
                    <a:bodyPr/>
                    <a:lstStyle/>
                    <a:p>
                      <a:pPr>
                        <a:lnSpc>
                          <a:spcPct val="107000"/>
                        </a:lnSpc>
                        <a:spcAft>
                          <a:spcPts val="800"/>
                        </a:spcAft>
                        <a:buNone/>
                      </a:pPr>
                      <a:r>
                        <a:rPr lang="en-ZA" sz="1300" dirty="0">
                          <a:effectLst/>
                          <a:latin typeface="Garamond" panose="02020404030301010803" pitchFamily="18" charset="0"/>
                        </a:rPr>
                        <a:t>Stage 1 Audit (includes testing for product certification)</a:t>
                      </a:r>
                      <a:endParaRPr lang="en-ZA" sz="1300" dirty="0">
                        <a:effectLst/>
                        <a:latin typeface="Garamond" panose="02020404030301010803" pitchFamily="18" charset="0"/>
                        <a:ea typeface="Calibri" panose="020F0502020204030204" pitchFamily="34" charset="0"/>
                        <a:cs typeface="Times New Roman" panose="02020603050405020304" pitchFamily="18" charset="0"/>
                      </a:endParaRPr>
                    </a:p>
                  </a:txBody>
                  <a:tcPr marL="39875" marR="39875" marT="0" marB="0" anchor="ctr"/>
                </a:tc>
                <a:tc>
                  <a:txBody>
                    <a:bodyPr/>
                    <a:lstStyle/>
                    <a:p>
                      <a:pPr>
                        <a:lnSpc>
                          <a:spcPct val="107000"/>
                        </a:lnSpc>
                        <a:spcAft>
                          <a:spcPts val="800"/>
                        </a:spcAft>
                        <a:buNone/>
                      </a:pPr>
                      <a:r>
                        <a:rPr lang="en-ZA" sz="1300">
                          <a:effectLst/>
                          <a:latin typeface="Garamond" panose="02020404030301010803" pitchFamily="18" charset="0"/>
                        </a:rPr>
                        <a:t>As soon as readiness is communicated by client</a:t>
                      </a:r>
                      <a:endParaRPr lang="en-ZA" sz="1300" dirty="0">
                        <a:effectLst/>
                        <a:latin typeface="Garamond" panose="02020404030301010803" pitchFamily="18" charset="0"/>
                        <a:ea typeface="Calibri" panose="020F0502020204030204" pitchFamily="34" charset="0"/>
                        <a:cs typeface="Times New Roman" panose="02020603050405020304" pitchFamily="18" charset="0"/>
                      </a:endParaRPr>
                    </a:p>
                  </a:txBody>
                  <a:tcPr marL="39875" marR="39875" marT="0" marB="0" anchor="ctr"/>
                </a:tc>
                <a:extLst>
                  <a:ext uri="{0D108BD9-81ED-4DB2-BD59-A6C34878D82A}">
                    <a16:rowId xmlns:a16="http://schemas.microsoft.com/office/drawing/2014/main" val="1304884729"/>
                  </a:ext>
                </a:extLst>
              </a:tr>
              <a:tr h="613112">
                <a:tc>
                  <a:txBody>
                    <a:bodyPr/>
                    <a:lstStyle/>
                    <a:p>
                      <a:pPr>
                        <a:lnSpc>
                          <a:spcPct val="107000"/>
                        </a:lnSpc>
                        <a:spcAft>
                          <a:spcPts val="800"/>
                        </a:spcAft>
                        <a:buNone/>
                      </a:pPr>
                      <a:r>
                        <a:rPr lang="en-ZA" sz="1300" dirty="0">
                          <a:effectLst/>
                          <a:latin typeface="Garamond" panose="02020404030301010803" pitchFamily="18" charset="0"/>
                        </a:rPr>
                        <a:t>Clearing of stage 1 Audit findings </a:t>
                      </a:r>
                      <a:endParaRPr lang="en-ZA" sz="1300" dirty="0">
                        <a:effectLst/>
                        <a:latin typeface="Garamond" panose="02020404030301010803" pitchFamily="18" charset="0"/>
                        <a:ea typeface="Calibri" panose="020F0502020204030204" pitchFamily="34" charset="0"/>
                        <a:cs typeface="Times New Roman" panose="02020603050405020304" pitchFamily="18" charset="0"/>
                      </a:endParaRPr>
                    </a:p>
                  </a:txBody>
                  <a:tcPr marL="39875" marR="39875" marT="0" marB="0" anchor="ctr"/>
                </a:tc>
                <a:tc>
                  <a:txBody>
                    <a:bodyPr/>
                    <a:lstStyle/>
                    <a:p>
                      <a:pPr>
                        <a:lnSpc>
                          <a:spcPct val="107000"/>
                        </a:lnSpc>
                        <a:spcAft>
                          <a:spcPts val="800"/>
                        </a:spcAft>
                        <a:buNone/>
                      </a:pPr>
                      <a:r>
                        <a:rPr lang="en-ZA" sz="1300" dirty="0">
                          <a:effectLst/>
                          <a:latin typeface="Garamond" panose="02020404030301010803" pitchFamily="18" charset="0"/>
                        </a:rPr>
                        <a:t>To be completed within 6 months from audit date, otherwise re-do stage 1 (can be completed within a shorter timeframe depending on how quick you are to clear the findings)</a:t>
                      </a:r>
                      <a:endParaRPr lang="en-ZA" sz="1300" dirty="0">
                        <a:effectLst/>
                        <a:latin typeface="Garamond" panose="02020404030301010803" pitchFamily="18" charset="0"/>
                        <a:ea typeface="Calibri" panose="020F0502020204030204" pitchFamily="34" charset="0"/>
                        <a:cs typeface="Times New Roman" panose="02020603050405020304" pitchFamily="18" charset="0"/>
                      </a:endParaRPr>
                    </a:p>
                  </a:txBody>
                  <a:tcPr marL="39875" marR="39875" marT="0" marB="0" anchor="ctr"/>
                </a:tc>
                <a:extLst>
                  <a:ext uri="{0D108BD9-81ED-4DB2-BD59-A6C34878D82A}">
                    <a16:rowId xmlns:a16="http://schemas.microsoft.com/office/drawing/2014/main" val="723799215"/>
                  </a:ext>
                </a:extLst>
              </a:tr>
              <a:tr h="198255">
                <a:tc>
                  <a:txBody>
                    <a:bodyPr/>
                    <a:lstStyle/>
                    <a:p>
                      <a:pPr>
                        <a:lnSpc>
                          <a:spcPct val="107000"/>
                        </a:lnSpc>
                        <a:spcAft>
                          <a:spcPts val="800"/>
                        </a:spcAft>
                        <a:buNone/>
                      </a:pPr>
                      <a:r>
                        <a:rPr lang="en-ZA" sz="1300" dirty="0">
                          <a:effectLst/>
                          <a:latin typeface="Garamond" panose="02020404030301010803" pitchFamily="18" charset="0"/>
                        </a:rPr>
                        <a:t>Stage 2 </a:t>
                      </a:r>
                      <a:r>
                        <a:rPr lang="en-ZA" sz="1300" dirty="0">
                          <a:solidFill>
                            <a:schemeClr val="tx1"/>
                          </a:solidFill>
                          <a:effectLst/>
                          <a:latin typeface="Garamond" panose="02020404030301010803" pitchFamily="18" charset="0"/>
                        </a:rPr>
                        <a:t>Audit </a:t>
                      </a:r>
                      <a:r>
                        <a:rPr kumimoji="0" lang="en-ZA" sz="1300" b="1" u="none" strike="noStrike" kern="1200" cap="none" spc="0" normalizeH="0" baseline="0" noProof="0" dirty="0">
                          <a:ln>
                            <a:noFill/>
                          </a:ln>
                          <a:solidFill>
                            <a:schemeClr val="tx1"/>
                          </a:solidFill>
                          <a:effectLst/>
                          <a:uLnTx/>
                          <a:uFillTx/>
                          <a:latin typeface="Garamond" panose="02020404030301010803" pitchFamily="18" charset="0"/>
                        </a:rPr>
                        <a:t>(includes testing for product certification)</a:t>
                      </a:r>
                      <a:endParaRPr lang="en-ZA" sz="1300" dirty="0">
                        <a:solidFill>
                          <a:schemeClr val="tx1"/>
                        </a:solidFill>
                        <a:effectLst/>
                        <a:latin typeface="Garamond" panose="02020404030301010803" pitchFamily="18" charset="0"/>
                        <a:ea typeface="Calibri" panose="020F0502020204030204" pitchFamily="34" charset="0"/>
                        <a:cs typeface="Times New Roman" panose="02020603050405020304" pitchFamily="18" charset="0"/>
                      </a:endParaRPr>
                    </a:p>
                  </a:txBody>
                  <a:tcPr marL="39875" marR="39875" marT="0" marB="0" anchor="ctr"/>
                </a:tc>
                <a:tc>
                  <a:txBody>
                    <a:bodyPr/>
                    <a:lstStyle/>
                    <a:p>
                      <a:pPr>
                        <a:lnSpc>
                          <a:spcPct val="107000"/>
                        </a:lnSpc>
                        <a:spcAft>
                          <a:spcPts val="800"/>
                        </a:spcAft>
                        <a:buNone/>
                      </a:pPr>
                      <a:r>
                        <a:rPr lang="en-ZA" sz="1300" dirty="0">
                          <a:effectLst/>
                          <a:latin typeface="Garamond" panose="02020404030301010803" pitchFamily="18" charset="0"/>
                        </a:rPr>
                        <a:t>To be conducted upon communication of clearance of stage 1 findings</a:t>
                      </a:r>
                      <a:endParaRPr lang="en-ZA" sz="1300" dirty="0">
                        <a:effectLst/>
                        <a:latin typeface="Garamond" panose="02020404030301010803" pitchFamily="18" charset="0"/>
                        <a:ea typeface="Calibri" panose="020F0502020204030204" pitchFamily="34" charset="0"/>
                        <a:cs typeface="Times New Roman" panose="02020603050405020304" pitchFamily="18" charset="0"/>
                      </a:endParaRPr>
                    </a:p>
                  </a:txBody>
                  <a:tcPr marL="39875" marR="39875" marT="0" marB="0" anchor="ctr"/>
                </a:tc>
                <a:extLst>
                  <a:ext uri="{0D108BD9-81ED-4DB2-BD59-A6C34878D82A}">
                    <a16:rowId xmlns:a16="http://schemas.microsoft.com/office/drawing/2014/main" val="3756886503"/>
                  </a:ext>
                </a:extLst>
              </a:tr>
              <a:tr h="405684">
                <a:tc>
                  <a:txBody>
                    <a:bodyPr/>
                    <a:lstStyle/>
                    <a:p>
                      <a:pPr>
                        <a:lnSpc>
                          <a:spcPct val="107000"/>
                        </a:lnSpc>
                        <a:spcAft>
                          <a:spcPts val="800"/>
                        </a:spcAft>
                        <a:buNone/>
                      </a:pPr>
                      <a:r>
                        <a:rPr lang="en-ZA" sz="1300" dirty="0">
                          <a:effectLst/>
                          <a:latin typeface="Garamond" panose="02020404030301010803" pitchFamily="18" charset="0"/>
                        </a:rPr>
                        <a:t>Clearing of stage 2 Audit findings</a:t>
                      </a:r>
                      <a:endParaRPr lang="en-ZA" sz="1300" dirty="0">
                        <a:effectLst/>
                        <a:latin typeface="Garamond" panose="02020404030301010803" pitchFamily="18" charset="0"/>
                        <a:ea typeface="Calibri" panose="020F0502020204030204" pitchFamily="34" charset="0"/>
                        <a:cs typeface="Times New Roman" panose="02020603050405020304" pitchFamily="18" charset="0"/>
                      </a:endParaRPr>
                    </a:p>
                  </a:txBody>
                  <a:tcPr marL="39875" marR="39875" marT="0" marB="0" anchor="ctr"/>
                </a:tc>
                <a:tc>
                  <a:txBody>
                    <a:bodyPr/>
                    <a:lstStyle/>
                    <a:p>
                      <a:pPr>
                        <a:lnSpc>
                          <a:spcPct val="107000"/>
                        </a:lnSpc>
                        <a:spcAft>
                          <a:spcPts val="800"/>
                        </a:spcAft>
                        <a:buNone/>
                      </a:pPr>
                      <a:r>
                        <a:rPr lang="en-ZA" sz="1300" dirty="0">
                          <a:effectLst/>
                          <a:latin typeface="Garamond" panose="02020404030301010803" pitchFamily="18" charset="0"/>
                        </a:rPr>
                        <a:t>To be completed within 6 months from audit date (can also be completed within a shorter timeframe depending on how quick you are to clear the findings)</a:t>
                      </a:r>
                      <a:endParaRPr lang="en-ZA" sz="1300" dirty="0">
                        <a:effectLst/>
                        <a:latin typeface="Garamond" panose="02020404030301010803" pitchFamily="18" charset="0"/>
                        <a:ea typeface="Calibri" panose="020F0502020204030204" pitchFamily="34" charset="0"/>
                        <a:cs typeface="Times New Roman" panose="02020603050405020304" pitchFamily="18" charset="0"/>
                      </a:endParaRPr>
                    </a:p>
                  </a:txBody>
                  <a:tcPr marL="39875" marR="39875" marT="0" marB="0" anchor="ctr"/>
                </a:tc>
                <a:extLst>
                  <a:ext uri="{0D108BD9-81ED-4DB2-BD59-A6C34878D82A}">
                    <a16:rowId xmlns:a16="http://schemas.microsoft.com/office/drawing/2014/main" val="3658705492"/>
                  </a:ext>
                </a:extLst>
              </a:tr>
              <a:tr h="405684">
                <a:tc>
                  <a:txBody>
                    <a:bodyPr/>
                    <a:lstStyle/>
                    <a:p>
                      <a:pPr>
                        <a:lnSpc>
                          <a:spcPct val="107000"/>
                        </a:lnSpc>
                        <a:spcAft>
                          <a:spcPts val="800"/>
                        </a:spcAft>
                        <a:buNone/>
                      </a:pPr>
                      <a:r>
                        <a:rPr lang="en-ZA" sz="1300" dirty="0">
                          <a:effectLst/>
                          <a:latin typeface="Garamond" panose="02020404030301010803" pitchFamily="18" charset="0"/>
                        </a:rPr>
                        <a:t>Certification Approval Committee (CAC) sitting</a:t>
                      </a:r>
                      <a:endParaRPr lang="en-ZA" sz="1300" dirty="0">
                        <a:effectLst/>
                        <a:latin typeface="Garamond" panose="02020404030301010803" pitchFamily="18" charset="0"/>
                        <a:ea typeface="Calibri" panose="020F0502020204030204" pitchFamily="34" charset="0"/>
                        <a:cs typeface="Times New Roman" panose="02020603050405020304" pitchFamily="18" charset="0"/>
                      </a:endParaRPr>
                    </a:p>
                  </a:txBody>
                  <a:tcPr marL="39875" marR="39875" marT="0" marB="0" anchor="ctr"/>
                </a:tc>
                <a:tc>
                  <a:txBody>
                    <a:bodyPr/>
                    <a:lstStyle/>
                    <a:p>
                      <a:pPr>
                        <a:lnSpc>
                          <a:spcPct val="107000"/>
                        </a:lnSpc>
                        <a:spcAft>
                          <a:spcPts val="800"/>
                        </a:spcAft>
                        <a:buNone/>
                      </a:pPr>
                      <a:r>
                        <a:rPr lang="en-ZA" sz="1300" dirty="0">
                          <a:effectLst/>
                          <a:latin typeface="Garamond" panose="02020404030301010803" pitchFamily="18" charset="0"/>
                        </a:rPr>
                        <a:t>Client file reviewed by committee to decide whether to certify or not ( within a week upon completion of clearance of stage 2 findings)</a:t>
                      </a:r>
                      <a:endParaRPr lang="en-ZA" sz="1300" dirty="0">
                        <a:effectLst/>
                        <a:latin typeface="Garamond" panose="02020404030301010803" pitchFamily="18" charset="0"/>
                        <a:ea typeface="Calibri" panose="020F0502020204030204" pitchFamily="34" charset="0"/>
                        <a:cs typeface="Times New Roman" panose="02020603050405020304" pitchFamily="18" charset="0"/>
                      </a:endParaRPr>
                    </a:p>
                  </a:txBody>
                  <a:tcPr marL="39875" marR="39875" marT="0" marB="0" anchor="ctr"/>
                </a:tc>
                <a:extLst>
                  <a:ext uri="{0D108BD9-81ED-4DB2-BD59-A6C34878D82A}">
                    <a16:rowId xmlns:a16="http://schemas.microsoft.com/office/drawing/2014/main" val="2778293784"/>
                  </a:ext>
                </a:extLst>
              </a:tr>
              <a:tr h="198255">
                <a:tc>
                  <a:txBody>
                    <a:bodyPr/>
                    <a:lstStyle/>
                    <a:p>
                      <a:pPr>
                        <a:lnSpc>
                          <a:spcPct val="107000"/>
                        </a:lnSpc>
                        <a:spcAft>
                          <a:spcPts val="800"/>
                        </a:spcAft>
                        <a:buNone/>
                      </a:pPr>
                      <a:r>
                        <a:rPr lang="en-ZA" sz="1300">
                          <a:effectLst/>
                          <a:latin typeface="Garamond" panose="02020404030301010803" pitchFamily="18" charset="0"/>
                        </a:rPr>
                        <a:t>Certification decision communicated</a:t>
                      </a:r>
                      <a:endParaRPr lang="en-ZA" sz="1300">
                        <a:effectLst/>
                        <a:latin typeface="Garamond" panose="02020404030301010803" pitchFamily="18" charset="0"/>
                        <a:ea typeface="Calibri" panose="020F0502020204030204" pitchFamily="34" charset="0"/>
                        <a:cs typeface="Times New Roman" panose="02020603050405020304" pitchFamily="18" charset="0"/>
                      </a:endParaRPr>
                    </a:p>
                  </a:txBody>
                  <a:tcPr marL="39875" marR="39875" marT="0" marB="0" anchor="ctr"/>
                </a:tc>
                <a:tc>
                  <a:txBody>
                    <a:bodyPr/>
                    <a:lstStyle/>
                    <a:p>
                      <a:pPr>
                        <a:lnSpc>
                          <a:spcPct val="107000"/>
                        </a:lnSpc>
                        <a:spcAft>
                          <a:spcPts val="800"/>
                        </a:spcAft>
                        <a:buNone/>
                      </a:pPr>
                      <a:r>
                        <a:rPr lang="en-ZA" sz="1300" dirty="0">
                          <a:effectLst/>
                          <a:latin typeface="Garamond" panose="02020404030301010803" pitchFamily="18" charset="0"/>
                        </a:rPr>
                        <a:t>Following CAC meeting</a:t>
                      </a:r>
                      <a:endParaRPr lang="en-ZA" sz="1300" dirty="0">
                        <a:effectLst/>
                        <a:latin typeface="Garamond" panose="02020404030301010803" pitchFamily="18" charset="0"/>
                        <a:ea typeface="Calibri" panose="020F0502020204030204" pitchFamily="34" charset="0"/>
                        <a:cs typeface="Times New Roman" panose="02020603050405020304" pitchFamily="18" charset="0"/>
                      </a:endParaRPr>
                    </a:p>
                  </a:txBody>
                  <a:tcPr marL="39875" marR="39875" marT="0" marB="0" anchor="ctr"/>
                </a:tc>
                <a:extLst>
                  <a:ext uri="{0D108BD9-81ED-4DB2-BD59-A6C34878D82A}">
                    <a16:rowId xmlns:a16="http://schemas.microsoft.com/office/drawing/2014/main" val="3877584089"/>
                  </a:ext>
                </a:extLst>
              </a:tr>
              <a:tr h="450214">
                <a:tc gridSpan="2">
                  <a:txBody>
                    <a:bodyPr/>
                    <a:lstStyle/>
                    <a:p>
                      <a:pPr>
                        <a:lnSpc>
                          <a:spcPct val="107000"/>
                        </a:lnSpc>
                        <a:spcAft>
                          <a:spcPts val="800"/>
                        </a:spcAft>
                        <a:buNone/>
                      </a:pPr>
                      <a:r>
                        <a:rPr lang="en-ZA" sz="1300" dirty="0">
                          <a:effectLst/>
                          <a:latin typeface="Garamond" panose="02020404030301010803" pitchFamily="18" charset="0"/>
                        </a:rPr>
                        <a:t>Certificates printing and presentation</a:t>
                      </a:r>
                    </a:p>
                  </a:txBody>
                  <a:tcPr marL="39875" marR="39875" marT="0" marB="0" anchor="ctr"/>
                </a:tc>
                <a:tc hMerge="1">
                  <a:txBody>
                    <a:bodyPr/>
                    <a:lstStyle/>
                    <a:p>
                      <a:endParaRPr lang="en-ZA"/>
                    </a:p>
                  </a:txBody>
                  <a:tcPr/>
                </a:tc>
                <a:extLst>
                  <a:ext uri="{0D108BD9-81ED-4DB2-BD59-A6C34878D82A}">
                    <a16:rowId xmlns:a16="http://schemas.microsoft.com/office/drawing/2014/main" val="1677461490"/>
                  </a:ext>
                </a:extLst>
              </a:tr>
              <a:tr h="0">
                <a:tc gridSpan="2">
                  <a:txBody>
                    <a:bodyPr/>
                    <a:lstStyle/>
                    <a:p>
                      <a:pPr>
                        <a:lnSpc>
                          <a:spcPct val="107000"/>
                        </a:lnSpc>
                        <a:spcAft>
                          <a:spcPts val="800"/>
                        </a:spcAft>
                        <a:buNone/>
                      </a:pPr>
                      <a:r>
                        <a:rPr lang="en-ZA" sz="1300" dirty="0">
                          <a:solidFill>
                            <a:schemeClr val="tx1"/>
                          </a:solidFill>
                          <a:effectLst/>
                          <a:latin typeface="Garamond" panose="02020404030301010803" pitchFamily="18" charset="0"/>
                        </a:rPr>
                        <a:t>Activities after certification is granted ( for maintenance of certification)</a:t>
                      </a:r>
                    </a:p>
                  </a:txBody>
                  <a:tcPr marL="39875" marR="39875" marT="0" marB="0" anchor="ctr"/>
                </a:tc>
                <a:tc hMerge="1">
                  <a:txBody>
                    <a:bodyPr/>
                    <a:lstStyle/>
                    <a:p>
                      <a:endParaRPr lang="en-ZA"/>
                    </a:p>
                  </a:txBody>
                  <a:tcPr/>
                </a:tc>
                <a:extLst>
                  <a:ext uri="{0D108BD9-81ED-4DB2-BD59-A6C34878D82A}">
                    <a16:rowId xmlns:a16="http://schemas.microsoft.com/office/drawing/2014/main" val="2779494659"/>
                  </a:ext>
                </a:extLst>
              </a:tr>
              <a:tr h="186389">
                <a:tc>
                  <a:txBody>
                    <a:bodyPr/>
                    <a:lstStyle/>
                    <a:p>
                      <a:pPr>
                        <a:lnSpc>
                          <a:spcPct val="107000"/>
                        </a:lnSpc>
                        <a:spcAft>
                          <a:spcPts val="800"/>
                        </a:spcAft>
                        <a:buNone/>
                      </a:pPr>
                      <a:r>
                        <a:rPr lang="en-ZA" sz="1300" dirty="0">
                          <a:effectLst/>
                          <a:latin typeface="Garamond" panose="02020404030301010803" pitchFamily="18" charset="0"/>
                        </a:rPr>
                        <a:t>Surveillance 1 (Includes product testing for product certification)</a:t>
                      </a:r>
                      <a:endParaRPr lang="en-ZA" sz="1300" dirty="0">
                        <a:effectLst/>
                        <a:latin typeface="Garamond" panose="02020404030301010803" pitchFamily="18" charset="0"/>
                        <a:ea typeface="Calibri" panose="020F0502020204030204" pitchFamily="34" charset="0"/>
                        <a:cs typeface="Times New Roman" panose="02020603050405020304" pitchFamily="18" charset="0"/>
                      </a:endParaRPr>
                    </a:p>
                  </a:txBody>
                  <a:tcPr marL="39875" marR="39875" marT="0" marB="0" anchor="ctr"/>
                </a:tc>
                <a:tc>
                  <a:txBody>
                    <a:bodyPr/>
                    <a:lstStyle/>
                    <a:p>
                      <a:pPr>
                        <a:lnSpc>
                          <a:spcPct val="107000"/>
                        </a:lnSpc>
                        <a:spcAft>
                          <a:spcPts val="800"/>
                        </a:spcAft>
                        <a:buNone/>
                      </a:pPr>
                      <a:r>
                        <a:rPr lang="en-ZA" sz="1300" dirty="0">
                          <a:effectLst/>
                          <a:latin typeface="Garamond" panose="02020404030301010803" pitchFamily="18" charset="0"/>
                        </a:rPr>
                        <a:t>Within the first 12 months after certification</a:t>
                      </a:r>
                      <a:endParaRPr lang="en-ZA" sz="1300" dirty="0">
                        <a:effectLst/>
                        <a:latin typeface="Garamond" panose="02020404030301010803" pitchFamily="18" charset="0"/>
                        <a:ea typeface="Calibri" panose="020F0502020204030204" pitchFamily="34" charset="0"/>
                        <a:cs typeface="Times New Roman" panose="02020603050405020304" pitchFamily="18" charset="0"/>
                      </a:endParaRPr>
                    </a:p>
                  </a:txBody>
                  <a:tcPr marL="39875" marR="39875" marT="0" marB="0" anchor="ctr"/>
                </a:tc>
                <a:extLst>
                  <a:ext uri="{0D108BD9-81ED-4DB2-BD59-A6C34878D82A}">
                    <a16:rowId xmlns:a16="http://schemas.microsoft.com/office/drawing/2014/main" val="4075367168"/>
                  </a:ext>
                </a:extLst>
              </a:tr>
              <a:tr h="584546">
                <a:tc>
                  <a:txBody>
                    <a:bodyPr/>
                    <a:lstStyle/>
                    <a:p>
                      <a:pPr>
                        <a:lnSpc>
                          <a:spcPct val="107000"/>
                        </a:lnSpc>
                        <a:spcAft>
                          <a:spcPts val="800"/>
                        </a:spcAft>
                        <a:buNone/>
                      </a:pPr>
                      <a:r>
                        <a:rPr lang="en-ZA" sz="1300" dirty="0">
                          <a:effectLst/>
                          <a:latin typeface="Garamond" panose="02020404030301010803" pitchFamily="18" charset="0"/>
                        </a:rPr>
                        <a:t>Surveillance 2 (Includes product testing for product certification)</a:t>
                      </a:r>
                    </a:p>
                  </a:txBody>
                  <a:tcPr marL="39875" marR="39875" marT="0" marB="0" anchor="ctr"/>
                </a:tc>
                <a:tc>
                  <a:txBody>
                    <a:bodyPr/>
                    <a:lstStyle/>
                    <a:p>
                      <a:pPr>
                        <a:lnSpc>
                          <a:spcPct val="107000"/>
                        </a:lnSpc>
                        <a:spcAft>
                          <a:spcPts val="800"/>
                        </a:spcAft>
                        <a:buNone/>
                      </a:pPr>
                      <a:r>
                        <a:rPr lang="en-ZA" sz="1300" dirty="0">
                          <a:effectLst/>
                          <a:latin typeface="Garamond" panose="02020404030301010803" pitchFamily="18" charset="0"/>
                        </a:rPr>
                        <a:t>Within 12 months after first surveillance</a:t>
                      </a:r>
                      <a:endParaRPr lang="en-ZA" sz="1300" dirty="0">
                        <a:effectLst/>
                        <a:latin typeface="Garamond" panose="02020404030301010803" pitchFamily="18" charset="0"/>
                        <a:ea typeface="Calibri" panose="020F0502020204030204" pitchFamily="34" charset="0"/>
                        <a:cs typeface="Times New Roman" panose="02020603050405020304" pitchFamily="18" charset="0"/>
                      </a:endParaRPr>
                    </a:p>
                  </a:txBody>
                  <a:tcPr marL="39875" marR="39875" marT="0" marB="0" anchor="ctr"/>
                </a:tc>
                <a:extLst>
                  <a:ext uri="{0D108BD9-81ED-4DB2-BD59-A6C34878D82A}">
                    <a16:rowId xmlns:a16="http://schemas.microsoft.com/office/drawing/2014/main" val="139188099"/>
                  </a:ext>
                </a:extLst>
              </a:tr>
              <a:tr h="562580">
                <a:tc>
                  <a:txBody>
                    <a:bodyPr/>
                    <a:lstStyle/>
                    <a:p>
                      <a:pPr>
                        <a:lnSpc>
                          <a:spcPct val="107000"/>
                        </a:lnSpc>
                        <a:spcAft>
                          <a:spcPts val="800"/>
                        </a:spcAft>
                        <a:buNone/>
                      </a:pPr>
                      <a:r>
                        <a:rPr lang="en-ZA" sz="1300" dirty="0">
                          <a:effectLst/>
                          <a:latin typeface="Garamond" panose="02020404030301010803" pitchFamily="18" charset="0"/>
                        </a:rPr>
                        <a:t>Certificate expiry</a:t>
                      </a:r>
                    </a:p>
                  </a:txBody>
                  <a:tcPr marL="39875" marR="39875" marT="0" marB="0" anchor="ctr"/>
                </a:tc>
                <a:tc>
                  <a:txBody>
                    <a:bodyPr/>
                    <a:lstStyle/>
                    <a:p>
                      <a:pPr>
                        <a:lnSpc>
                          <a:spcPct val="107000"/>
                        </a:lnSpc>
                        <a:spcAft>
                          <a:spcPts val="800"/>
                        </a:spcAft>
                        <a:buNone/>
                      </a:pPr>
                      <a:r>
                        <a:rPr lang="en-ZA" sz="1300" dirty="0">
                          <a:effectLst/>
                          <a:latin typeface="Garamond" panose="02020404030301010803" pitchFamily="18" charset="0"/>
                        </a:rPr>
                        <a:t>After 3 years</a:t>
                      </a:r>
                      <a:endParaRPr lang="en-ZA" sz="1300" dirty="0">
                        <a:effectLst/>
                        <a:latin typeface="Garamond" panose="02020404030301010803" pitchFamily="18" charset="0"/>
                        <a:ea typeface="Calibri" panose="020F0502020204030204" pitchFamily="34" charset="0"/>
                        <a:cs typeface="Times New Roman" panose="02020603050405020304" pitchFamily="18" charset="0"/>
                      </a:endParaRPr>
                    </a:p>
                  </a:txBody>
                  <a:tcPr marL="39875" marR="39875" marT="0" marB="0" anchor="ctr"/>
                </a:tc>
                <a:extLst>
                  <a:ext uri="{0D108BD9-81ED-4DB2-BD59-A6C34878D82A}">
                    <a16:rowId xmlns:a16="http://schemas.microsoft.com/office/drawing/2014/main" val="3550854586"/>
                  </a:ext>
                </a:extLst>
              </a:tr>
              <a:tr h="198255">
                <a:tc>
                  <a:txBody>
                    <a:bodyPr/>
                    <a:lstStyle/>
                    <a:p>
                      <a:pPr>
                        <a:lnSpc>
                          <a:spcPct val="107000"/>
                        </a:lnSpc>
                        <a:spcAft>
                          <a:spcPts val="800"/>
                        </a:spcAft>
                        <a:buNone/>
                      </a:pPr>
                      <a:r>
                        <a:rPr lang="en-ZA" sz="1300" dirty="0">
                          <a:effectLst/>
                          <a:latin typeface="Garamond" panose="02020404030301010803" pitchFamily="18" charset="0"/>
                        </a:rPr>
                        <a:t>Recertification activities resumption </a:t>
                      </a:r>
                      <a:endParaRPr lang="en-ZA" sz="1300" dirty="0">
                        <a:effectLst/>
                        <a:latin typeface="Garamond" panose="02020404030301010803" pitchFamily="18" charset="0"/>
                        <a:ea typeface="Calibri" panose="020F0502020204030204" pitchFamily="34" charset="0"/>
                        <a:cs typeface="Times New Roman" panose="02020603050405020304" pitchFamily="18" charset="0"/>
                      </a:endParaRPr>
                    </a:p>
                  </a:txBody>
                  <a:tcPr marL="39875" marR="39875" marT="0" marB="0" anchor="ctr"/>
                </a:tc>
                <a:tc>
                  <a:txBody>
                    <a:bodyPr/>
                    <a:lstStyle/>
                    <a:p>
                      <a:pPr>
                        <a:lnSpc>
                          <a:spcPct val="107000"/>
                        </a:lnSpc>
                        <a:spcAft>
                          <a:spcPts val="800"/>
                        </a:spcAft>
                        <a:buNone/>
                      </a:pPr>
                      <a:r>
                        <a:rPr lang="en-ZA" sz="1300" dirty="0">
                          <a:effectLst/>
                          <a:latin typeface="Garamond" panose="02020404030301010803" pitchFamily="18" charset="0"/>
                        </a:rPr>
                        <a:t>6 months before expiry of current certificate.</a:t>
                      </a:r>
                      <a:endParaRPr lang="en-ZA" sz="1300" dirty="0">
                        <a:effectLst/>
                        <a:latin typeface="Garamond" panose="02020404030301010803" pitchFamily="18" charset="0"/>
                        <a:ea typeface="Calibri" panose="020F0502020204030204" pitchFamily="34" charset="0"/>
                        <a:cs typeface="Times New Roman" panose="02020603050405020304" pitchFamily="18" charset="0"/>
                      </a:endParaRPr>
                    </a:p>
                  </a:txBody>
                  <a:tcPr marL="39875" marR="39875" marT="0" marB="0" anchor="ctr"/>
                </a:tc>
                <a:extLst>
                  <a:ext uri="{0D108BD9-81ED-4DB2-BD59-A6C34878D82A}">
                    <a16:rowId xmlns:a16="http://schemas.microsoft.com/office/drawing/2014/main" val="180834442"/>
                  </a:ext>
                </a:extLst>
              </a:tr>
            </a:tbl>
          </a:graphicData>
        </a:graphic>
      </p:graphicFrame>
      <p:pic>
        <p:nvPicPr>
          <p:cNvPr id="8" name="Picture 2">
            <a:extLst>
              <a:ext uri="{FF2B5EF4-FFF2-40B4-BE49-F238E27FC236}">
                <a16:creationId xmlns:a16="http://schemas.microsoft.com/office/drawing/2014/main" id="{EB7D45E8-8898-E6F9-79CC-382FC09D935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768097" y="4342730"/>
            <a:ext cx="4152192" cy="144000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Lst>
        </p:spPr>
      </p:pic>
    </p:spTree>
    <p:extLst>
      <p:ext uri="{BB962C8B-B14F-4D97-AF65-F5344CB8AC3E}">
        <p14:creationId xmlns:p14="http://schemas.microsoft.com/office/powerpoint/2010/main" val="35961811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97B1BC-0B2B-A7E9-70F6-7AB0E5C0C93C}"/>
            </a:ext>
          </a:extLst>
        </p:cNvPr>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1090BC7C-83B3-443E-9BE8-69D688B9BA50}"/>
              </a:ext>
            </a:extLst>
          </p:cNvPr>
          <p:cNvPicPr>
            <a:picLocks noGrp="1" noChangeAspect="1"/>
          </p:cNvPicPr>
          <p:nvPr>
            <p:ph idx="1"/>
          </p:nvPr>
        </p:nvPicPr>
        <p:blipFill>
          <a:blip r:embed="rId3"/>
          <a:stretch>
            <a:fillRect/>
          </a:stretch>
        </p:blipFill>
        <p:spPr>
          <a:xfrm>
            <a:off x="0" y="0"/>
            <a:ext cx="12192000" cy="6858000"/>
          </a:xfrm>
        </p:spPr>
      </p:pic>
      <p:sp>
        <p:nvSpPr>
          <p:cNvPr id="6" name="Rectangle 5">
            <a:extLst>
              <a:ext uri="{FF2B5EF4-FFF2-40B4-BE49-F238E27FC236}">
                <a16:creationId xmlns:a16="http://schemas.microsoft.com/office/drawing/2014/main" id="{E456468F-0966-2C04-BAA4-BFF32F39E892}"/>
              </a:ext>
            </a:extLst>
          </p:cNvPr>
          <p:cNvSpPr/>
          <p:nvPr/>
        </p:nvSpPr>
        <p:spPr>
          <a:xfrm>
            <a:off x="540000" y="1516871"/>
            <a:ext cx="10196051" cy="387391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7" name="Rectangle 6">
            <a:extLst>
              <a:ext uri="{FF2B5EF4-FFF2-40B4-BE49-F238E27FC236}">
                <a16:creationId xmlns:a16="http://schemas.microsoft.com/office/drawing/2014/main" id="{87049F4B-2CC9-4A09-E4B5-614A8A7C6B38}"/>
              </a:ext>
            </a:extLst>
          </p:cNvPr>
          <p:cNvSpPr/>
          <p:nvPr/>
        </p:nvSpPr>
        <p:spPr>
          <a:xfrm>
            <a:off x="481781" y="648929"/>
            <a:ext cx="1976284" cy="7374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8" name="Picture 7">
            <a:extLst>
              <a:ext uri="{FF2B5EF4-FFF2-40B4-BE49-F238E27FC236}">
                <a16:creationId xmlns:a16="http://schemas.microsoft.com/office/drawing/2014/main" id="{10A267D8-C7B4-9DE0-67A4-646647DB4B8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2038"/>
            <a:ext cx="1080000" cy="1080000"/>
          </a:xfrm>
          <a:prstGeom prst="rect">
            <a:avLst/>
          </a:prstGeom>
        </p:spPr>
      </p:pic>
      <p:sp>
        <p:nvSpPr>
          <p:cNvPr id="10" name="Arrow: Pentagon 9">
            <a:extLst>
              <a:ext uri="{FF2B5EF4-FFF2-40B4-BE49-F238E27FC236}">
                <a16:creationId xmlns:a16="http://schemas.microsoft.com/office/drawing/2014/main" id="{0218935B-E4EC-E5E1-068A-F4122EB8461C}"/>
              </a:ext>
            </a:extLst>
          </p:cNvPr>
          <p:cNvSpPr/>
          <p:nvPr/>
        </p:nvSpPr>
        <p:spPr>
          <a:xfrm>
            <a:off x="1315820" y="1705373"/>
            <a:ext cx="2376000" cy="58994"/>
          </a:xfrm>
          <a:prstGeom prst="homePlate">
            <a:avLst/>
          </a:prstGeom>
          <a:solidFill>
            <a:srgbClr val="004A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1" name="Rectangle 10">
            <a:extLst>
              <a:ext uri="{FF2B5EF4-FFF2-40B4-BE49-F238E27FC236}">
                <a16:creationId xmlns:a16="http://schemas.microsoft.com/office/drawing/2014/main" id="{98F3423A-ABD3-75E1-CCE4-8808ACB9C221}"/>
              </a:ext>
            </a:extLst>
          </p:cNvPr>
          <p:cNvSpPr/>
          <p:nvPr/>
        </p:nvSpPr>
        <p:spPr>
          <a:xfrm>
            <a:off x="1315820" y="683304"/>
            <a:ext cx="3139780" cy="9144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2800" b="1" dirty="0">
                <a:solidFill>
                  <a:schemeClr val="tx1"/>
                </a:solidFill>
                <a:latin typeface="Garamond" panose="02020404030301010803" pitchFamily="18" charset="0"/>
              </a:rPr>
              <a:t>Metrology Services (ISO/IEC 17025)</a:t>
            </a:r>
            <a:endParaRPr lang="en-ZA" sz="2800" b="1" dirty="0">
              <a:solidFill>
                <a:schemeClr val="tx1"/>
              </a:solidFill>
              <a:latin typeface="Garamond" panose="02020404030301010803" pitchFamily="18" charset="0"/>
            </a:endParaRPr>
          </a:p>
        </p:txBody>
      </p:sp>
      <p:sp>
        <p:nvSpPr>
          <p:cNvPr id="3" name="TextBox 2">
            <a:extLst>
              <a:ext uri="{FF2B5EF4-FFF2-40B4-BE49-F238E27FC236}">
                <a16:creationId xmlns:a16="http://schemas.microsoft.com/office/drawing/2014/main" id="{0A5A69E4-7623-E620-EDFF-B7AFACC35FBD}"/>
              </a:ext>
            </a:extLst>
          </p:cNvPr>
          <p:cNvSpPr txBox="1"/>
          <p:nvPr/>
        </p:nvSpPr>
        <p:spPr>
          <a:xfrm>
            <a:off x="137689" y="1896935"/>
            <a:ext cx="5688311" cy="3083216"/>
          </a:xfrm>
          <a:prstGeom prst="rect">
            <a:avLst/>
          </a:prstGeom>
          <a:noFill/>
        </p:spPr>
        <p:txBody>
          <a:bodyPr wrap="square">
            <a:spAutoFit/>
          </a:bodyPr>
          <a:lstStyle/>
          <a:p>
            <a:pPr marL="0" marR="0" indent="0" algn="l">
              <a:lnSpc>
                <a:spcPct val="115000"/>
              </a:lnSpc>
              <a:spcAft>
                <a:spcPts val="800"/>
              </a:spcAft>
              <a:buNone/>
            </a:pPr>
            <a:r>
              <a:rPr lang="en-GB" sz="1400" kern="1400" dirty="0">
                <a:ln>
                  <a:noFill/>
                </a:ln>
                <a:solidFill>
                  <a:srgbClr val="000000"/>
                </a:solidFill>
                <a:effectLst/>
              </a:rPr>
              <a:t>We understand the importance of accurate and reliable measurements for your business. That is why we strive to provide the best calibration services available. </a:t>
            </a:r>
          </a:p>
          <a:p>
            <a:pPr marL="0" marR="0" indent="0" algn="l">
              <a:lnSpc>
                <a:spcPct val="115000"/>
              </a:lnSpc>
              <a:spcAft>
                <a:spcPts val="800"/>
              </a:spcAft>
              <a:buNone/>
            </a:pPr>
            <a:r>
              <a:rPr lang="en-GB" sz="1400" kern="1400" dirty="0">
                <a:ln>
                  <a:noFill/>
                </a:ln>
                <a:solidFill>
                  <a:srgbClr val="000000"/>
                </a:solidFill>
                <a:effectLst/>
              </a:rPr>
              <a:t>Our team of highly skilled technicians are dedicated to providing you with exceptional scale sales, service,  repairs, installations, and calibration of all weighing equipment, weighbridges, and metrology equipment. </a:t>
            </a:r>
          </a:p>
          <a:p>
            <a:pPr marL="0" marR="0" indent="0" algn="l">
              <a:lnSpc>
                <a:spcPct val="115000"/>
              </a:lnSpc>
              <a:spcAft>
                <a:spcPts val="800"/>
              </a:spcAft>
              <a:buNone/>
            </a:pPr>
            <a:r>
              <a:rPr lang="en-GB" sz="1400" kern="1400" dirty="0">
                <a:ln>
                  <a:noFill/>
                </a:ln>
                <a:solidFill>
                  <a:srgbClr val="000000"/>
                </a:solidFill>
                <a:effectLst/>
              </a:rPr>
              <a:t>We utilise only the finest industry-standard equipment and procedures to ensure that all your measuring and testing instruments consistently function at their best, remaining accurate and reliable.</a:t>
            </a:r>
          </a:p>
          <a:p>
            <a:pPr marL="0" marR="0" indent="0" algn="l">
              <a:lnSpc>
                <a:spcPct val="119000"/>
              </a:lnSpc>
              <a:spcAft>
                <a:spcPts val="600"/>
              </a:spcAft>
            </a:pPr>
            <a:r>
              <a:rPr lang="en-GB" sz="1200" kern="1400" dirty="0">
                <a:ln>
                  <a:noFill/>
                </a:ln>
                <a:solidFill>
                  <a:srgbClr val="000000"/>
                </a:solidFill>
                <a:effectLst/>
                <a:latin typeface="Calibri" panose="020F0502020204030204" pitchFamily="34" charset="0"/>
              </a:rPr>
              <a:t> </a:t>
            </a:r>
          </a:p>
        </p:txBody>
      </p:sp>
      <p:sp>
        <p:nvSpPr>
          <p:cNvPr id="15" name="Rectangle 14">
            <a:extLst>
              <a:ext uri="{FF2B5EF4-FFF2-40B4-BE49-F238E27FC236}">
                <a16:creationId xmlns:a16="http://schemas.microsoft.com/office/drawing/2014/main" id="{9D3DA248-D88C-BB94-BA2A-8A5BE76543FC}"/>
              </a:ext>
            </a:extLst>
          </p:cNvPr>
          <p:cNvSpPr/>
          <p:nvPr/>
        </p:nvSpPr>
        <p:spPr>
          <a:xfrm>
            <a:off x="7056449" y="1478400"/>
            <a:ext cx="4459523" cy="9144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2800" b="1" dirty="0">
                <a:solidFill>
                  <a:schemeClr val="tx1"/>
                </a:solidFill>
                <a:latin typeface="Garamond" panose="02020404030301010803" pitchFamily="18" charset="0"/>
              </a:rPr>
              <a:t>Testing Facilitation Services</a:t>
            </a:r>
          </a:p>
          <a:p>
            <a:r>
              <a:rPr lang="en-GB" sz="2800" b="1" dirty="0">
                <a:solidFill>
                  <a:schemeClr val="tx1"/>
                </a:solidFill>
                <a:latin typeface="Garamond" panose="02020404030301010803" pitchFamily="18" charset="0"/>
              </a:rPr>
              <a:t>(ISO/IEC 17025)</a:t>
            </a:r>
            <a:endParaRPr lang="en-ZA" sz="2800" b="1" dirty="0">
              <a:solidFill>
                <a:schemeClr val="tx1"/>
              </a:solidFill>
              <a:latin typeface="Garamond" panose="02020404030301010803" pitchFamily="18" charset="0"/>
            </a:endParaRPr>
          </a:p>
        </p:txBody>
      </p:sp>
      <p:sp>
        <p:nvSpPr>
          <p:cNvPr id="16" name="Arrow: Pentagon 15">
            <a:extLst>
              <a:ext uri="{FF2B5EF4-FFF2-40B4-BE49-F238E27FC236}">
                <a16:creationId xmlns:a16="http://schemas.microsoft.com/office/drawing/2014/main" id="{F4E3B896-547E-4BFB-A38F-DD08BAD2CE59}"/>
              </a:ext>
            </a:extLst>
          </p:cNvPr>
          <p:cNvSpPr/>
          <p:nvPr/>
        </p:nvSpPr>
        <p:spPr>
          <a:xfrm>
            <a:off x="7246629" y="2523323"/>
            <a:ext cx="2196000" cy="58994"/>
          </a:xfrm>
          <a:prstGeom prst="homePlate">
            <a:avLst/>
          </a:prstGeom>
          <a:solidFill>
            <a:srgbClr val="004A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7" name="TextBox 16">
            <a:extLst>
              <a:ext uri="{FF2B5EF4-FFF2-40B4-BE49-F238E27FC236}">
                <a16:creationId xmlns:a16="http://schemas.microsoft.com/office/drawing/2014/main" id="{4B3D71F6-9D3E-C3D0-E9B9-F1EC30F168B4}"/>
              </a:ext>
            </a:extLst>
          </p:cNvPr>
          <p:cNvSpPr txBox="1"/>
          <p:nvPr/>
        </p:nvSpPr>
        <p:spPr>
          <a:xfrm>
            <a:off x="7047874" y="2714488"/>
            <a:ext cx="4860515" cy="3616118"/>
          </a:xfrm>
          <a:prstGeom prst="rect">
            <a:avLst/>
          </a:prstGeom>
          <a:noFill/>
        </p:spPr>
        <p:txBody>
          <a:bodyPr wrap="square">
            <a:spAutoFit/>
          </a:bodyPr>
          <a:lstStyle/>
          <a:p>
            <a:pPr>
              <a:lnSpc>
                <a:spcPct val="150000"/>
              </a:lnSpc>
            </a:pPr>
            <a:r>
              <a:rPr lang="en-GB" sz="1400" dirty="0">
                <a:solidFill>
                  <a:sysClr val="windowText" lastClr="000000"/>
                </a:solidFill>
              </a:rPr>
              <a:t>ESWASA is committed to ensuring the quality of products. </a:t>
            </a:r>
          </a:p>
          <a:p>
            <a:pPr>
              <a:lnSpc>
                <a:spcPct val="150000"/>
              </a:lnSpc>
            </a:pPr>
            <a:r>
              <a:rPr lang="en-GB" sz="1400" dirty="0">
                <a:solidFill>
                  <a:sysClr val="windowText" lastClr="000000"/>
                </a:solidFill>
              </a:rPr>
              <a:t>We are readily available to assist in the Testing of commodities through the selection of accredited laboratories that will best cater for the required scopes.</a:t>
            </a:r>
          </a:p>
          <a:p>
            <a:pPr>
              <a:lnSpc>
                <a:spcPct val="150000"/>
              </a:lnSpc>
              <a:buFont typeface="Wingdings" panose="05000000000000000000" pitchFamily="2" charset="2"/>
              <a:buChar char="ü"/>
            </a:pPr>
            <a:endParaRPr lang="en-GB" sz="1400" dirty="0">
              <a:solidFill>
                <a:sysClr val="windowText" lastClr="000000"/>
              </a:solidFill>
            </a:endParaRPr>
          </a:p>
          <a:p>
            <a:pPr>
              <a:lnSpc>
                <a:spcPct val="150000"/>
              </a:lnSpc>
              <a:buFont typeface="Wingdings" panose="05000000000000000000" pitchFamily="2" charset="2"/>
              <a:buChar char="ü"/>
            </a:pPr>
            <a:r>
              <a:rPr lang="en-GB" sz="1400" dirty="0">
                <a:solidFill>
                  <a:sysClr val="windowText" lastClr="000000"/>
                </a:solidFill>
              </a:rPr>
              <a:t>Measure the effects of ageing on products</a:t>
            </a:r>
            <a:endParaRPr lang="en-US" sz="1400" dirty="0">
              <a:solidFill>
                <a:sysClr val="windowText" lastClr="000000"/>
              </a:solidFill>
            </a:endParaRPr>
          </a:p>
          <a:p>
            <a:pPr>
              <a:lnSpc>
                <a:spcPct val="150000"/>
              </a:lnSpc>
              <a:buFont typeface="Wingdings" panose="05000000000000000000" pitchFamily="2" charset="2"/>
              <a:buChar char="ü"/>
            </a:pPr>
            <a:r>
              <a:rPr lang="en-GB" sz="1400" dirty="0">
                <a:solidFill>
                  <a:sysClr val="windowText" lastClr="000000"/>
                </a:solidFill>
              </a:rPr>
              <a:t>Monitor potential threats from competing products</a:t>
            </a:r>
            <a:endParaRPr lang="en-US" sz="1400" dirty="0">
              <a:solidFill>
                <a:sysClr val="windowText" lastClr="000000"/>
              </a:solidFill>
            </a:endParaRPr>
          </a:p>
          <a:p>
            <a:pPr>
              <a:lnSpc>
                <a:spcPct val="150000"/>
              </a:lnSpc>
              <a:buFont typeface="Wingdings" panose="05000000000000000000" pitchFamily="2" charset="2"/>
              <a:buChar char="ü"/>
            </a:pPr>
            <a:r>
              <a:rPr lang="en-GB" sz="1400" dirty="0">
                <a:solidFill>
                  <a:sysClr val="windowText" lastClr="000000"/>
                </a:solidFill>
              </a:rPr>
              <a:t>Safety</a:t>
            </a:r>
            <a:endParaRPr lang="en-US" sz="1400" dirty="0">
              <a:solidFill>
                <a:sysClr val="windowText" lastClr="000000"/>
              </a:solidFill>
            </a:endParaRPr>
          </a:p>
          <a:p>
            <a:pPr>
              <a:lnSpc>
                <a:spcPct val="150000"/>
              </a:lnSpc>
              <a:buFont typeface="Wingdings" panose="05000000000000000000" pitchFamily="2" charset="2"/>
              <a:buChar char="ü"/>
            </a:pPr>
            <a:r>
              <a:rPr lang="en-GB" sz="1400" dirty="0">
                <a:solidFill>
                  <a:sysClr val="windowText" lastClr="000000"/>
                </a:solidFill>
              </a:rPr>
              <a:t>Overcome Trade Barriers</a:t>
            </a:r>
            <a:endParaRPr lang="en-US" sz="1400" dirty="0">
              <a:solidFill>
                <a:sysClr val="windowText" lastClr="000000"/>
              </a:solidFill>
            </a:endParaRPr>
          </a:p>
          <a:p>
            <a:pPr>
              <a:lnSpc>
                <a:spcPct val="150000"/>
              </a:lnSpc>
              <a:buFont typeface="Wingdings" panose="05000000000000000000" pitchFamily="2" charset="2"/>
              <a:buChar char="ü"/>
            </a:pPr>
            <a:r>
              <a:rPr lang="en-GB" sz="1400" dirty="0">
                <a:solidFill>
                  <a:sysClr val="windowText" lastClr="000000"/>
                </a:solidFill>
              </a:rPr>
              <a:t>Provides evidence in legal proceedings</a:t>
            </a:r>
            <a:endParaRPr lang="en-US" sz="1400" dirty="0">
              <a:solidFill>
                <a:sysClr val="windowText" lastClr="000000"/>
              </a:solidFill>
            </a:endParaRPr>
          </a:p>
          <a:p>
            <a:pPr>
              <a:lnSpc>
                <a:spcPct val="150000"/>
              </a:lnSpc>
              <a:buFont typeface="Wingdings" panose="05000000000000000000" pitchFamily="2" charset="2"/>
              <a:buChar char="ü"/>
            </a:pPr>
            <a:r>
              <a:rPr lang="en-ZA" sz="1400" dirty="0">
                <a:solidFill>
                  <a:sysClr val="windowText" lastClr="000000"/>
                </a:solidFill>
              </a:rPr>
              <a:t>Applicability</a:t>
            </a:r>
            <a:endParaRPr lang="en-GB" sz="1400" kern="1400" dirty="0">
              <a:ln>
                <a:noFill/>
              </a:ln>
              <a:solidFill>
                <a:srgbClr val="000000"/>
              </a:solidFill>
              <a:effectLst/>
            </a:endParaRPr>
          </a:p>
        </p:txBody>
      </p:sp>
      <p:pic>
        <p:nvPicPr>
          <p:cNvPr id="24" name="Picture 23">
            <a:extLst>
              <a:ext uri="{FF2B5EF4-FFF2-40B4-BE49-F238E27FC236}">
                <a16:creationId xmlns:a16="http://schemas.microsoft.com/office/drawing/2014/main" id="{B71BE5C6-6FAF-C0E8-3080-0AF6061991EC}"/>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778048" y="4929585"/>
            <a:ext cx="2160001" cy="1440000"/>
          </a:xfrm>
          <a:prstGeom prst="rect">
            <a:avLst/>
          </a:prstGeom>
          <a:ln>
            <a:noFill/>
          </a:ln>
          <a:effectLst>
            <a:outerShdw blurRad="292100" dist="139700" dir="2700000" algn="tl" rotWithShape="0">
              <a:srgbClr val="333333">
                <a:alpha val="65000"/>
              </a:srgbClr>
            </a:outerShdw>
          </a:effectLst>
        </p:spPr>
      </p:pic>
      <p:sp>
        <p:nvSpPr>
          <p:cNvPr id="2" name="Text Box 2">
            <a:extLst>
              <a:ext uri="{FF2B5EF4-FFF2-40B4-BE49-F238E27FC236}">
                <a16:creationId xmlns:a16="http://schemas.microsoft.com/office/drawing/2014/main" id="{B10C7B32-4C06-C7F0-C200-D5741D54D634}"/>
              </a:ext>
            </a:extLst>
          </p:cNvPr>
          <p:cNvSpPr txBox="1">
            <a:spLocks noChangeArrowheads="1"/>
          </p:cNvSpPr>
          <p:nvPr/>
        </p:nvSpPr>
        <p:spPr bwMode="auto">
          <a:xfrm>
            <a:off x="8915211" y="6464866"/>
            <a:ext cx="2527722" cy="307940"/>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2E3191"/>
                </a:solidFill>
                <a:effectLst/>
                <a:latin typeface="BankGothic Lt BT" panose="020B0607020203060204" pitchFamily="34" charset="0"/>
              </a:rPr>
              <a:t>#ImprovingTheWorldWeLiveIn</a:t>
            </a:r>
            <a:endParaRPr kumimoji="0" lang="en-US" altLang="en-US" sz="1200" b="0" i="0" u="none" strike="noStrike" cap="none" normalizeH="0" baseline="0" dirty="0">
              <a:ln>
                <a:noFill/>
              </a:ln>
              <a:solidFill>
                <a:schemeClr val="tx1"/>
              </a:solidFill>
              <a:effectLst/>
              <a:latin typeface="Arial" panose="020B0604020202020204" pitchFamily="34" charset="0"/>
            </a:endParaRPr>
          </a:p>
        </p:txBody>
      </p:sp>
      <p:pic>
        <p:nvPicPr>
          <p:cNvPr id="4" name="Picture 5" descr="social-media-logos-facebook-twitter-instagram-youtube-flickr-vector-pg-transparent-background-high-resolution-linkedin-googleplus-210299554">
            <a:extLst>
              <a:ext uri="{FF2B5EF4-FFF2-40B4-BE49-F238E27FC236}">
                <a16:creationId xmlns:a16="http://schemas.microsoft.com/office/drawing/2014/main" id="{F81AEA5C-4F24-0A91-C7E9-1725953FBD49}"/>
              </a:ext>
            </a:extLst>
          </p:cNvPr>
          <p:cNvPicPr>
            <a:picLocks noChangeAspect="1" noChangeArrowheads="1"/>
          </p:cNvPicPr>
          <p:nvPr/>
        </p:nvPicPr>
        <p:blipFill>
          <a:blip r:embed="rId6" cstate="print">
            <a:clrChange>
              <a:clrFrom>
                <a:srgbClr val="FFFFFF"/>
              </a:clrFrom>
              <a:clrTo>
                <a:srgbClr val="FFFFFF">
                  <a:alpha val="0"/>
                </a:srgbClr>
              </a:clrTo>
            </a:clrChange>
            <a:extLst>
              <a:ext uri="{28A0092B-C50C-407E-A947-70E740481C1C}">
                <a14:useLocalDpi xmlns:a14="http://schemas.microsoft.com/office/drawing/2010/main" val="0"/>
              </a:ext>
            </a:extLst>
          </a:blip>
          <a:srcRect l="51178" t="8835" r="39842" b="71758"/>
          <a:stretch>
            <a:fillRect/>
          </a:stretch>
        </p:blipFill>
        <p:spPr bwMode="auto">
          <a:xfrm>
            <a:off x="11575244" y="6537432"/>
            <a:ext cx="177800" cy="184150"/>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pic>
      <p:pic>
        <p:nvPicPr>
          <p:cNvPr id="12" name="Picture 6" descr="social-media-logos-facebook-twitter-instagram-youtube-flickr-vector-pg-transparent-background-high-resolution-linkedin-googleplus-210299554">
            <a:extLst>
              <a:ext uri="{FF2B5EF4-FFF2-40B4-BE49-F238E27FC236}">
                <a16:creationId xmlns:a16="http://schemas.microsoft.com/office/drawing/2014/main" id="{67172D7A-8F45-92B4-7F50-1C1394F4B1E5}"/>
              </a:ext>
            </a:extLst>
          </p:cNvPr>
          <p:cNvPicPr>
            <a:picLocks noChangeAspect="1" noChangeArrowheads="1"/>
          </p:cNvPicPr>
          <p:nvPr/>
        </p:nvPicPr>
        <p:blipFill>
          <a:blip r:embed="rId7" cstate="print">
            <a:clrChange>
              <a:clrFrom>
                <a:srgbClr val="FFFFFF"/>
              </a:clrFrom>
              <a:clrTo>
                <a:srgbClr val="FFFFFF">
                  <a:alpha val="0"/>
                </a:srgbClr>
              </a:clrTo>
            </a:clrChange>
            <a:extLst>
              <a:ext uri="{28A0092B-C50C-407E-A947-70E740481C1C}">
                <a14:useLocalDpi xmlns:a14="http://schemas.microsoft.com/office/drawing/2010/main" val="0"/>
              </a:ext>
            </a:extLst>
          </a:blip>
          <a:srcRect l="86784" t="34485" r="4137" b="46553"/>
          <a:stretch>
            <a:fillRect/>
          </a:stretch>
        </p:blipFill>
        <p:spPr bwMode="auto">
          <a:xfrm>
            <a:off x="11816314" y="6537432"/>
            <a:ext cx="184150" cy="184150"/>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pic>
      <p:cxnSp>
        <p:nvCxnSpPr>
          <p:cNvPr id="13" name="Straight Connector 12">
            <a:extLst>
              <a:ext uri="{FF2B5EF4-FFF2-40B4-BE49-F238E27FC236}">
                <a16:creationId xmlns:a16="http://schemas.microsoft.com/office/drawing/2014/main" id="{77232B82-157E-4DA6-3975-FA9083D2961F}"/>
              </a:ext>
            </a:extLst>
          </p:cNvPr>
          <p:cNvCxnSpPr/>
          <p:nvPr/>
        </p:nvCxnSpPr>
        <p:spPr>
          <a:xfrm>
            <a:off x="6678347" y="6589410"/>
            <a:ext cx="2160000" cy="0"/>
          </a:xfrm>
          <a:prstGeom prst="line">
            <a:avLst/>
          </a:prstGeom>
          <a:ln w="28575">
            <a:solidFill>
              <a:srgbClr val="2E3191"/>
            </a:solidFill>
          </a:ln>
        </p:spPr>
        <p:style>
          <a:lnRef idx="1">
            <a:schemeClr val="accent1"/>
          </a:lnRef>
          <a:fillRef idx="0">
            <a:schemeClr val="accent1"/>
          </a:fillRef>
          <a:effectRef idx="0">
            <a:schemeClr val="accent1"/>
          </a:effectRef>
          <a:fontRef idx="minor">
            <a:schemeClr val="tx1"/>
          </a:fontRef>
        </p:style>
      </p:cxnSp>
      <p:pic>
        <p:nvPicPr>
          <p:cNvPr id="18" name="Picture 17">
            <a:extLst>
              <a:ext uri="{FF2B5EF4-FFF2-40B4-BE49-F238E27FC236}">
                <a16:creationId xmlns:a16="http://schemas.microsoft.com/office/drawing/2014/main" id="{EF1F9102-0C3F-E1FC-A014-107F9DAA93EE}"/>
              </a:ext>
            </a:extLst>
          </p:cNvPr>
          <p:cNvPicPr>
            <a:picLocks noChangeAspect="1"/>
          </p:cNvPicPr>
          <p:nvPr/>
        </p:nvPicPr>
        <p:blipFill>
          <a:blip r:embed="rId8">
            <a:clrChange>
              <a:clrFrom>
                <a:srgbClr val="FFFFFF"/>
              </a:clrFrom>
              <a:clrTo>
                <a:srgbClr val="FFFFFF">
                  <a:alpha val="0"/>
                </a:srgbClr>
              </a:clrTo>
            </a:clrChange>
          </a:blip>
          <a:stretch>
            <a:fillRect/>
          </a:stretch>
        </p:blipFill>
        <p:spPr>
          <a:xfrm>
            <a:off x="5356964" y="1896935"/>
            <a:ext cx="1714914" cy="2880000"/>
          </a:xfrm>
          <a:prstGeom prst="rect">
            <a:avLst/>
          </a:prstGeom>
        </p:spPr>
      </p:pic>
      <p:pic>
        <p:nvPicPr>
          <p:cNvPr id="20" name="Picture 19">
            <a:extLst>
              <a:ext uri="{FF2B5EF4-FFF2-40B4-BE49-F238E27FC236}">
                <a16:creationId xmlns:a16="http://schemas.microsoft.com/office/drawing/2014/main" id="{C13226E1-B499-D715-3DA0-AAB2E4155AC6}"/>
              </a:ext>
            </a:extLst>
          </p:cNvPr>
          <p:cNvPicPr>
            <a:picLocks noChangeAspect="1"/>
          </p:cNvPicPr>
          <p:nvPr/>
        </p:nvPicPr>
        <p:blipFill>
          <a:blip r:embed="rId9"/>
          <a:stretch>
            <a:fillRect/>
          </a:stretch>
        </p:blipFill>
        <p:spPr>
          <a:xfrm>
            <a:off x="2042172" y="4639967"/>
            <a:ext cx="2594003" cy="2160000"/>
          </a:xfrm>
          <a:prstGeom prst="rect">
            <a:avLst/>
          </a:prstGeom>
        </p:spPr>
      </p:pic>
    </p:spTree>
    <p:extLst>
      <p:ext uri="{BB962C8B-B14F-4D97-AF65-F5344CB8AC3E}">
        <p14:creationId xmlns:p14="http://schemas.microsoft.com/office/powerpoint/2010/main" val="18469321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5B8DB5-041A-A436-D4B1-9E13BF4A901F}"/>
            </a:ext>
          </a:extLst>
        </p:cNvPr>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0766D3C1-981A-C7AA-1DF7-DBC6A87E655E}"/>
              </a:ext>
            </a:extLst>
          </p:cNvPr>
          <p:cNvPicPr>
            <a:picLocks noGrp="1" noChangeAspect="1"/>
          </p:cNvPicPr>
          <p:nvPr>
            <p:ph idx="1"/>
          </p:nvPr>
        </p:nvPicPr>
        <p:blipFill>
          <a:blip r:embed="rId3"/>
          <a:stretch>
            <a:fillRect/>
          </a:stretch>
        </p:blipFill>
        <p:spPr>
          <a:xfrm>
            <a:off x="0" y="0"/>
            <a:ext cx="12192000" cy="6858000"/>
          </a:xfrm>
        </p:spPr>
      </p:pic>
      <p:sp>
        <p:nvSpPr>
          <p:cNvPr id="6" name="Rectangle 5">
            <a:extLst>
              <a:ext uri="{FF2B5EF4-FFF2-40B4-BE49-F238E27FC236}">
                <a16:creationId xmlns:a16="http://schemas.microsoft.com/office/drawing/2014/main" id="{5600E7DF-5809-70B9-4596-B5A681051AAB}"/>
              </a:ext>
            </a:extLst>
          </p:cNvPr>
          <p:cNvSpPr/>
          <p:nvPr/>
        </p:nvSpPr>
        <p:spPr>
          <a:xfrm>
            <a:off x="599103" y="1492045"/>
            <a:ext cx="10196051" cy="387391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7" name="Rectangle 6">
            <a:extLst>
              <a:ext uri="{FF2B5EF4-FFF2-40B4-BE49-F238E27FC236}">
                <a16:creationId xmlns:a16="http://schemas.microsoft.com/office/drawing/2014/main" id="{89FBD2F7-20D3-767E-F963-5B93CFEF408D}"/>
              </a:ext>
            </a:extLst>
          </p:cNvPr>
          <p:cNvSpPr/>
          <p:nvPr/>
        </p:nvSpPr>
        <p:spPr>
          <a:xfrm>
            <a:off x="481781" y="648929"/>
            <a:ext cx="1976284" cy="7374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8" name="Picture 7">
            <a:extLst>
              <a:ext uri="{FF2B5EF4-FFF2-40B4-BE49-F238E27FC236}">
                <a16:creationId xmlns:a16="http://schemas.microsoft.com/office/drawing/2014/main" id="{ADBA80D1-28C1-7D8C-65B6-D6F635E643B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2038"/>
            <a:ext cx="1080000" cy="1080000"/>
          </a:xfrm>
          <a:prstGeom prst="rect">
            <a:avLst/>
          </a:prstGeom>
        </p:spPr>
      </p:pic>
      <p:sp>
        <p:nvSpPr>
          <p:cNvPr id="10" name="Arrow: Pentagon 9">
            <a:extLst>
              <a:ext uri="{FF2B5EF4-FFF2-40B4-BE49-F238E27FC236}">
                <a16:creationId xmlns:a16="http://schemas.microsoft.com/office/drawing/2014/main" id="{D0FED60D-4A12-0E9C-8122-D17BCD9BE600}"/>
              </a:ext>
            </a:extLst>
          </p:cNvPr>
          <p:cNvSpPr/>
          <p:nvPr/>
        </p:nvSpPr>
        <p:spPr>
          <a:xfrm>
            <a:off x="481781" y="1794487"/>
            <a:ext cx="3384000" cy="58994"/>
          </a:xfrm>
          <a:prstGeom prst="homePlate">
            <a:avLst/>
          </a:prstGeom>
          <a:solidFill>
            <a:srgbClr val="004A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1" name="Rectangle 10">
            <a:extLst>
              <a:ext uri="{FF2B5EF4-FFF2-40B4-BE49-F238E27FC236}">
                <a16:creationId xmlns:a16="http://schemas.microsoft.com/office/drawing/2014/main" id="{B11B5B3A-25B7-82EC-76AD-46A5B180C02B}"/>
              </a:ext>
            </a:extLst>
          </p:cNvPr>
          <p:cNvSpPr/>
          <p:nvPr/>
        </p:nvSpPr>
        <p:spPr>
          <a:xfrm>
            <a:off x="233340" y="1077962"/>
            <a:ext cx="4449449" cy="9144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800" b="1" dirty="0">
                <a:solidFill>
                  <a:schemeClr val="tx1"/>
                </a:solidFill>
                <a:latin typeface="Garamond" panose="02020404030301010803" pitchFamily="18" charset="0"/>
              </a:rPr>
              <a:t>Standards-based Trainings</a:t>
            </a:r>
            <a:endParaRPr lang="en-ZA" sz="2800" b="1" dirty="0">
              <a:solidFill>
                <a:schemeClr val="tx1"/>
              </a:solidFill>
              <a:latin typeface="Garamond" panose="02020404030301010803" pitchFamily="18" charset="0"/>
            </a:endParaRPr>
          </a:p>
        </p:txBody>
      </p:sp>
      <p:sp>
        <p:nvSpPr>
          <p:cNvPr id="13" name="Content Placeholder 2">
            <a:extLst>
              <a:ext uri="{FF2B5EF4-FFF2-40B4-BE49-F238E27FC236}">
                <a16:creationId xmlns:a16="http://schemas.microsoft.com/office/drawing/2014/main" id="{76C56A91-0FE8-B154-995B-22F8DA1F9E8A}"/>
              </a:ext>
            </a:extLst>
          </p:cNvPr>
          <p:cNvSpPr txBox="1">
            <a:spLocks/>
          </p:cNvSpPr>
          <p:nvPr/>
        </p:nvSpPr>
        <p:spPr>
          <a:xfrm>
            <a:off x="4820029" y="575163"/>
            <a:ext cx="5656222" cy="529204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buFont typeface="Arial" panose="020B0604020202020204" pitchFamily="34" charset="0"/>
              <a:buNone/>
            </a:pPr>
            <a:r>
              <a:rPr lang="en-US" sz="1400" dirty="0"/>
              <a:t>ESWASA offers specialized Standards-based trainings to industry, individual’s, government agencies and other Institutions in Management Systems.              </a:t>
            </a:r>
          </a:p>
          <a:p>
            <a:pPr marL="0" indent="0">
              <a:lnSpc>
                <a:spcPct val="120000"/>
              </a:lnSpc>
              <a:buFont typeface="Arial" panose="020B0604020202020204" pitchFamily="34" charset="0"/>
              <a:buNone/>
            </a:pPr>
            <a:r>
              <a:rPr lang="en-US" sz="1400" dirty="0"/>
              <a:t>These training courses put individuals and organizations on the fast track to success as it leverages the competitiveness of products or services in both local and international markets.</a:t>
            </a:r>
          </a:p>
          <a:p>
            <a:pPr>
              <a:lnSpc>
                <a:spcPct val="120000"/>
              </a:lnSpc>
              <a:buFont typeface="Wingdings" panose="05000000000000000000" pitchFamily="2" charset="2"/>
              <a:buChar char="ü"/>
            </a:pPr>
            <a:r>
              <a:rPr lang="en-US" sz="1400" dirty="0"/>
              <a:t> Quality Management Systems</a:t>
            </a:r>
          </a:p>
          <a:p>
            <a:pPr>
              <a:lnSpc>
                <a:spcPct val="120000"/>
              </a:lnSpc>
              <a:buFont typeface="Wingdings" panose="05000000000000000000" pitchFamily="2" charset="2"/>
              <a:buChar char="ü"/>
            </a:pPr>
            <a:r>
              <a:rPr lang="en-US" sz="1400" dirty="0"/>
              <a:t> Environmental Management Systems</a:t>
            </a:r>
          </a:p>
          <a:p>
            <a:pPr>
              <a:lnSpc>
                <a:spcPct val="120000"/>
              </a:lnSpc>
              <a:buFont typeface="Wingdings" panose="05000000000000000000" pitchFamily="2" charset="2"/>
              <a:buChar char="ü"/>
            </a:pPr>
            <a:r>
              <a:rPr lang="en-US" sz="1400" dirty="0"/>
              <a:t> Food Safety Management Systems</a:t>
            </a:r>
          </a:p>
          <a:p>
            <a:pPr>
              <a:lnSpc>
                <a:spcPct val="120000"/>
              </a:lnSpc>
              <a:buFont typeface="Wingdings" panose="05000000000000000000" pitchFamily="2" charset="2"/>
              <a:buChar char="ü"/>
            </a:pPr>
            <a:r>
              <a:rPr lang="en-US" sz="1400" dirty="0"/>
              <a:t> Occupational Health &amp; Safety Management Systems</a:t>
            </a:r>
          </a:p>
          <a:p>
            <a:pPr>
              <a:lnSpc>
                <a:spcPct val="120000"/>
              </a:lnSpc>
              <a:buFont typeface="Wingdings" panose="05000000000000000000" pitchFamily="2" charset="2"/>
              <a:buChar char="ü"/>
            </a:pPr>
            <a:r>
              <a:rPr lang="en-US" sz="1400" dirty="0"/>
              <a:t> Global GAP</a:t>
            </a:r>
          </a:p>
          <a:p>
            <a:pPr>
              <a:lnSpc>
                <a:spcPct val="120000"/>
              </a:lnSpc>
              <a:buFont typeface="Wingdings" panose="05000000000000000000" pitchFamily="2" charset="2"/>
              <a:buChar char="ü"/>
            </a:pPr>
            <a:r>
              <a:rPr lang="en-US" sz="1400" dirty="0"/>
              <a:t> Integrated Management Systems</a:t>
            </a:r>
          </a:p>
          <a:p>
            <a:pPr>
              <a:lnSpc>
                <a:spcPct val="120000"/>
              </a:lnSpc>
              <a:buFont typeface="Wingdings" panose="05000000000000000000" pitchFamily="2" charset="2"/>
              <a:buChar char="ü"/>
            </a:pPr>
            <a:r>
              <a:rPr lang="en-US" sz="1400" dirty="0"/>
              <a:t> Auditing</a:t>
            </a:r>
          </a:p>
          <a:p>
            <a:pPr>
              <a:lnSpc>
                <a:spcPct val="120000"/>
              </a:lnSpc>
              <a:buFont typeface="Wingdings" panose="05000000000000000000" pitchFamily="2" charset="2"/>
              <a:buChar char="ü"/>
            </a:pPr>
            <a:r>
              <a:rPr lang="en-US" sz="1400" dirty="0"/>
              <a:t> Risk Management</a:t>
            </a:r>
          </a:p>
          <a:p>
            <a:pPr>
              <a:lnSpc>
                <a:spcPct val="120000"/>
              </a:lnSpc>
              <a:buFont typeface="Wingdings" panose="05000000000000000000" pitchFamily="2" charset="2"/>
              <a:buChar char="ü"/>
            </a:pPr>
            <a:r>
              <a:rPr lang="en-US" sz="1400" dirty="0"/>
              <a:t> Business Continuity</a:t>
            </a:r>
          </a:p>
          <a:p>
            <a:pPr>
              <a:lnSpc>
                <a:spcPct val="120000"/>
              </a:lnSpc>
              <a:buFont typeface="Wingdings" panose="05000000000000000000" pitchFamily="2" charset="2"/>
              <a:buChar char="ü"/>
            </a:pPr>
            <a:r>
              <a:rPr lang="en-US" sz="1400" dirty="0"/>
              <a:t> Wellness Management  </a:t>
            </a:r>
          </a:p>
          <a:p>
            <a:pPr>
              <a:lnSpc>
                <a:spcPct val="120000"/>
              </a:lnSpc>
              <a:buFont typeface="Wingdings" panose="05000000000000000000" pitchFamily="2" charset="2"/>
              <a:buChar char="ü"/>
            </a:pPr>
            <a:r>
              <a:rPr lang="en-US" sz="1400" dirty="0"/>
              <a:t> Other tailor-made Standards-based trainings</a:t>
            </a:r>
          </a:p>
        </p:txBody>
      </p:sp>
      <p:pic>
        <p:nvPicPr>
          <p:cNvPr id="24" name="Picture 23">
            <a:extLst>
              <a:ext uri="{FF2B5EF4-FFF2-40B4-BE49-F238E27FC236}">
                <a16:creationId xmlns:a16="http://schemas.microsoft.com/office/drawing/2014/main" id="{2097EA2B-6DDC-D175-E000-4FA0DA1A6D49}"/>
              </a:ext>
            </a:extLst>
          </p:cNvPr>
          <p:cNvPicPr>
            <a:picLocks noChangeAspect="1"/>
          </p:cNvPicPr>
          <p:nvPr/>
        </p:nvPicPr>
        <p:blipFill>
          <a:blip r:embed="rId5">
            <a:extLst>
              <a:ext uri="{28A0092B-C50C-407E-A947-70E740481C1C}">
                <a14:useLocalDpi xmlns:a14="http://schemas.microsoft.com/office/drawing/2010/main" val="0"/>
              </a:ext>
            </a:extLst>
          </a:blip>
          <a:srcRect l="2593" t="19908" r="28191"/>
          <a:stretch>
            <a:fillRect/>
          </a:stretch>
        </p:blipFill>
        <p:spPr>
          <a:xfrm>
            <a:off x="58661" y="2344136"/>
            <a:ext cx="4682789" cy="4064000"/>
          </a:xfrm>
          <a:prstGeom prst="rect">
            <a:avLst/>
          </a:prstGeom>
        </p:spPr>
      </p:pic>
      <p:pic>
        <p:nvPicPr>
          <p:cNvPr id="25" name="Picture 24">
            <a:extLst>
              <a:ext uri="{FF2B5EF4-FFF2-40B4-BE49-F238E27FC236}">
                <a16:creationId xmlns:a16="http://schemas.microsoft.com/office/drawing/2014/main" id="{90BB24BF-5992-75BA-0596-E8BFF31FD6CF}"/>
              </a:ext>
            </a:extLst>
          </p:cNvPr>
          <p:cNvPicPr>
            <a:picLocks noChangeAspect="1"/>
          </p:cNvPicPr>
          <p:nvPr/>
        </p:nvPicPr>
        <p:blipFill>
          <a:blip r:embed="rId6">
            <a:clrChange>
              <a:clrFrom>
                <a:srgbClr val="FFFFFF"/>
              </a:clrFrom>
              <a:clrTo>
                <a:srgbClr val="FFFFFF">
                  <a:alpha val="0"/>
                </a:srgbClr>
              </a:clrTo>
            </a:clrChange>
          </a:blip>
          <a:stretch>
            <a:fillRect/>
          </a:stretch>
        </p:blipFill>
        <p:spPr>
          <a:xfrm>
            <a:off x="-14093" y="5286619"/>
            <a:ext cx="2456472" cy="1584000"/>
          </a:xfrm>
          <a:prstGeom prst="rect">
            <a:avLst/>
          </a:prstGeom>
        </p:spPr>
      </p:pic>
      <p:pic>
        <p:nvPicPr>
          <p:cNvPr id="26" name="Picture 25">
            <a:extLst>
              <a:ext uri="{FF2B5EF4-FFF2-40B4-BE49-F238E27FC236}">
                <a16:creationId xmlns:a16="http://schemas.microsoft.com/office/drawing/2014/main" id="{AD6B4556-E07B-9D73-F07D-B33C3923AD26}"/>
              </a:ext>
            </a:extLst>
          </p:cNvPr>
          <p:cNvPicPr>
            <a:picLocks noChangeAspect="1"/>
          </p:cNvPicPr>
          <p:nvPr/>
        </p:nvPicPr>
        <p:blipFill>
          <a:blip r:embed="rId7" cstate="print">
            <a:clrChange>
              <a:clrFrom>
                <a:srgbClr val="EEEEEE"/>
              </a:clrFrom>
              <a:clrTo>
                <a:srgbClr val="EEEEEE">
                  <a:alpha val="0"/>
                </a:srgbClr>
              </a:clrTo>
            </a:clrChange>
            <a:extLst>
              <a:ext uri="{28A0092B-C50C-407E-A947-70E740481C1C}">
                <a14:useLocalDpi xmlns:a14="http://schemas.microsoft.com/office/drawing/2010/main" val="0"/>
              </a:ext>
            </a:extLst>
          </a:blip>
          <a:stretch>
            <a:fillRect/>
          </a:stretch>
        </p:blipFill>
        <p:spPr>
          <a:xfrm>
            <a:off x="9669374" y="4902150"/>
            <a:ext cx="2215661" cy="1280160"/>
          </a:xfrm>
          <a:prstGeom prst="rect">
            <a:avLst/>
          </a:prstGeom>
        </p:spPr>
      </p:pic>
      <p:pic>
        <p:nvPicPr>
          <p:cNvPr id="28" name="Picture 27">
            <a:extLst>
              <a:ext uri="{FF2B5EF4-FFF2-40B4-BE49-F238E27FC236}">
                <a16:creationId xmlns:a16="http://schemas.microsoft.com/office/drawing/2014/main" id="{FAC0850D-30E2-5FB8-6181-D2FCE48E2ABF}"/>
              </a:ext>
            </a:extLst>
          </p:cNvPr>
          <p:cNvPicPr>
            <a:picLocks noChangeAspect="1"/>
          </p:cNvPicPr>
          <p:nvPr/>
        </p:nvPicPr>
        <p:blipFill>
          <a:blip r:embed="rId8">
            <a:extLst>
              <a:ext uri="{28A0092B-C50C-407E-A947-70E740481C1C}">
                <a14:useLocalDpi xmlns:a14="http://schemas.microsoft.com/office/drawing/2010/main" val="0"/>
              </a:ext>
            </a:extLst>
          </a:blip>
          <a:srcRect l="39113" t="23951" r="33721" b="37531"/>
          <a:stretch>
            <a:fillRect/>
          </a:stretch>
        </p:blipFill>
        <p:spPr>
          <a:xfrm>
            <a:off x="10082736" y="3265127"/>
            <a:ext cx="1424835" cy="1440000"/>
          </a:xfrm>
          <a:prstGeom prst="ellipse">
            <a:avLst/>
          </a:prstGeom>
        </p:spPr>
      </p:pic>
      <p:sp>
        <p:nvSpPr>
          <p:cNvPr id="29" name="Rectangle 28">
            <a:extLst>
              <a:ext uri="{FF2B5EF4-FFF2-40B4-BE49-F238E27FC236}">
                <a16:creationId xmlns:a16="http://schemas.microsoft.com/office/drawing/2014/main" id="{FF7F11F6-E455-76F5-AFD5-75B95BD2719E}"/>
              </a:ext>
            </a:extLst>
          </p:cNvPr>
          <p:cNvSpPr/>
          <p:nvPr/>
        </p:nvSpPr>
        <p:spPr>
          <a:xfrm>
            <a:off x="10456333" y="4295195"/>
            <a:ext cx="456143" cy="21854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30" name="Picture 29">
            <a:extLst>
              <a:ext uri="{FF2B5EF4-FFF2-40B4-BE49-F238E27FC236}">
                <a16:creationId xmlns:a16="http://schemas.microsoft.com/office/drawing/2014/main" id="{F44DBE8C-2A03-B3DC-9C09-CB478868FCCE}"/>
              </a:ext>
            </a:extLst>
          </p:cNvPr>
          <p:cNvPicPr>
            <a:picLocks noChangeAspect="1"/>
          </p:cNvPicPr>
          <p:nvPr/>
        </p:nvPicPr>
        <p:blipFill>
          <a:blip r:embed="rId8">
            <a:extLst>
              <a:ext uri="{28A0092B-C50C-407E-A947-70E740481C1C}">
                <a14:useLocalDpi xmlns:a14="http://schemas.microsoft.com/office/drawing/2010/main" val="0"/>
              </a:ext>
            </a:extLst>
          </a:blip>
          <a:srcRect l="42204" t="28847" r="38458" b="48267"/>
          <a:stretch>
            <a:fillRect/>
          </a:stretch>
        </p:blipFill>
        <p:spPr>
          <a:xfrm>
            <a:off x="10147647" y="3410105"/>
            <a:ext cx="1237658" cy="1044000"/>
          </a:xfrm>
          <a:prstGeom prst="ellipse">
            <a:avLst/>
          </a:prstGeom>
        </p:spPr>
      </p:pic>
      <p:sp>
        <p:nvSpPr>
          <p:cNvPr id="2" name="Text Box 2">
            <a:extLst>
              <a:ext uri="{FF2B5EF4-FFF2-40B4-BE49-F238E27FC236}">
                <a16:creationId xmlns:a16="http://schemas.microsoft.com/office/drawing/2014/main" id="{58403DE3-B6BD-617B-7616-70080313DD4F}"/>
              </a:ext>
            </a:extLst>
          </p:cNvPr>
          <p:cNvSpPr txBox="1">
            <a:spLocks noChangeArrowheads="1"/>
          </p:cNvSpPr>
          <p:nvPr/>
        </p:nvSpPr>
        <p:spPr bwMode="auto">
          <a:xfrm>
            <a:off x="8979849" y="6516757"/>
            <a:ext cx="2527722" cy="307940"/>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2E3191"/>
                </a:solidFill>
                <a:effectLst/>
                <a:latin typeface="BankGothic Lt BT" panose="020B0607020203060204" pitchFamily="34" charset="0"/>
              </a:rPr>
              <a:t>#ImprovingTheWorldWeLiveIn</a:t>
            </a:r>
            <a:endParaRPr kumimoji="0" lang="en-US" altLang="en-US" sz="1200" b="0" i="0" u="none" strike="noStrike" cap="none" normalizeH="0" baseline="0" dirty="0">
              <a:ln>
                <a:noFill/>
              </a:ln>
              <a:solidFill>
                <a:schemeClr val="tx1"/>
              </a:solidFill>
              <a:effectLst/>
              <a:latin typeface="Arial" panose="020B0604020202020204" pitchFamily="34" charset="0"/>
            </a:endParaRPr>
          </a:p>
        </p:txBody>
      </p:sp>
      <p:pic>
        <p:nvPicPr>
          <p:cNvPr id="3" name="Picture 5" descr="social-media-logos-facebook-twitter-instagram-youtube-flickr-vector-pg-transparent-background-high-resolution-linkedin-googleplus-210299554">
            <a:extLst>
              <a:ext uri="{FF2B5EF4-FFF2-40B4-BE49-F238E27FC236}">
                <a16:creationId xmlns:a16="http://schemas.microsoft.com/office/drawing/2014/main" id="{93805D73-1DD8-EBBB-53D4-FEEA68DD05CE}"/>
              </a:ext>
            </a:extLst>
          </p:cNvPr>
          <p:cNvPicPr>
            <a:picLocks noChangeAspect="1" noChangeArrowheads="1"/>
          </p:cNvPicPr>
          <p:nvPr/>
        </p:nvPicPr>
        <p:blipFill>
          <a:blip r:embed="rId9" cstate="print">
            <a:clrChange>
              <a:clrFrom>
                <a:srgbClr val="FFFFFF"/>
              </a:clrFrom>
              <a:clrTo>
                <a:srgbClr val="FFFFFF">
                  <a:alpha val="0"/>
                </a:srgbClr>
              </a:clrTo>
            </a:clrChange>
            <a:extLst>
              <a:ext uri="{28A0092B-C50C-407E-A947-70E740481C1C}">
                <a14:useLocalDpi xmlns:a14="http://schemas.microsoft.com/office/drawing/2010/main" val="0"/>
              </a:ext>
            </a:extLst>
          </a:blip>
          <a:srcRect l="51178" t="8835" r="39842" b="71758"/>
          <a:stretch>
            <a:fillRect/>
          </a:stretch>
        </p:blipFill>
        <p:spPr bwMode="auto">
          <a:xfrm>
            <a:off x="11639882" y="6589323"/>
            <a:ext cx="177800" cy="184150"/>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pic>
      <p:pic>
        <p:nvPicPr>
          <p:cNvPr id="4" name="Picture 6" descr="social-media-logos-facebook-twitter-instagram-youtube-flickr-vector-pg-transparent-background-high-resolution-linkedin-googleplus-210299554">
            <a:extLst>
              <a:ext uri="{FF2B5EF4-FFF2-40B4-BE49-F238E27FC236}">
                <a16:creationId xmlns:a16="http://schemas.microsoft.com/office/drawing/2014/main" id="{EEECB78C-FE04-1181-CC88-9DFED350668E}"/>
              </a:ext>
            </a:extLst>
          </p:cNvPr>
          <p:cNvPicPr>
            <a:picLocks noChangeAspect="1" noChangeArrowheads="1"/>
          </p:cNvPicPr>
          <p:nvPr/>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rcRect l="86784" t="34485" r="4137" b="46553"/>
          <a:stretch>
            <a:fillRect/>
          </a:stretch>
        </p:blipFill>
        <p:spPr bwMode="auto">
          <a:xfrm>
            <a:off x="11880952" y="6589323"/>
            <a:ext cx="184150" cy="184150"/>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pic>
      <p:cxnSp>
        <p:nvCxnSpPr>
          <p:cNvPr id="9" name="Straight Connector 8">
            <a:extLst>
              <a:ext uri="{FF2B5EF4-FFF2-40B4-BE49-F238E27FC236}">
                <a16:creationId xmlns:a16="http://schemas.microsoft.com/office/drawing/2014/main" id="{077C2023-CFCE-FC81-D111-05A8F1C5F77D}"/>
              </a:ext>
            </a:extLst>
          </p:cNvPr>
          <p:cNvCxnSpPr/>
          <p:nvPr/>
        </p:nvCxnSpPr>
        <p:spPr>
          <a:xfrm>
            <a:off x="6742985" y="6641301"/>
            <a:ext cx="2160000" cy="0"/>
          </a:xfrm>
          <a:prstGeom prst="line">
            <a:avLst/>
          </a:prstGeom>
          <a:ln w="28575">
            <a:solidFill>
              <a:srgbClr val="2E3191"/>
            </a:solidFill>
          </a:ln>
        </p:spPr>
        <p:style>
          <a:lnRef idx="1">
            <a:schemeClr val="accent1"/>
          </a:lnRef>
          <a:fillRef idx="0">
            <a:schemeClr val="accent1"/>
          </a:fillRef>
          <a:effectRef idx="0">
            <a:schemeClr val="accent1"/>
          </a:effectRef>
          <a:fontRef idx="minor">
            <a:schemeClr val="tx1"/>
          </a:fontRef>
        </p:style>
      </p:cxnSp>
      <p:pic>
        <p:nvPicPr>
          <p:cNvPr id="12" name="Picture 11">
            <a:extLst>
              <a:ext uri="{FF2B5EF4-FFF2-40B4-BE49-F238E27FC236}">
                <a16:creationId xmlns:a16="http://schemas.microsoft.com/office/drawing/2014/main" id="{91096F13-2394-41E1-52B2-068F68433D31}"/>
              </a:ext>
            </a:extLst>
          </p:cNvPr>
          <p:cNvPicPr>
            <a:picLocks noChangeAspect="1"/>
          </p:cNvPicPr>
          <p:nvPr/>
        </p:nvPicPr>
        <p:blipFill>
          <a:blip r:embed="rId11"/>
          <a:stretch>
            <a:fillRect/>
          </a:stretch>
        </p:blipFill>
        <p:spPr>
          <a:xfrm>
            <a:off x="7954216" y="4022310"/>
            <a:ext cx="2077278" cy="2160000"/>
          </a:xfrm>
          <a:prstGeom prst="flowChartConnector">
            <a:avLst/>
          </a:prstGeom>
        </p:spPr>
      </p:pic>
    </p:spTree>
    <p:extLst>
      <p:ext uri="{BB962C8B-B14F-4D97-AF65-F5344CB8AC3E}">
        <p14:creationId xmlns:p14="http://schemas.microsoft.com/office/powerpoint/2010/main" val="22601612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78A6A06C-2450-FE24-D5FC-6107430EA84A}"/>
              </a:ext>
            </a:extLst>
          </p:cNvPr>
          <p:cNvPicPr>
            <a:picLocks noGrp="1" noChangeAspect="1"/>
          </p:cNvPicPr>
          <p:nvPr>
            <p:ph idx="1"/>
          </p:nvPr>
        </p:nvPicPr>
        <p:blipFill>
          <a:blip r:embed="rId2"/>
          <a:stretch>
            <a:fillRect/>
          </a:stretch>
        </p:blipFill>
        <p:spPr>
          <a:xfrm>
            <a:off x="-31974" y="0"/>
            <a:ext cx="12223974" cy="6858000"/>
          </a:xfrm>
        </p:spPr>
      </p:pic>
      <p:sp>
        <p:nvSpPr>
          <p:cNvPr id="6" name="Rectangle 5">
            <a:extLst>
              <a:ext uri="{FF2B5EF4-FFF2-40B4-BE49-F238E27FC236}">
                <a16:creationId xmlns:a16="http://schemas.microsoft.com/office/drawing/2014/main" id="{CD15C518-677E-83FC-CA71-770BA799D30F}"/>
              </a:ext>
            </a:extLst>
          </p:cNvPr>
          <p:cNvSpPr/>
          <p:nvPr/>
        </p:nvSpPr>
        <p:spPr>
          <a:xfrm>
            <a:off x="1071716" y="1081548"/>
            <a:ext cx="2910349" cy="126836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7" name="Picture 6">
            <a:extLst>
              <a:ext uri="{FF2B5EF4-FFF2-40B4-BE49-F238E27FC236}">
                <a16:creationId xmlns:a16="http://schemas.microsoft.com/office/drawing/2014/main" id="{35B6BEC1-B6F3-29B6-19CA-26C8142C184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038"/>
            <a:ext cx="1080000" cy="1080000"/>
          </a:xfrm>
          <a:prstGeom prst="rect">
            <a:avLst/>
          </a:prstGeom>
        </p:spPr>
      </p:pic>
      <p:sp>
        <p:nvSpPr>
          <p:cNvPr id="8" name="Rectangle 7">
            <a:extLst>
              <a:ext uri="{FF2B5EF4-FFF2-40B4-BE49-F238E27FC236}">
                <a16:creationId xmlns:a16="http://schemas.microsoft.com/office/drawing/2014/main" id="{3C955C23-B03C-3969-F4AA-521B3109F365}"/>
              </a:ext>
            </a:extLst>
          </p:cNvPr>
          <p:cNvSpPr/>
          <p:nvPr/>
        </p:nvSpPr>
        <p:spPr>
          <a:xfrm>
            <a:off x="1230300" y="748304"/>
            <a:ext cx="2065319" cy="9144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800" b="1" dirty="0">
                <a:solidFill>
                  <a:schemeClr val="tx1"/>
                </a:solidFill>
                <a:latin typeface="Garamond" panose="02020404030301010803" pitchFamily="18" charset="0"/>
              </a:rPr>
              <a:t>Our Clients</a:t>
            </a:r>
            <a:endParaRPr lang="en-ZA" sz="2800" b="1" dirty="0">
              <a:solidFill>
                <a:schemeClr val="tx1"/>
              </a:solidFill>
              <a:latin typeface="Garamond" panose="02020404030301010803" pitchFamily="18" charset="0"/>
            </a:endParaRPr>
          </a:p>
        </p:txBody>
      </p:sp>
      <p:sp>
        <p:nvSpPr>
          <p:cNvPr id="9" name="Arrow: Pentagon 8">
            <a:extLst>
              <a:ext uri="{FF2B5EF4-FFF2-40B4-BE49-F238E27FC236}">
                <a16:creationId xmlns:a16="http://schemas.microsoft.com/office/drawing/2014/main" id="{9F6B91EC-FA8C-4B06-CF4D-138F57C212D1}"/>
              </a:ext>
            </a:extLst>
          </p:cNvPr>
          <p:cNvSpPr/>
          <p:nvPr/>
        </p:nvSpPr>
        <p:spPr>
          <a:xfrm>
            <a:off x="1374890" y="1459755"/>
            <a:ext cx="1152000" cy="58994"/>
          </a:xfrm>
          <a:prstGeom prst="homePlate">
            <a:avLst/>
          </a:prstGeom>
          <a:solidFill>
            <a:srgbClr val="004A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0" name="Rectangle 9">
            <a:extLst>
              <a:ext uri="{FF2B5EF4-FFF2-40B4-BE49-F238E27FC236}">
                <a16:creationId xmlns:a16="http://schemas.microsoft.com/office/drawing/2014/main" id="{E678EE8E-14AD-FF26-88F2-0B76982F9967}"/>
              </a:ext>
            </a:extLst>
          </p:cNvPr>
          <p:cNvSpPr/>
          <p:nvPr/>
        </p:nvSpPr>
        <p:spPr>
          <a:xfrm>
            <a:off x="1230300" y="2349910"/>
            <a:ext cx="7393000" cy="284439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3" name="Picture 2" descr="A green and white logo&#10;&#10;AI-generated content may be incorrect.">
            <a:extLst>
              <a:ext uri="{FF2B5EF4-FFF2-40B4-BE49-F238E27FC236}">
                <a16:creationId xmlns:a16="http://schemas.microsoft.com/office/drawing/2014/main" id="{F8BAD8F1-CD98-B3EA-B667-927B2E6D646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71890" y="2995188"/>
            <a:ext cx="1775050" cy="1440000"/>
          </a:xfrm>
          <a:prstGeom prst="rect">
            <a:avLst/>
          </a:prstGeom>
        </p:spPr>
      </p:pic>
      <p:pic>
        <p:nvPicPr>
          <p:cNvPr id="11" name="Picture 10" descr="A blue and white logo&#10;&#10;AI-generated content may be incorrect.">
            <a:extLst>
              <a:ext uri="{FF2B5EF4-FFF2-40B4-BE49-F238E27FC236}">
                <a16:creationId xmlns:a16="http://schemas.microsoft.com/office/drawing/2014/main" id="{0415E082-EC02-0064-913A-667B7C32518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185738" y="2647372"/>
            <a:ext cx="1440000" cy="1440000"/>
          </a:xfrm>
          <a:prstGeom prst="rect">
            <a:avLst/>
          </a:prstGeom>
        </p:spPr>
      </p:pic>
      <p:pic>
        <p:nvPicPr>
          <p:cNvPr id="13" name="Picture 12" descr="A blue and white logo&#10;&#10;AI-generated content may be incorrect.">
            <a:extLst>
              <a:ext uri="{FF2B5EF4-FFF2-40B4-BE49-F238E27FC236}">
                <a16:creationId xmlns:a16="http://schemas.microsoft.com/office/drawing/2014/main" id="{9A38DF33-A234-FE81-ECAA-E54BD98D547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011672" y="4312060"/>
            <a:ext cx="4007835" cy="1080000"/>
          </a:xfrm>
          <a:prstGeom prst="rect">
            <a:avLst/>
          </a:prstGeom>
        </p:spPr>
      </p:pic>
      <p:pic>
        <p:nvPicPr>
          <p:cNvPr id="15" name="Picture 14" descr="A close-up of an eagle&#10;&#10;AI-generated content may be incorrect.">
            <a:extLst>
              <a:ext uri="{FF2B5EF4-FFF2-40B4-BE49-F238E27FC236}">
                <a16:creationId xmlns:a16="http://schemas.microsoft.com/office/drawing/2014/main" id="{71384DA2-F8A1-170F-45A5-EB7F6ACCD70A}"/>
              </a:ext>
            </a:extLst>
          </p:cNvPr>
          <p:cNvPicPr>
            <a:picLocks noChangeAspect="1"/>
          </p:cNvPicPr>
          <p:nvPr/>
        </p:nvPicPr>
        <p:blipFill>
          <a:blip r:embed="rId7">
            <a:extLst>
              <a:ext uri="{28A0092B-C50C-407E-A947-70E740481C1C}">
                <a14:useLocalDpi xmlns:a14="http://schemas.microsoft.com/office/drawing/2010/main" val="0"/>
              </a:ext>
            </a:extLst>
          </a:blip>
          <a:srcRect t="22572" b="27651"/>
          <a:stretch>
            <a:fillRect/>
          </a:stretch>
        </p:blipFill>
        <p:spPr>
          <a:xfrm>
            <a:off x="6799802" y="586779"/>
            <a:ext cx="3760705" cy="1872000"/>
          </a:xfrm>
          <a:prstGeom prst="rect">
            <a:avLst/>
          </a:prstGeom>
        </p:spPr>
      </p:pic>
      <p:pic>
        <p:nvPicPr>
          <p:cNvPr id="17" name="Picture 16">
            <a:extLst>
              <a:ext uri="{FF2B5EF4-FFF2-40B4-BE49-F238E27FC236}">
                <a16:creationId xmlns:a16="http://schemas.microsoft.com/office/drawing/2014/main" id="{A027D162-9524-3731-7395-488B6FEBAAC8}"/>
              </a:ext>
            </a:extLst>
          </p:cNvPr>
          <p:cNvPicPr>
            <a:picLocks noChangeAspect="1"/>
          </p:cNvPicPr>
          <p:nvPr/>
        </p:nvPicPr>
        <p:blipFill>
          <a:blip r:embed="rId8"/>
          <a:stretch>
            <a:fillRect/>
          </a:stretch>
        </p:blipFill>
        <p:spPr>
          <a:xfrm>
            <a:off x="5735266" y="2136910"/>
            <a:ext cx="2324301" cy="1966130"/>
          </a:xfrm>
          <a:prstGeom prst="rect">
            <a:avLst/>
          </a:prstGeom>
        </p:spPr>
      </p:pic>
      <p:pic>
        <p:nvPicPr>
          <p:cNvPr id="19" name="Picture 18" descr="A logo with a white and orange design&#10;&#10;AI-generated content may be incorrect.">
            <a:extLst>
              <a:ext uri="{FF2B5EF4-FFF2-40B4-BE49-F238E27FC236}">
                <a16:creationId xmlns:a16="http://schemas.microsoft.com/office/drawing/2014/main" id="{26AC73EE-F237-3095-303F-82F5AB4D653A}"/>
              </a:ext>
            </a:extLst>
          </p:cNvPr>
          <p:cNvPicPr>
            <a:picLocks noChangeAspect="1"/>
          </p:cNvPicPr>
          <p:nvPr/>
        </p:nvPicPr>
        <p:blipFill>
          <a:blip r:embed="rId9">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7872793" y="2140890"/>
            <a:ext cx="2333625" cy="1962150"/>
          </a:xfrm>
          <a:prstGeom prst="rect">
            <a:avLst/>
          </a:prstGeom>
        </p:spPr>
      </p:pic>
      <p:pic>
        <p:nvPicPr>
          <p:cNvPr id="21" name="Picture 20">
            <a:extLst>
              <a:ext uri="{FF2B5EF4-FFF2-40B4-BE49-F238E27FC236}">
                <a16:creationId xmlns:a16="http://schemas.microsoft.com/office/drawing/2014/main" id="{2D8FEB07-2AC5-55A6-39D0-7560B79BA6A0}"/>
              </a:ext>
            </a:extLst>
          </p:cNvPr>
          <p:cNvPicPr>
            <a:picLocks noChangeAspect="1"/>
          </p:cNvPicPr>
          <p:nvPr/>
        </p:nvPicPr>
        <p:blipFill>
          <a:blip r:embed="rId10"/>
          <a:stretch>
            <a:fillRect/>
          </a:stretch>
        </p:blipFill>
        <p:spPr>
          <a:xfrm>
            <a:off x="1879302" y="4342272"/>
            <a:ext cx="2469465" cy="1044000"/>
          </a:xfrm>
          <a:prstGeom prst="rect">
            <a:avLst/>
          </a:prstGeom>
        </p:spPr>
      </p:pic>
      <p:sp>
        <p:nvSpPr>
          <p:cNvPr id="23" name="TextBox 22">
            <a:extLst>
              <a:ext uri="{FF2B5EF4-FFF2-40B4-BE49-F238E27FC236}">
                <a16:creationId xmlns:a16="http://schemas.microsoft.com/office/drawing/2014/main" id="{938A9D47-6E07-8DAE-C9DB-D65989A0D983}"/>
              </a:ext>
            </a:extLst>
          </p:cNvPr>
          <p:cNvSpPr txBox="1"/>
          <p:nvPr/>
        </p:nvSpPr>
        <p:spPr>
          <a:xfrm>
            <a:off x="299332" y="1981726"/>
            <a:ext cx="4083433" cy="954107"/>
          </a:xfrm>
          <a:prstGeom prst="rect">
            <a:avLst/>
          </a:prstGeom>
          <a:noFill/>
        </p:spPr>
        <p:txBody>
          <a:bodyPr wrap="square">
            <a:spAutoFit/>
          </a:bodyPr>
          <a:lstStyle/>
          <a:p>
            <a:r>
              <a:rPr lang="en-GB" sz="2800" b="0" i="0" dirty="0">
                <a:solidFill>
                  <a:srgbClr val="212529"/>
                </a:solidFill>
                <a:effectLst/>
                <a:latin typeface="Stencil" panose="040409050D0802020404" pitchFamily="82" charset="0"/>
              </a:rPr>
              <a:t>M P Food Processors (</a:t>
            </a:r>
            <a:r>
              <a:rPr lang="en-GB" sz="2800" b="0" i="0" dirty="0" err="1">
                <a:solidFill>
                  <a:srgbClr val="212529"/>
                </a:solidFill>
                <a:effectLst/>
                <a:latin typeface="Stencil" panose="040409050D0802020404" pitchFamily="82" charset="0"/>
              </a:rPr>
              <a:t>pty</a:t>
            </a:r>
            <a:r>
              <a:rPr lang="en-GB" sz="2800" b="0" i="0" dirty="0">
                <a:solidFill>
                  <a:srgbClr val="212529"/>
                </a:solidFill>
                <a:effectLst/>
                <a:latin typeface="Stencil" panose="040409050D0802020404" pitchFamily="82" charset="0"/>
              </a:rPr>
              <a:t>) Ltd</a:t>
            </a:r>
            <a:endParaRPr lang="en-ZA" sz="2800" dirty="0">
              <a:latin typeface="Stencil" panose="040409050D0802020404" pitchFamily="82" charset="0"/>
            </a:endParaRPr>
          </a:p>
        </p:txBody>
      </p:sp>
      <p:pic>
        <p:nvPicPr>
          <p:cNvPr id="27" name="Picture 26">
            <a:extLst>
              <a:ext uri="{FF2B5EF4-FFF2-40B4-BE49-F238E27FC236}">
                <a16:creationId xmlns:a16="http://schemas.microsoft.com/office/drawing/2014/main" id="{40C3D7E7-E541-80BF-E2E2-444D50376EA2}"/>
              </a:ext>
            </a:extLst>
          </p:cNvPr>
          <p:cNvPicPr>
            <a:picLocks noChangeAspect="1"/>
          </p:cNvPicPr>
          <p:nvPr/>
        </p:nvPicPr>
        <p:blipFill>
          <a:blip r:embed="rId11"/>
          <a:stretch>
            <a:fillRect/>
          </a:stretch>
        </p:blipFill>
        <p:spPr>
          <a:xfrm>
            <a:off x="334779" y="5751174"/>
            <a:ext cx="5220152" cy="472481"/>
          </a:xfrm>
          <a:prstGeom prst="rect">
            <a:avLst/>
          </a:prstGeom>
        </p:spPr>
      </p:pic>
      <p:pic>
        <p:nvPicPr>
          <p:cNvPr id="31" name="Picture 30">
            <a:extLst>
              <a:ext uri="{FF2B5EF4-FFF2-40B4-BE49-F238E27FC236}">
                <a16:creationId xmlns:a16="http://schemas.microsoft.com/office/drawing/2014/main" id="{6E3FE4C1-7EBC-ED9A-2C6D-DDAB708D90AC}"/>
              </a:ext>
            </a:extLst>
          </p:cNvPr>
          <p:cNvPicPr>
            <a:picLocks noChangeAspect="1"/>
          </p:cNvPicPr>
          <p:nvPr/>
        </p:nvPicPr>
        <p:blipFill>
          <a:blip r:embed="rId12"/>
          <a:stretch>
            <a:fillRect/>
          </a:stretch>
        </p:blipFill>
        <p:spPr>
          <a:xfrm>
            <a:off x="5492967" y="1346163"/>
            <a:ext cx="1036410" cy="1112616"/>
          </a:xfrm>
          <a:prstGeom prst="rect">
            <a:avLst/>
          </a:prstGeom>
        </p:spPr>
      </p:pic>
      <p:sp>
        <p:nvSpPr>
          <p:cNvPr id="38" name="Text Box 2">
            <a:extLst>
              <a:ext uri="{FF2B5EF4-FFF2-40B4-BE49-F238E27FC236}">
                <a16:creationId xmlns:a16="http://schemas.microsoft.com/office/drawing/2014/main" id="{9417331D-302A-507E-5BC5-8EB5CCC98F39}"/>
              </a:ext>
            </a:extLst>
          </p:cNvPr>
          <p:cNvSpPr txBox="1">
            <a:spLocks noChangeArrowheads="1"/>
          </p:cNvSpPr>
          <p:nvPr/>
        </p:nvSpPr>
        <p:spPr bwMode="auto">
          <a:xfrm>
            <a:off x="4698011" y="6478555"/>
            <a:ext cx="2527722" cy="307940"/>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2E3191"/>
                </a:solidFill>
                <a:effectLst/>
                <a:latin typeface="BankGothic Lt BT" panose="020B0607020203060204" pitchFamily="34" charset="0"/>
              </a:rPr>
              <a:t>#ImprovingTheWorldWeLiveIn</a:t>
            </a:r>
            <a:endParaRPr kumimoji="0" lang="en-US" altLang="en-US" sz="1200" b="0" i="0" u="none" strike="noStrike" cap="none" normalizeH="0" baseline="0" dirty="0">
              <a:ln>
                <a:noFill/>
              </a:ln>
              <a:solidFill>
                <a:schemeClr val="tx1"/>
              </a:solidFill>
              <a:effectLst/>
              <a:latin typeface="Arial" panose="020B0604020202020204" pitchFamily="34" charset="0"/>
            </a:endParaRPr>
          </a:p>
        </p:txBody>
      </p:sp>
      <p:pic>
        <p:nvPicPr>
          <p:cNvPr id="39" name="Picture 5" descr="social-media-logos-facebook-twitter-instagram-youtube-flickr-vector-pg-transparent-background-high-resolution-linkedin-googleplus-210299554">
            <a:extLst>
              <a:ext uri="{FF2B5EF4-FFF2-40B4-BE49-F238E27FC236}">
                <a16:creationId xmlns:a16="http://schemas.microsoft.com/office/drawing/2014/main" id="{86F2A042-CA02-69B9-BD8C-2F11C9F1D620}"/>
              </a:ext>
            </a:extLst>
          </p:cNvPr>
          <p:cNvPicPr>
            <a:picLocks noChangeAspect="1" noChangeArrowheads="1"/>
          </p:cNvPicPr>
          <p:nvPr/>
        </p:nvPicPr>
        <p:blipFill>
          <a:blip r:embed="rId13" cstate="print">
            <a:clrChange>
              <a:clrFrom>
                <a:srgbClr val="FFFFFF"/>
              </a:clrFrom>
              <a:clrTo>
                <a:srgbClr val="FFFFFF">
                  <a:alpha val="0"/>
                </a:srgbClr>
              </a:clrTo>
            </a:clrChange>
            <a:extLst>
              <a:ext uri="{28A0092B-C50C-407E-A947-70E740481C1C}">
                <a14:useLocalDpi xmlns:a14="http://schemas.microsoft.com/office/drawing/2010/main" val="0"/>
              </a:ext>
            </a:extLst>
          </a:blip>
          <a:srcRect l="51178" t="8835" r="39842" b="71758"/>
          <a:stretch>
            <a:fillRect/>
          </a:stretch>
        </p:blipFill>
        <p:spPr bwMode="auto">
          <a:xfrm>
            <a:off x="7358044" y="6551121"/>
            <a:ext cx="177800" cy="184150"/>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pic>
      <p:pic>
        <p:nvPicPr>
          <p:cNvPr id="40" name="Picture 6" descr="social-media-logos-facebook-twitter-instagram-youtube-flickr-vector-pg-transparent-background-high-resolution-linkedin-googleplus-210299554">
            <a:extLst>
              <a:ext uri="{FF2B5EF4-FFF2-40B4-BE49-F238E27FC236}">
                <a16:creationId xmlns:a16="http://schemas.microsoft.com/office/drawing/2014/main" id="{E6F37A99-94A3-5770-2D41-D895B3EBB15A}"/>
              </a:ext>
            </a:extLst>
          </p:cNvPr>
          <p:cNvPicPr>
            <a:picLocks noChangeAspect="1" noChangeArrowheads="1"/>
          </p:cNvPicPr>
          <p:nvPr/>
        </p:nvPicPr>
        <p:blipFill>
          <a:blip r:embed="rId14" cstate="print">
            <a:clrChange>
              <a:clrFrom>
                <a:srgbClr val="FFFFFF"/>
              </a:clrFrom>
              <a:clrTo>
                <a:srgbClr val="FFFFFF">
                  <a:alpha val="0"/>
                </a:srgbClr>
              </a:clrTo>
            </a:clrChange>
            <a:extLst>
              <a:ext uri="{28A0092B-C50C-407E-A947-70E740481C1C}">
                <a14:useLocalDpi xmlns:a14="http://schemas.microsoft.com/office/drawing/2010/main" val="0"/>
              </a:ext>
            </a:extLst>
          </a:blip>
          <a:srcRect l="86784" t="34485" r="4137" b="46553"/>
          <a:stretch>
            <a:fillRect/>
          </a:stretch>
        </p:blipFill>
        <p:spPr bwMode="auto">
          <a:xfrm>
            <a:off x="7599114" y="6551121"/>
            <a:ext cx="184150" cy="184150"/>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pic>
      <p:cxnSp>
        <p:nvCxnSpPr>
          <p:cNvPr id="41" name="Straight Connector 40">
            <a:extLst>
              <a:ext uri="{FF2B5EF4-FFF2-40B4-BE49-F238E27FC236}">
                <a16:creationId xmlns:a16="http://schemas.microsoft.com/office/drawing/2014/main" id="{D9E4979F-175D-FC5B-4B8B-E03BB87E3333}"/>
              </a:ext>
            </a:extLst>
          </p:cNvPr>
          <p:cNvCxnSpPr/>
          <p:nvPr/>
        </p:nvCxnSpPr>
        <p:spPr>
          <a:xfrm>
            <a:off x="2461147" y="6603099"/>
            <a:ext cx="2160000" cy="0"/>
          </a:xfrm>
          <a:prstGeom prst="line">
            <a:avLst/>
          </a:prstGeom>
          <a:ln w="28575">
            <a:solidFill>
              <a:srgbClr val="2E319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115665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1B327C-6885-F45A-61D1-E8113C0145E5}"/>
            </a:ext>
          </a:extLst>
        </p:cNvPr>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59D312CB-AF40-0123-FE1B-93CD1EAAB7A8}"/>
              </a:ext>
            </a:extLst>
          </p:cNvPr>
          <p:cNvPicPr>
            <a:picLocks noGrp="1" noChangeAspect="1"/>
          </p:cNvPicPr>
          <p:nvPr>
            <p:ph idx="1"/>
          </p:nvPr>
        </p:nvPicPr>
        <p:blipFill>
          <a:blip r:embed="rId2"/>
          <a:stretch>
            <a:fillRect/>
          </a:stretch>
        </p:blipFill>
        <p:spPr>
          <a:xfrm>
            <a:off x="-31974" y="0"/>
            <a:ext cx="12223974" cy="6858000"/>
          </a:xfrm>
        </p:spPr>
      </p:pic>
      <p:sp>
        <p:nvSpPr>
          <p:cNvPr id="6" name="Rectangle 5">
            <a:extLst>
              <a:ext uri="{FF2B5EF4-FFF2-40B4-BE49-F238E27FC236}">
                <a16:creationId xmlns:a16="http://schemas.microsoft.com/office/drawing/2014/main" id="{7A3BD9A8-E975-3AD5-9C0B-9D1BBB6AE9B7}"/>
              </a:ext>
            </a:extLst>
          </p:cNvPr>
          <p:cNvSpPr/>
          <p:nvPr/>
        </p:nvSpPr>
        <p:spPr>
          <a:xfrm>
            <a:off x="1071716" y="1081548"/>
            <a:ext cx="2910349" cy="126836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7" name="Picture 6">
            <a:extLst>
              <a:ext uri="{FF2B5EF4-FFF2-40B4-BE49-F238E27FC236}">
                <a16:creationId xmlns:a16="http://schemas.microsoft.com/office/drawing/2014/main" id="{346F09CD-B29F-94F4-C1C2-82106DE37A1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038"/>
            <a:ext cx="1080000" cy="1080000"/>
          </a:xfrm>
          <a:prstGeom prst="rect">
            <a:avLst/>
          </a:prstGeom>
        </p:spPr>
      </p:pic>
      <p:sp>
        <p:nvSpPr>
          <p:cNvPr id="8" name="Rectangle 7">
            <a:extLst>
              <a:ext uri="{FF2B5EF4-FFF2-40B4-BE49-F238E27FC236}">
                <a16:creationId xmlns:a16="http://schemas.microsoft.com/office/drawing/2014/main" id="{D74D0BF1-57CD-22E3-4924-CCCF333B7262}"/>
              </a:ext>
            </a:extLst>
          </p:cNvPr>
          <p:cNvSpPr/>
          <p:nvPr/>
        </p:nvSpPr>
        <p:spPr>
          <a:xfrm>
            <a:off x="463136" y="1166145"/>
            <a:ext cx="1758954" cy="9144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800" b="1" dirty="0">
                <a:solidFill>
                  <a:schemeClr val="tx1"/>
                </a:solidFill>
                <a:latin typeface="Garamond" panose="02020404030301010803" pitchFamily="18" charset="0"/>
              </a:rPr>
              <a:t>Our Team</a:t>
            </a:r>
            <a:endParaRPr lang="en-ZA" sz="2800" b="1" dirty="0">
              <a:solidFill>
                <a:schemeClr val="tx1"/>
              </a:solidFill>
              <a:latin typeface="Garamond" panose="02020404030301010803" pitchFamily="18" charset="0"/>
            </a:endParaRPr>
          </a:p>
        </p:txBody>
      </p:sp>
      <p:sp>
        <p:nvSpPr>
          <p:cNvPr id="9" name="Arrow: Pentagon 8">
            <a:extLst>
              <a:ext uri="{FF2B5EF4-FFF2-40B4-BE49-F238E27FC236}">
                <a16:creationId xmlns:a16="http://schemas.microsoft.com/office/drawing/2014/main" id="{D88BB4D5-34C1-2861-ECCA-6D5D64F55211}"/>
              </a:ext>
            </a:extLst>
          </p:cNvPr>
          <p:cNvSpPr/>
          <p:nvPr/>
        </p:nvSpPr>
        <p:spPr>
          <a:xfrm>
            <a:off x="654300" y="1922717"/>
            <a:ext cx="1152000" cy="58994"/>
          </a:xfrm>
          <a:prstGeom prst="homePlate">
            <a:avLst/>
          </a:prstGeom>
          <a:solidFill>
            <a:srgbClr val="004A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3" name="Rectangle 12">
            <a:extLst>
              <a:ext uri="{FF2B5EF4-FFF2-40B4-BE49-F238E27FC236}">
                <a16:creationId xmlns:a16="http://schemas.microsoft.com/office/drawing/2014/main" id="{A4E5311D-C0ED-D498-985A-2CA71E0A7C1F}"/>
              </a:ext>
            </a:extLst>
          </p:cNvPr>
          <p:cNvSpPr/>
          <p:nvPr/>
        </p:nvSpPr>
        <p:spPr>
          <a:xfrm>
            <a:off x="1230300" y="2349910"/>
            <a:ext cx="8609454" cy="450809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12" name="Picture 11">
            <a:extLst>
              <a:ext uri="{FF2B5EF4-FFF2-40B4-BE49-F238E27FC236}">
                <a16:creationId xmlns:a16="http://schemas.microsoft.com/office/drawing/2014/main" id="{6D09D813-F692-39DF-0FF3-5CB5794EDC5A}"/>
              </a:ext>
            </a:extLst>
          </p:cNvPr>
          <p:cNvPicPr>
            <a:picLocks noChangeAspect="1"/>
          </p:cNvPicPr>
          <p:nvPr/>
        </p:nvPicPr>
        <p:blipFill>
          <a:blip r:embed="rId4">
            <a:extLst>
              <a:ext uri="{28A0092B-C50C-407E-A947-70E740481C1C}">
                <a14:useLocalDpi xmlns:a14="http://schemas.microsoft.com/office/drawing/2010/main" val="0"/>
              </a:ext>
            </a:extLst>
          </a:blip>
          <a:srcRect t="14074" b="15770"/>
          <a:stretch>
            <a:fillRect/>
          </a:stretch>
        </p:blipFill>
        <p:spPr>
          <a:xfrm>
            <a:off x="2526890" y="2630455"/>
            <a:ext cx="1710478" cy="1800000"/>
          </a:xfrm>
          <a:prstGeom prst="rect">
            <a:avLst/>
          </a:prstGeom>
        </p:spPr>
      </p:pic>
      <p:pic>
        <p:nvPicPr>
          <p:cNvPr id="14" name="Picture 13">
            <a:extLst>
              <a:ext uri="{FF2B5EF4-FFF2-40B4-BE49-F238E27FC236}">
                <a16:creationId xmlns:a16="http://schemas.microsoft.com/office/drawing/2014/main" id="{AA916475-F089-E7C9-A397-5AB04876DBB1}"/>
              </a:ext>
            </a:extLst>
          </p:cNvPr>
          <p:cNvPicPr>
            <a:picLocks noChangeAspect="1"/>
          </p:cNvPicPr>
          <p:nvPr/>
        </p:nvPicPr>
        <p:blipFill>
          <a:blip r:embed="rId5">
            <a:extLst>
              <a:ext uri="{28A0092B-C50C-407E-A947-70E740481C1C}">
                <a14:useLocalDpi xmlns:a14="http://schemas.microsoft.com/office/drawing/2010/main" val="0"/>
              </a:ext>
            </a:extLst>
          </a:blip>
          <a:srcRect l="6990" t="8333" r="9069" b="32778"/>
          <a:stretch>
            <a:fillRect/>
          </a:stretch>
        </p:blipFill>
        <p:spPr>
          <a:xfrm>
            <a:off x="4833322" y="2630455"/>
            <a:ext cx="1710478" cy="1800000"/>
          </a:xfrm>
          <a:prstGeom prst="rect">
            <a:avLst/>
          </a:prstGeom>
        </p:spPr>
      </p:pic>
      <p:pic>
        <p:nvPicPr>
          <p:cNvPr id="31" name="Picture 30">
            <a:extLst>
              <a:ext uri="{FF2B5EF4-FFF2-40B4-BE49-F238E27FC236}">
                <a16:creationId xmlns:a16="http://schemas.microsoft.com/office/drawing/2014/main" id="{DB926F1B-94A8-AE06-8FB8-66FC9D28AC87}"/>
              </a:ext>
            </a:extLst>
          </p:cNvPr>
          <p:cNvPicPr>
            <a:picLocks noChangeAspect="1"/>
          </p:cNvPicPr>
          <p:nvPr/>
        </p:nvPicPr>
        <p:blipFill>
          <a:blip r:embed="rId6">
            <a:extLst>
              <a:ext uri="{28A0092B-C50C-407E-A947-70E740481C1C}">
                <a14:useLocalDpi xmlns:a14="http://schemas.microsoft.com/office/drawing/2010/main" val="0"/>
              </a:ext>
            </a:extLst>
          </a:blip>
          <a:srcRect l="56104" t="9697" r="13640" b="67071"/>
          <a:stretch>
            <a:fillRect/>
          </a:stretch>
        </p:blipFill>
        <p:spPr>
          <a:xfrm>
            <a:off x="367989" y="2630455"/>
            <a:ext cx="1562947" cy="1800000"/>
          </a:xfrm>
          <a:prstGeom prst="rect">
            <a:avLst/>
          </a:prstGeom>
        </p:spPr>
      </p:pic>
      <p:sp>
        <p:nvSpPr>
          <p:cNvPr id="2" name="Rectangle: Rounded Corners 1">
            <a:extLst>
              <a:ext uri="{FF2B5EF4-FFF2-40B4-BE49-F238E27FC236}">
                <a16:creationId xmlns:a16="http://schemas.microsoft.com/office/drawing/2014/main" id="{476D64E0-98FA-BEFA-3BA7-427CDF945AC9}"/>
              </a:ext>
            </a:extLst>
          </p:cNvPr>
          <p:cNvSpPr/>
          <p:nvPr/>
        </p:nvSpPr>
        <p:spPr>
          <a:xfrm>
            <a:off x="158057" y="4834300"/>
            <a:ext cx="1872000" cy="720000"/>
          </a:xfrm>
          <a:prstGeom prst="roundRect">
            <a:avLst/>
          </a:prstGeom>
          <a:solidFill>
            <a:srgbClr val="4987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bg1"/>
                </a:solidFill>
              </a:rPr>
              <a:t>Mr. Ncamiso K. Mhlanga </a:t>
            </a:r>
          </a:p>
          <a:p>
            <a:pPr algn="ctr"/>
            <a:r>
              <a:rPr lang="en-GB" sz="1200" dirty="0">
                <a:solidFill>
                  <a:schemeClr val="bg1"/>
                </a:solidFill>
              </a:rPr>
              <a:t>Executive Director</a:t>
            </a:r>
            <a:endParaRPr lang="en-ZA" sz="1200" dirty="0">
              <a:solidFill>
                <a:schemeClr val="bg1"/>
              </a:solidFill>
            </a:endParaRPr>
          </a:p>
        </p:txBody>
      </p:sp>
      <p:sp>
        <p:nvSpPr>
          <p:cNvPr id="3" name="Rectangle: Rounded Corners 2">
            <a:extLst>
              <a:ext uri="{FF2B5EF4-FFF2-40B4-BE49-F238E27FC236}">
                <a16:creationId xmlns:a16="http://schemas.microsoft.com/office/drawing/2014/main" id="{CCACEFFA-609A-CF01-CA59-97C1F8741A84}"/>
              </a:ext>
            </a:extLst>
          </p:cNvPr>
          <p:cNvSpPr/>
          <p:nvPr/>
        </p:nvSpPr>
        <p:spPr>
          <a:xfrm>
            <a:off x="2446129" y="4834300"/>
            <a:ext cx="1872000" cy="720000"/>
          </a:xfrm>
          <a:prstGeom prst="roundRect">
            <a:avLst/>
          </a:prstGeom>
          <a:solidFill>
            <a:srgbClr val="4987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dirty="0"/>
              <a:t>Mr. Phillip G. Mndawe</a:t>
            </a:r>
          </a:p>
          <a:p>
            <a:pPr algn="ctr"/>
            <a:r>
              <a:rPr lang="en-GB" sz="1200" dirty="0"/>
              <a:t>Technical Manager</a:t>
            </a:r>
            <a:endParaRPr lang="en-ZA" sz="1200" dirty="0"/>
          </a:p>
        </p:txBody>
      </p:sp>
      <p:sp>
        <p:nvSpPr>
          <p:cNvPr id="4" name="Rectangle: Rounded Corners 3">
            <a:extLst>
              <a:ext uri="{FF2B5EF4-FFF2-40B4-BE49-F238E27FC236}">
                <a16:creationId xmlns:a16="http://schemas.microsoft.com/office/drawing/2014/main" id="{9939C46B-251F-FBB2-71ED-44502689056E}"/>
              </a:ext>
            </a:extLst>
          </p:cNvPr>
          <p:cNvSpPr/>
          <p:nvPr/>
        </p:nvSpPr>
        <p:spPr>
          <a:xfrm>
            <a:off x="4752561" y="4835343"/>
            <a:ext cx="1872000" cy="720000"/>
          </a:xfrm>
          <a:prstGeom prst="roundRect">
            <a:avLst/>
          </a:prstGeom>
          <a:solidFill>
            <a:srgbClr val="4987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dirty="0"/>
              <a:t>Ms. Dumsile Masina</a:t>
            </a:r>
          </a:p>
          <a:p>
            <a:pPr algn="ctr"/>
            <a:r>
              <a:rPr lang="en-GB" sz="1200" dirty="0"/>
              <a:t>Chief Financial Officer</a:t>
            </a:r>
            <a:endParaRPr lang="en-ZA" sz="1200" dirty="0"/>
          </a:p>
        </p:txBody>
      </p:sp>
      <p:pic>
        <p:nvPicPr>
          <p:cNvPr id="15" name="Content Placeholder 4">
            <a:extLst>
              <a:ext uri="{FF2B5EF4-FFF2-40B4-BE49-F238E27FC236}">
                <a16:creationId xmlns:a16="http://schemas.microsoft.com/office/drawing/2014/main" id="{988B36C2-94F8-288B-231E-A4185D4B5E54}"/>
              </a:ext>
            </a:extLst>
          </p:cNvPr>
          <p:cNvPicPr>
            <a:picLocks noChangeAspect="1"/>
          </p:cNvPicPr>
          <p:nvPr/>
        </p:nvPicPr>
        <p:blipFill>
          <a:blip r:embed="rId2"/>
          <a:srcRect l="64888" r="10014"/>
          <a:stretch>
            <a:fillRect/>
          </a:stretch>
        </p:blipFill>
        <p:spPr>
          <a:xfrm>
            <a:off x="9132539" y="0"/>
            <a:ext cx="3067984" cy="6858000"/>
          </a:xfrm>
          <a:prstGeom prst="rect">
            <a:avLst/>
          </a:prstGeom>
        </p:spPr>
      </p:pic>
      <p:pic>
        <p:nvPicPr>
          <p:cNvPr id="35" name="Picture 34">
            <a:extLst>
              <a:ext uri="{FF2B5EF4-FFF2-40B4-BE49-F238E27FC236}">
                <a16:creationId xmlns:a16="http://schemas.microsoft.com/office/drawing/2014/main" id="{9C9466BF-B720-D6A5-0AB8-3BDE19C6EC0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983364" y="376132"/>
            <a:ext cx="2700000" cy="1800000"/>
          </a:xfrm>
          <a:prstGeom prst="rect">
            <a:avLst/>
          </a:prstGeom>
        </p:spPr>
      </p:pic>
      <p:sp>
        <p:nvSpPr>
          <p:cNvPr id="16" name="Rectangle 15">
            <a:extLst>
              <a:ext uri="{FF2B5EF4-FFF2-40B4-BE49-F238E27FC236}">
                <a16:creationId xmlns:a16="http://schemas.microsoft.com/office/drawing/2014/main" id="{E0757A8C-AF2A-4B30-3DE0-D57C0ADD1E28}"/>
              </a:ext>
            </a:extLst>
          </p:cNvPr>
          <p:cNvSpPr/>
          <p:nvPr/>
        </p:nvSpPr>
        <p:spPr>
          <a:xfrm>
            <a:off x="8654143" y="4430455"/>
            <a:ext cx="1428453" cy="81645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17" name="Picture 16">
            <a:extLst>
              <a:ext uri="{FF2B5EF4-FFF2-40B4-BE49-F238E27FC236}">
                <a16:creationId xmlns:a16="http://schemas.microsoft.com/office/drawing/2014/main" id="{75D518C6-8BAC-C8ED-D024-EC93D6774C6D}"/>
              </a:ext>
            </a:extLst>
          </p:cNvPr>
          <p:cNvPicPr>
            <a:picLocks noChangeAspect="1"/>
          </p:cNvPicPr>
          <p:nvPr/>
        </p:nvPicPr>
        <p:blipFill>
          <a:blip r:embed="rId8">
            <a:clrChange>
              <a:clrFrom>
                <a:srgbClr val="FFFFFF"/>
              </a:clrFrom>
              <a:clrTo>
                <a:srgbClr val="FFFFFF">
                  <a:alpha val="0"/>
                </a:srgbClr>
              </a:clrTo>
            </a:clrChange>
          </a:blip>
          <a:stretch>
            <a:fillRect/>
          </a:stretch>
        </p:blipFill>
        <p:spPr>
          <a:xfrm>
            <a:off x="-2" y="5281159"/>
            <a:ext cx="2456472" cy="1584000"/>
          </a:xfrm>
          <a:prstGeom prst="rect">
            <a:avLst/>
          </a:prstGeom>
        </p:spPr>
      </p:pic>
      <p:pic>
        <p:nvPicPr>
          <p:cNvPr id="18" name="Picture 17">
            <a:extLst>
              <a:ext uri="{FF2B5EF4-FFF2-40B4-BE49-F238E27FC236}">
                <a16:creationId xmlns:a16="http://schemas.microsoft.com/office/drawing/2014/main" id="{67427E2E-5C6A-472A-7B09-1AF460FE7A7D}"/>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7958134" y="2327573"/>
            <a:ext cx="2700000" cy="1800000"/>
          </a:xfrm>
          <a:prstGeom prst="rect">
            <a:avLst/>
          </a:prstGeom>
        </p:spPr>
      </p:pic>
      <p:sp>
        <p:nvSpPr>
          <p:cNvPr id="19" name="Text Box 2">
            <a:extLst>
              <a:ext uri="{FF2B5EF4-FFF2-40B4-BE49-F238E27FC236}">
                <a16:creationId xmlns:a16="http://schemas.microsoft.com/office/drawing/2014/main" id="{32DF0BE2-5BAF-8F6C-747C-D6BC8E23CA57}"/>
              </a:ext>
            </a:extLst>
          </p:cNvPr>
          <p:cNvSpPr txBox="1">
            <a:spLocks noChangeArrowheads="1"/>
          </p:cNvSpPr>
          <p:nvPr/>
        </p:nvSpPr>
        <p:spPr bwMode="auto">
          <a:xfrm>
            <a:off x="5990186" y="6550060"/>
            <a:ext cx="2527722" cy="307940"/>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2E3191"/>
                </a:solidFill>
                <a:effectLst/>
                <a:latin typeface="BankGothic Lt BT" panose="020B0607020203060204" pitchFamily="34" charset="0"/>
              </a:rPr>
              <a:t>#ImprovingTheWorldWeLiveIn</a:t>
            </a:r>
            <a:endParaRPr kumimoji="0" lang="en-US" altLang="en-US" sz="1200" b="0" i="0" u="none" strike="noStrike" cap="none" normalizeH="0" baseline="0" dirty="0">
              <a:ln>
                <a:noFill/>
              </a:ln>
              <a:solidFill>
                <a:schemeClr val="tx1"/>
              </a:solidFill>
              <a:effectLst/>
              <a:latin typeface="Arial" panose="020B0604020202020204" pitchFamily="34" charset="0"/>
            </a:endParaRPr>
          </a:p>
        </p:txBody>
      </p:sp>
      <p:pic>
        <p:nvPicPr>
          <p:cNvPr id="20" name="Picture 5" descr="social-media-logos-facebook-twitter-instagram-youtube-flickr-vector-pg-transparent-background-high-resolution-linkedin-googleplus-210299554">
            <a:extLst>
              <a:ext uri="{FF2B5EF4-FFF2-40B4-BE49-F238E27FC236}">
                <a16:creationId xmlns:a16="http://schemas.microsoft.com/office/drawing/2014/main" id="{82D76AD3-FC56-5D4E-760A-2AD31E47D463}"/>
              </a:ext>
            </a:extLst>
          </p:cNvPr>
          <p:cNvPicPr>
            <a:picLocks noChangeAspect="1" noChangeArrowheads="1"/>
          </p:cNvPicPr>
          <p:nvPr/>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rcRect l="51178" t="8835" r="39842" b="71758"/>
          <a:stretch>
            <a:fillRect/>
          </a:stretch>
        </p:blipFill>
        <p:spPr bwMode="auto">
          <a:xfrm>
            <a:off x="8650219" y="6622626"/>
            <a:ext cx="177800" cy="184150"/>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pic>
      <p:pic>
        <p:nvPicPr>
          <p:cNvPr id="21" name="Picture 6" descr="social-media-logos-facebook-twitter-instagram-youtube-flickr-vector-pg-transparent-background-high-resolution-linkedin-googleplus-210299554">
            <a:extLst>
              <a:ext uri="{FF2B5EF4-FFF2-40B4-BE49-F238E27FC236}">
                <a16:creationId xmlns:a16="http://schemas.microsoft.com/office/drawing/2014/main" id="{B18BC675-9F4A-9C89-9B8B-0BAAF6D8CC75}"/>
              </a:ext>
            </a:extLst>
          </p:cNvPr>
          <p:cNvPicPr>
            <a:picLocks noChangeAspect="1" noChangeArrowheads="1"/>
          </p:cNvPicPr>
          <p:nvPr/>
        </p:nvPicPr>
        <p:blipFill>
          <a:blip r:embed="rId11" cstate="print">
            <a:clrChange>
              <a:clrFrom>
                <a:srgbClr val="FFFFFF"/>
              </a:clrFrom>
              <a:clrTo>
                <a:srgbClr val="FFFFFF">
                  <a:alpha val="0"/>
                </a:srgbClr>
              </a:clrTo>
            </a:clrChange>
            <a:extLst>
              <a:ext uri="{28A0092B-C50C-407E-A947-70E740481C1C}">
                <a14:useLocalDpi xmlns:a14="http://schemas.microsoft.com/office/drawing/2010/main" val="0"/>
              </a:ext>
            </a:extLst>
          </a:blip>
          <a:srcRect l="86784" t="34485" r="4137" b="46553"/>
          <a:stretch>
            <a:fillRect/>
          </a:stretch>
        </p:blipFill>
        <p:spPr bwMode="auto">
          <a:xfrm>
            <a:off x="8891289" y="6622626"/>
            <a:ext cx="184150" cy="184150"/>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pic>
      <p:cxnSp>
        <p:nvCxnSpPr>
          <p:cNvPr id="22" name="Straight Connector 21">
            <a:extLst>
              <a:ext uri="{FF2B5EF4-FFF2-40B4-BE49-F238E27FC236}">
                <a16:creationId xmlns:a16="http://schemas.microsoft.com/office/drawing/2014/main" id="{EFC5694F-BE1C-E44B-28CB-36695F952053}"/>
              </a:ext>
            </a:extLst>
          </p:cNvPr>
          <p:cNvCxnSpPr/>
          <p:nvPr/>
        </p:nvCxnSpPr>
        <p:spPr>
          <a:xfrm>
            <a:off x="3753322" y="6674604"/>
            <a:ext cx="2160000" cy="0"/>
          </a:xfrm>
          <a:prstGeom prst="line">
            <a:avLst/>
          </a:prstGeom>
          <a:ln w="28575">
            <a:solidFill>
              <a:srgbClr val="2E319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795655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1C55AE-B872-9487-4AAE-840147C2D5A5}"/>
            </a:ext>
          </a:extLst>
        </p:cNvPr>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0FAC210A-B69A-3930-F0C5-A736F342407D}"/>
              </a:ext>
            </a:extLst>
          </p:cNvPr>
          <p:cNvPicPr>
            <a:picLocks noGrp="1" noChangeAspect="1"/>
          </p:cNvPicPr>
          <p:nvPr>
            <p:ph idx="1"/>
          </p:nvPr>
        </p:nvPicPr>
        <p:blipFill>
          <a:blip r:embed="rId3"/>
          <a:stretch>
            <a:fillRect/>
          </a:stretch>
        </p:blipFill>
        <p:spPr>
          <a:xfrm>
            <a:off x="-31974" y="0"/>
            <a:ext cx="12223974" cy="6858000"/>
          </a:xfrm>
        </p:spPr>
      </p:pic>
      <p:sp>
        <p:nvSpPr>
          <p:cNvPr id="6" name="Rectangle 5">
            <a:extLst>
              <a:ext uri="{FF2B5EF4-FFF2-40B4-BE49-F238E27FC236}">
                <a16:creationId xmlns:a16="http://schemas.microsoft.com/office/drawing/2014/main" id="{F9AA7277-3647-32AC-5248-26469828662D}"/>
              </a:ext>
            </a:extLst>
          </p:cNvPr>
          <p:cNvSpPr/>
          <p:nvPr/>
        </p:nvSpPr>
        <p:spPr>
          <a:xfrm>
            <a:off x="1071716" y="1081547"/>
            <a:ext cx="7811028" cy="451370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7" name="Picture 6">
            <a:extLst>
              <a:ext uri="{FF2B5EF4-FFF2-40B4-BE49-F238E27FC236}">
                <a16:creationId xmlns:a16="http://schemas.microsoft.com/office/drawing/2014/main" id="{F62BE28A-1C23-6618-C749-27957542534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2038"/>
            <a:ext cx="1080000" cy="1080000"/>
          </a:xfrm>
          <a:prstGeom prst="rect">
            <a:avLst/>
          </a:prstGeom>
        </p:spPr>
      </p:pic>
      <p:sp>
        <p:nvSpPr>
          <p:cNvPr id="2" name="Rectangle 1">
            <a:extLst>
              <a:ext uri="{FF2B5EF4-FFF2-40B4-BE49-F238E27FC236}">
                <a16:creationId xmlns:a16="http://schemas.microsoft.com/office/drawing/2014/main" id="{4025E1D6-868A-B15D-1071-7A33467AEFAE}"/>
              </a:ext>
            </a:extLst>
          </p:cNvPr>
          <p:cNvSpPr/>
          <p:nvPr/>
        </p:nvSpPr>
        <p:spPr>
          <a:xfrm>
            <a:off x="463135" y="1166145"/>
            <a:ext cx="2065319" cy="9144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800" b="1" dirty="0">
                <a:solidFill>
                  <a:schemeClr val="tx1"/>
                </a:solidFill>
                <a:latin typeface="Garamond" panose="02020404030301010803" pitchFamily="18" charset="0"/>
              </a:rPr>
              <a:t>Contact Us</a:t>
            </a:r>
            <a:endParaRPr lang="en-ZA" sz="2800" b="1" dirty="0">
              <a:solidFill>
                <a:schemeClr val="tx1"/>
              </a:solidFill>
              <a:latin typeface="Garamond" panose="02020404030301010803" pitchFamily="18" charset="0"/>
            </a:endParaRPr>
          </a:p>
        </p:txBody>
      </p:sp>
      <p:sp>
        <p:nvSpPr>
          <p:cNvPr id="3" name="Arrow: Pentagon 2">
            <a:extLst>
              <a:ext uri="{FF2B5EF4-FFF2-40B4-BE49-F238E27FC236}">
                <a16:creationId xmlns:a16="http://schemas.microsoft.com/office/drawing/2014/main" id="{1830FC8F-9E71-CD9C-35D5-7C25C0E24D72}"/>
              </a:ext>
            </a:extLst>
          </p:cNvPr>
          <p:cNvSpPr/>
          <p:nvPr/>
        </p:nvSpPr>
        <p:spPr>
          <a:xfrm>
            <a:off x="654300" y="1922717"/>
            <a:ext cx="1440000" cy="58994"/>
          </a:xfrm>
          <a:prstGeom prst="homePlate">
            <a:avLst/>
          </a:prstGeom>
          <a:solidFill>
            <a:srgbClr val="004A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4" name="Content Placeholder 4">
            <a:extLst>
              <a:ext uri="{FF2B5EF4-FFF2-40B4-BE49-F238E27FC236}">
                <a16:creationId xmlns:a16="http://schemas.microsoft.com/office/drawing/2014/main" id="{A0725A9F-8BC1-BD27-EF15-3E82A8302A0D}"/>
              </a:ext>
            </a:extLst>
          </p:cNvPr>
          <p:cNvPicPr>
            <a:picLocks noChangeAspect="1"/>
          </p:cNvPicPr>
          <p:nvPr/>
        </p:nvPicPr>
        <p:blipFill>
          <a:blip r:embed="rId3">
            <a:clrChange>
              <a:clrFrom>
                <a:srgbClr val="FFFFFF"/>
              </a:clrFrom>
              <a:clrTo>
                <a:srgbClr val="FFFFFF">
                  <a:alpha val="0"/>
                </a:srgbClr>
              </a:clrTo>
            </a:clrChange>
          </a:blip>
          <a:srcRect l="10324" t="34921" r="58864" b="26191"/>
          <a:stretch>
            <a:fillRect/>
          </a:stretch>
        </p:blipFill>
        <p:spPr>
          <a:xfrm>
            <a:off x="4657200" y="1703448"/>
            <a:ext cx="5084086" cy="3600000"/>
          </a:xfrm>
          <a:prstGeom prst="rect">
            <a:avLst/>
          </a:prstGeom>
        </p:spPr>
      </p:pic>
      <p:pic>
        <p:nvPicPr>
          <p:cNvPr id="8" name="Content Placeholder 4">
            <a:extLst>
              <a:ext uri="{FF2B5EF4-FFF2-40B4-BE49-F238E27FC236}">
                <a16:creationId xmlns:a16="http://schemas.microsoft.com/office/drawing/2014/main" id="{B2D3D97A-188E-5DDC-CA65-ADC9243323D9}"/>
              </a:ext>
            </a:extLst>
          </p:cNvPr>
          <p:cNvPicPr>
            <a:picLocks noChangeAspect="1"/>
          </p:cNvPicPr>
          <p:nvPr/>
        </p:nvPicPr>
        <p:blipFill>
          <a:blip r:embed="rId3"/>
          <a:srcRect l="40620" t="40103" r="26627" b="51966"/>
          <a:stretch>
            <a:fillRect/>
          </a:stretch>
        </p:blipFill>
        <p:spPr>
          <a:xfrm>
            <a:off x="412245" y="2453329"/>
            <a:ext cx="4003817" cy="543947"/>
          </a:xfrm>
          <a:prstGeom prst="rect">
            <a:avLst/>
          </a:prstGeom>
        </p:spPr>
      </p:pic>
      <p:sp>
        <p:nvSpPr>
          <p:cNvPr id="9" name="Text Box 68">
            <a:extLst>
              <a:ext uri="{FF2B5EF4-FFF2-40B4-BE49-F238E27FC236}">
                <a16:creationId xmlns:a16="http://schemas.microsoft.com/office/drawing/2014/main" id="{FFAC4A79-25B8-BA3A-2D12-42D0D67CE72D}"/>
              </a:ext>
            </a:extLst>
          </p:cNvPr>
          <p:cNvSpPr txBox="1">
            <a:spLocks noChangeArrowheads="1"/>
          </p:cNvSpPr>
          <p:nvPr/>
        </p:nvSpPr>
        <p:spPr bwMode="auto">
          <a:xfrm>
            <a:off x="1084451" y="2687883"/>
            <a:ext cx="1378690" cy="358775"/>
          </a:xfrm>
          <a:prstGeom prst="rect">
            <a:avLst/>
          </a:pr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rPr>
              <a:t>(+268) 2518 4633</a:t>
            </a:r>
            <a:endParaRPr kumimoji="0" lang="en-ZA" altLang="en-US" sz="12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rPr>
              <a:t>(+268) 2518 4610</a:t>
            </a:r>
            <a:endParaRPr kumimoji="0" lang="en-US" altLang="en-US" sz="1200" b="0" i="0" u="none" strike="noStrike" cap="none" normalizeH="0" baseline="0" dirty="0">
              <a:ln>
                <a:noFill/>
              </a:ln>
              <a:solidFill>
                <a:schemeClr val="tx1"/>
              </a:solidFill>
              <a:effectLst/>
            </a:endParaRPr>
          </a:p>
        </p:txBody>
      </p:sp>
      <p:pic>
        <p:nvPicPr>
          <p:cNvPr id="10" name="Content Placeholder 4">
            <a:extLst>
              <a:ext uri="{FF2B5EF4-FFF2-40B4-BE49-F238E27FC236}">
                <a16:creationId xmlns:a16="http://schemas.microsoft.com/office/drawing/2014/main" id="{C33BBE4A-4280-0930-1E08-0C1273501179}"/>
              </a:ext>
            </a:extLst>
          </p:cNvPr>
          <p:cNvPicPr>
            <a:picLocks noChangeAspect="1"/>
          </p:cNvPicPr>
          <p:nvPr/>
        </p:nvPicPr>
        <p:blipFill>
          <a:blip r:embed="rId3"/>
          <a:srcRect l="40620" t="47424" r="26627" b="44265"/>
          <a:stretch>
            <a:fillRect/>
          </a:stretch>
        </p:blipFill>
        <p:spPr>
          <a:xfrm>
            <a:off x="412244" y="5741218"/>
            <a:ext cx="4003817" cy="569949"/>
          </a:xfrm>
          <a:prstGeom prst="rect">
            <a:avLst/>
          </a:prstGeom>
        </p:spPr>
      </p:pic>
      <p:pic>
        <p:nvPicPr>
          <p:cNvPr id="11" name="Content Placeholder 4">
            <a:extLst>
              <a:ext uri="{FF2B5EF4-FFF2-40B4-BE49-F238E27FC236}">
                <a16:creationId xmlns:a16="http://schemas.microsoft.com/office/drawing/2014/main" id="{6DF980F4-90F9-BC17-A64D-248A0DE332D1}"/>
              </a:ext>
            </a:extLst>
          </p:cNvPr>
          <p:cNvPicPr>
            <a:picLocks noChangeAspect="1"/>
          </p:cNvPicPr>
          <p:nvPr/>
        </p:nvPicPr>
        <p:blipFill>
          <a:blip r:embed="rId3"/>
          <a:srcRect l="40620" t="54783" r="26627" b="35693"/>
          <a:stretch>
            <a:fillRect/>
          </a:stretch>
        </p:blipFill>
        <p:spPr>
          <a:xfrm>
            <a:off x="365827" y="3503448"/>
            <a:ext cx="4003817" cy="653144"/>
          </a:xfrm>
          <a:prstGeom prst="rect">
            <a:avLst/>
          </a:prstGeom>
        </p:spPr>
      </p:pic>
      <p:pic>
        <p:nvPicPr>
          <p:cNvPr id="12" name="Content Placeholder 4">
            <a:extLst>
              <a:ext uri="{FF2B5EF4-FFF2-40B4-BE49-F238E27FC236}">
                <a16:creationId xmlns:a16="http://schemas.microsoft.com/office/drawing/2014/main" id="{A0D0E25F-9BDD-35C7-C9E5-26EB54CB71A1}"/>
              </a:ext>
            </a:extLst>
          </p:cNvPr>
          <p:cNvPicPr>
            <a:picLocks noChangeAspect="1"/>
          </p:cNvPicPr>
          <p:nvPr/>
        </p:nvPicPr>
        <p:blipFill>
          <a:blip r:embed="rId3"/>
          <a:srcRect l="40620" t="63971" r="26627" b="28163"/>
          <a:stretch>
            <a:fillRect/>
          </a:stretch>
        </p:blipFill>
        <p:spPr>
          <a:xfrm>
            <a:off x="365826" y="4606195"/>
            <a:ext cx="4003817" cy="539457"/>
          </a:xfrm>
          <a:prstGeom prst="rect">
            <a:avLst/>
          </a:prstGeom>
        </p:spPr>
      </p:pic>
      <p:sp>
        <p:nvSpPr>
          <p:cNvPr id="13" name="Text Box 63">
            <a:extLst>
              <a:ext uri="{FF2B5EF4-FFF2-40B4-BE49-F238E27FC236}">
                <a16:creationId xmlns:a16="http://schemas.microsoft.com/office/drawing/2014/main" id="{E5F29789-6911-BA3A-DF02-C09516131B62}"/>
              </a:ext>
            </a:extLst>
          </p:cNvPr>
          <p:cNvSpPr txBox="1">
            <a:spLocks noChangeArrowheads="1"/>
          </p:cNvSpPr>
          <p:nvPr/>
        </p:nvSpPr>
        <p:spPr bwMode="auto">
          <a:xfrm>
            <a:off x="1080000" y="4893128"/>
            <a:ext cx="2909442" cy="686684"/>
          </a:xfrm>
          <a:prstGeom prst="rect">
            <a:avLst/>
          </a:pr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rPr>
              <a:t>Plot 247, Marbel Construction Premises</a:t>
            </a:r>
            <a:r>
              <a:rPr kumimoji="0" lang="en-ZA" altLang="en-US" sz="1200" b="0" i="0" u="none" strike="noStrike" cap="none" normalizeH="0" baseline="0" dirty="0">
                <a:ln>
                  <a:noFill/>
                </a:ln>
                <a:solidFill>
                  <a:srgbClr val="000000"/>
                </a:solidFill>
                <a:effectLst/>
              </a:rPr>
              <a:t>, </a:t>
            </a:r>
            <a:r>
              <a:rPr kumimoji="0" lang="en-US" altLang="en-US" sz="1200" b="0" i="0" u="none" strike="noStrike" cap="none" normalizeH="0" baseline="0" dirty="0">
                <a:ln>
                  <a:noFill/>
                </a:ln>
                <a:solidFill>
                  <a:srgbClr val="000000"/>
                </a:solidFill>
                <a:effectLst/>
              </a:rPr>
              <a:t>King Mswati III Avenue West</a:t>
            </a:r>
            <a:endParaRPr kumimoji="0" lang="en-ZA" altLang="en-US" sz="12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rPr>
              <a:t>Matsapha Industrial Site</a:t>
            </a:r>
            <a:endParaRPr kumimoji="0" lang="en-US" altLang="en-US" sz="1200" b="0" i="0" u="none" strike="noStrike" cap="none" normalizeH="0" baseline="0" dirty="0">
              <a:ln>
                <a:noFill/>
              </a:ln>
              <a:solidFill>
                <a:schemeClr val="tx1"/>
              </a:solidFill>
              <a:effectLst/>
            </a:endParaRPr>
          </a:p>
        </p:txBody>
      </p:sp>
      <p:sp>
        <p:nvSpPr>
          <p:cNvPr id="14" name="Text Box 70">
            <a:extLst>
              <a:ext uri="{FF2B5EF4-FFF2-40B4-BE49-F238E27FC236}">
                <a16:creationId xmlns:a16="http://schemas.microsoft.com/office/drawing/2014/main" id="{690FA06C-6D31-96C8-5F74-0B76C573F115}"/>
              </a:ext>
            </a:extLst>
          </p:cNvPr>
          <p:cNvSpPr txBox="1">
            <a:spLocks noChangeArrowheads="1"/>
          </p:cNvSpPr>
          <p:nvPr/>
        </p:nvSpPr>
        <p:spPr bwMode="auto">
          <a:xfrm>
            <a:off x="1080000" y="3828429"/>
            <a:ext cx="2137722" cy="367047"/>
          </a:xfrm>
          <a:prstGeom prst="rect">
            <a:avLst/>
          </a:pr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i="0" u="none" strike="noStrike" cap="none" normalizeH="0" baseline="0" dirty="0">
                <a:ln>
                  <a:noFill/>
                </a:ln>
                <a:solidFill>
                  <a:srgbClr val="000000"/>
                </a:solidFill>
                <a:effectLst/>
              </a:rPr>
              <a:t>www.swasa.co.sz</a:t>
            </a:r>
            <a:endParaRPr kumimoji="0" lang="en-ZA" altLang="en-US" sz="120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i="0" u="none" strike="noStrike" cap="none" normalizeH="0" baseline="0" dirty="0">
                <a:ln>
                  <a:noFill/>
                </a:ln>
                <a:solidFill>
                  <a:srgbClr val="000000"/>
                </a:solidFill>
                <a:effectLst/>
              </a:rPr>
              <a:t>info@swasa.co.sz</a:t>
            </a:r>
            <a:endParaRPr kumimoji="0" lang="en-US" altLang="en-US" sz="1200" i="0" u="none" strike="noStrike" cap="none" normalizeH="0" baseline="0" dirty="0">
              <a:ln>
                <a:noFill/>
              </a:ln>
              <a:solidFill>
                <a:schemeClr val="tx1"/>
              </a:solidFill>
              <a:effectLst/>
            </a:endParaRPr>
          </a:p>
        </p:txBody>
      </p:sp>
      <p:sp>
        <p:nvSpPr>
          <p:cNvPr id="15" name="Text Box 66">
            <a:extLst>
              <a:ext uri="{FF2B5EF4-FFF2-40B4-BE49-F238E27FC236}">
                <a16:creationId xmlns:a16="http://schemas.microsoft.com/office/drawing/2014/main" id="{29F06E92-29AA-BCDC-D978-996920AD5AFA}"/>
              </a:ext>
            </a:extLst>
          </p:cNvPr>
          <p:cNvSpPr txBox="1">
            <a:spLocks noChangeArrowheads="1"/>
          </p:cNvSpPr>
          <p:nvPr/>
        </p:nvSpPr>
        <p:spPr bwMode="auto">
          <a:xfrm>
            <a:off x="1080000" y="6041637"/>
            <a:ext cx="2207486" cy="564194"/>
          </a:xfrm>
          <a:prstGeom prst="rect">
            <a:avLst/>
          </a:pr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rPr>
              <a:t>P.O. Box 1399,</a:t>
            </a:r>
            <a:endParaRPr kumimoji="0" lang="en-ZA" altLang="en-US" sz="12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rPr>
              <a:t>Matsapha, Eswatini</a:t>
            </a:r>
            <a:endParaRPr kumimoji="0" lang="en-US" altLang="en-US" sz="1200" b="0" i="0" u="none" strike="noStrike" cap="none" normalizeH="0" baseline="0" dirty="0">
              <a:ln>
                <a:noFill/>
              </a:ln>
              <a:solidFill>
                <a:schemeClr val="tx1"/>
              </a:solidFill>
              <a:effectLst/>
            </a:endParaRPr>
          </a:p>
        </p:txBody>
      </p:sp>
      <p:sp>
        <p:nvSpPr>
          <p:cNvPr id="16" name="Text Box 2">
            <a:extLst>
              <a:ext uri="{FF2B5EF4-FFF2-40B4-BE49-F238E27FC236}">
                <a16:creationId xmlns:a16="http://schemas.microsoft.com/office/drawing/2014/main" id="{DF72A8E2-4EB1-1ED5-CDCB-8BBCB841CDDB}"/>
              </a:ext>
            </a:extLst>
          </p:cNvPr>
          <p:cNvSpPr txBox="1">
            <a:spLocks noChangeArrowheads="1"/>
          </p:cNvSpPr>
          <p:nvPr/>
        </p:nvSpPr>
        <p:spPr bwMode="auto">
          <a:xfrm>
            <a:off x="4765318" y="6518762"/>
            <a:ext cx="2527722" cy="307940"/>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2E3191"/>
                </a:solidFill>
                <a:effectLst/>
                <a:latin typeface="BankGothic Lt BT" panose="020B0607020203060204" pitchFamily="34" charset="0"/>
              </a:rPr>
              <a:t>#ImprovingTheWorldWeLiveIn</a:t>
            </a:r>
            <a:endParaRPr kumimoji="0" lang="en-US" altLang="en-US" sz="1200" b="0" i="0" u="none" strike="noStrike" cap="none" normalizeH="0" baseline="0" dirty="0">
              <a:ln>
                <a:noFill/>
              </a:ln>
              <a:solidFill>
                <a:schemeClr val="tx1"/>
              </a:solidFill>
              <a:effectLst/>
              <a:latin typeface="Arial" panose="020B0604020202020204" pitchFamily="34" charset="0"/>
            </a:endParaRPr>
          </a:p>
        </p:txBody>
      </p:sp>
      <p:pic>
        <p:nvPicPr>
          <p:cNvPr id="17" name="Picture 5" descr="social-media-logos-facebook-twitter-instagram-youtube-flickr-vector-pg-transparent-background-high-resolution-linkedin-googleplus-210299554">
            <a:extLst>
              <a:ext uri="{FF2B5EF4-FFF2-40B4-BE49-F238E27FC236}">
                <a16:creationId xmlns:a16="http://schemas.microsoft.com/office/drawing/2014/main" id="{E52B8A45-EACC-7B37-7762-5DF657250F5B}"/>
              </a:ext>
            </a:extLst>
          </p:cNvPr>
          <p:cNvPicPr>
            <a:picLocks noChangeAspect="1" noChangeArrowheads="1"/>
          </p:cNvPicPr>
          <p:nvPr/>
        </p:nvPicPr>
        <p:blipFill>
          <a:blip r:embed="rId5" cstate="print">
            <a:clrChange>
              <a:clrFrom>
                <a:srgbClr val="FFFFFF"/>
              </a:clrFrom>
              <a:clrTo>
                <a:srgbClr val="FFFFFF">
                  <a:alpha val="0"/>
                </a:srgbClr>
              </a:clrTo>
            </a:clrChange>
            <a:extLst>
              <a:ext uri="{28A0092B-C50C-407E-A947-70E740481C1C}">
                <a14:useLocalDpi xmlns:a14="http://schemas.microsoft.com/office/drawing/2010/main" val="0"/>
              </a:ext>
            </a:extLst>
          </a:blip>
          <a:srcRect l="51178" t="8835" r="39842" b="71758"/>
          <a:stretch>
            <a:fillRect/>
          </a:stretch>
        </p:blipFill>
        <p:spPr bwMode="auto">
          <a:xfrm>
            <a:off x="7425351" y="6591328"/>
            <a:ext cx="177800" cy="184150"/>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pic>
      <p:pic>
        <p:nvPicPr>
          <p:cNvPr id="18" name="Picture 6" descr="social-media-logos-facebook-twitter-instagram-youtube-flickr-vector-pg-transparent-background-high-resolution-linkedin-googleplus-210299554">
            <a:extLst>
              <a:ext uri="{FF2B5EF4-FFF2-40B4-BE49-F238E27FC236}">
                <a16:creationId xmlns:a16="http://schemas.microsoft.com/office/drawing/2014/main" id="{96DDDAB0-D45E-84ED-B325-FAEE34F061DD}"/>
              </a:ext>
            </a:extLst>
          </p:cNvPr>
          <p:cNvPicPr>
            <a:picLocks noChangeAspect="1" noChangeArrowheads="1"/>
          </p:cNvPicPr>
          <p:nvPr/>
        </p:nvPicPr>
        <p:blipFill>
          <a:blip r:embed="rId6" cstate="print">
            <a:clrChange>
              <a:clrFrom>
                <a:srgbClr val="FFFFFF"/>
              </a:clrFrom>
              <a:clrTo>
                <a:srgbClr val="FFFFFF">
                  <a:alpha val="0"/>
                </a:srgbClr>
              </a:clrTo>
            </a:clrChange>
            <a:extLst>
              <a:ext uri="{28A0092B-C50C-407E-A947-70E740481C1C}">
                <a14:useLocalDpi xmlns:a14="http://schemas.microsoft.com/office/drawing/2010/main" val="0"/>
              </a:ext>
            </a:extLst>
          </a:blip>
          <a:srcRect l="86784" t="34485" r="4137" b="46553"/>
          <a:stretch>
            <a:fillRect/>
          </a:stretch>
        </p:blipFill>
        <p:spPr bwMode="auto">
          <a:xfrm>
            <a:off x="7666421" y="6591328"/>
            <a:ext cx="184150" cy="184150"/>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pic>
      <p:cxnSp>
        <p:nvCxnSpPr>
          <p:cNvPr id="19" name="Straight Connector 18">
            <a:extLst>
              <a:ext uri="{FF2B5EF4-FFF2-40B4-BE49-F238E27FC236}">
                <a16:creationId xmlns:a16="http://schemas.microsoft.com/office/drawing/2014/main" id="{08E33A6D-3728-007A-DA95-E5C6230E103D}"/>
              </a:ext>
            </a:extLst>
          </p:cNvPr>
          <p:cNvCxnSpPr/>
          <p:nvPr/>
        </p:nvCxnSpPr>
        <p:spPr>
          <a:xfrm>
            <a:off x="2528454" y="6643306"/>
            <a:ext cx="2160000" cy="0"/>
          </a:xfrm>
          <a:prstGeom prst="line">
            <a:avLst/>
          </a:prstGeom>
          <a:ln w="28575">
            <a:solidFill>
              <a:srgbClr val="2E319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160760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2078</TotalTime>
  <Words>2202</Words>
  <Application>Microsoft Office PowerPoint</Application>
  <PresentationFormat>Widescreen</PresentationFormat>
  <Paragraphs>275</Paragraphs>
  <Slides>21</Slides>
  <Notes>10</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21</vt:i4>
      </vt:variant>
    </vt:vector>
  </HeadingPairs>
  <TitlesOfParts>
    <vt:vector size="34" baseType="lpstr">
      <vt:lpstr>SimSun</vt:lpstr>
      <vt:lpstr>Aptos</vt:lpstr>
      <vt:lpstr>Aptos Display</vt:lpstr>
      <vt:lpstr>Arial</vt:lpstr>
      <vt:lpstr>BankGothic Lt BT</vt:lpstr>
      <vt:lpstr>Calibri</vt:lpstr>
      <vt:lpstr>Cambria</vt:lpstr>
      <vt:lpstr>Garamond</vt:lpstr>
      <vt:lpstr>Stencil</vt:lpstr>
      <vt:lpstr>Times New Roman</vt:lpstr>
      <vt:lpstr>VAGRounded</vt:lpstr>
      <vt:lpstr>Wingdings</vt:lpstr>
      <vt:lpstr>Office Theme</vt:lpstr>
      <vt:lpstr>ESWASA   CERTIFICATION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Inhle Fakudze</dc:creator>
  <cp:lastModifiedBy>Inhle Fakudze</cp:lastModifiedBy>
  <cp:revision>14</cp:revision>
  <dcterms:created xsi:type="dcterms:W3CDTF">2025-07-24T19:49:59Z</dcterms:created>
  <dcterms:modified xsi:type="dcterms:W3CDTF">2025-12-05T13:50:03Z</dcterms:modified>
</cp:coreProperties>
</file>