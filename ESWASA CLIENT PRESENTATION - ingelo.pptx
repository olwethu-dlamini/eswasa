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3" r:id="rId5"/>
    <p:sldId id="257" r:id="rId6"/>
    <p:sldId id="494" r:id="rId7"/>
    <p:sldId id="496" r:id="rId8"/>
    <p:sldId id="283" r:id="rId9"/>
    <p:sldId id="495" r:id="rId10"/>
    <p:sldId id="282" r:id="rId11"/>
    <p:sldId id="493" r:id="rId12"/>
    <p:sldId id="492" r:id="rId13"/>
    <p:sldId id="262" r:id="rId14"/>
    <p:sldId id="265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9F4F3"/>
    <a:srgbClr val="4987E6"/>
    <a:srgbClr val="EDF1F4"/>
    <a:srgbClr val="E3E8EC"/>
    <a:srgbClr val="38B6FF"/>
    <a:srgbClr val="004AAD"/>
    <a:srgbClr val="CDD7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1793AA-A534-45F8-A52E-D4977FB90348}" v="15" dt="2025-12-05T09:31:32.3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40" autoAdjust="0"/>
    <p:restoredTop sz="94660"/>
  </p:normalViewPr>
  <p:slideViewPr>
    <p:cSldViewPr snapToGrid="0">
      <p:cViewPr varScale="1">
        <p:scale>
          <a:sx n="78" d="100"/>
          <a:sy n="78" d="100"/>
        </p:scale>
        <p:origin x="67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E21F2B-CBD0-4F74-8E99-A1D5B95AB38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7085443-212E-49D0-846D-F74BD4CA6D46}">
      <dgm:prSet/>
      <dgm:spPr/>
      <dgm:t>
        <a:bodyPr/>
        <a:lstStyle/>
        <a:p>
          <a:r>
            <a:rPr lang="en-GB"/>
            <a:t>Scheme for local producers</a:t>
          </a:r>
          <a:endParaRPr lang="en-US"/>
        </a:p>
      </dgm:t>
    </dgm:pt>
    <dgm:pt modelId="{A6A985F9-23D1-4C63-BD04-356E1E792A25}" type="parTrans" cxnId="{FEF3969F-D4C7-43FA-9AFC-AAFC1180E3FD}">
      <dgm:prSet/>
      <dgm:spPr/>
      <dgm:t>
        <a:bodyPr/>
        <a:lstStyle/>
        <a:p>
          <a:endParaRPr lang="en-US"/>
        </a:p>
      </dgm:t>
    </dgm:pt>
    <dgm:pt modelId="{F9E51EF5-71D1-48D4-8544-5E222BD80B4E}" type="sibTrans" cxnId="{FEF3969F-D4C7-43FA-9AFC-AAFC1180E3FD}">
      <dgm:prSet/>
      <dgm:spPr/>
      <dgm:t>
        <a:bodyPr/>
        <a:lstStyle/>
        <a:p>
          <a:endParaRPr lang="en-US"/>
        </a:p>
      </dgm:t>
    </dgm:pt>
    <dgm:pt modelId="{324DBCB4-CBAD-4781-B2AB-2BC7316CCA36}">
      <dgm:prSet/>
      <dgm:spPr/>
      <dgm:t>
        <a:bodyPr/>
        <a:lstStyle/>
        <a:p>
          <a:r>
            <a:rPr lang="en-GB" dirty="0"/>
            <a:t>Launched by Ministry of Commerce Industry and Trade</a:t>
          </a:r>
          <a:endParaRPr lang="en-US" dirty="0"/>
        </a:p>
      </dgm:t>
    </dgm:pt>
    <dgm:pt modelId="{F7D2A11A-157E-42A6-B096-EFA7BBEB115A}" type="parTrans" cxnId="{524209F7-A5CD-436B-A915-B893229F3A64}">
      <dgm:prSet/>
      <dgm:spPr/>
      <dgm:t>
        <a:bodyPr/>
        <a:lstStyle/>
        <a:p>
          <a:endParaRPr lang="en-US"/>
        </a:p>
      </dgm:t>
    </dgm:pt>
    <dgm:pt modelId="{7B09ED40-7170-412D-9C91-4473316E6D24}" type="sibTrans" cxnId="{524209F7-A5CD-436B-A915-B893229F3A64}">
      <dgm:prSet/>
      <dgm:spPr/>
      <dgm:t>
        <a:bodyPr/>
        <a:lstStyle/>
        <a:p>
          <a:endParaRPr lang="en-US"/>
        </a:p>
      </dgm:t>
    </dgm:pt>
    <dgm:pt modelId="{2486DE82-9EFF-4250-A374-001D8E2147BC}">
      <dgm:prSet/>
      <dgm:spPr/>
      <dgm:t>
        <a:bodyPr/>
        <a:lstStyle/>
        <a:p>
          <a:r>
            <a:rPr lang="en-GB"/>
            <a:t>To assist MSMEs products to meet market quality and safety requirements</a:t>
          </a:r>
          <a:endParaRPr lang="en-US"/>
        </a:p>
      </dgm:t>
    </dgm:pt>
    <dgm:pt modelId="{4E74497B-4859-42BC-8192-1749577FCD13}" type="parTrans" cxnId="{74ACA17C-1078-4838-B11E-A9E10F5E6C0B}">
      <dgm:prSet/>
      <dgm:spPr/>
      <dgm:t>
        <a:bodyPr/>
        <a:lstStyle/>
        <a:p>
          <a:endParaRPr lang="en-US"/>
        </a:p>
      </dgm:t>
    </dgm:pt>
    <dgm:pt modelId="{6F216BF3-DA6F-42AC-9AB7-86CDE5A4EF25}" type="sibTrans" cxnId="{74ACA17C-1078-4838-B11E-A9E10F5E6C0B}">
      <dgm:prSet/>
      <dgm:spPr/>
      <dgm:t>
        <a:bodyPr/>
        <a:lstStyle/>
        <a:p>
          <a:endParaRPr lang="en-US"/>
        </a:p>
      </dgm:t>
    </dgm:pt>
    <dgm:pt modelId="{9E1BFCE9-788F-4B3A-95CF-E9329F6C7AB3}">
      <dgm:prSet/>
      <dgm:spPr/>
      <dgm:t>
        <a:bodyPr/>
        <a:lstStyle/>
        <a:p>
          <a:r>
            <a:rPr lang="en-GB"/>
            <a:t>To assist cottage producers to achieve certification for systems and products</a:t>
          </a:r>
          <a:endParaRPr lang="en-US" dirty="0"/>
        </a:p>
      </dgm:t>
    </dgm:pt>
    <dgm:pt modelId="{6BD2A4C8-DD59-4F18-9EAA-C780718EF412}" type="parTrans" cxnId="{BC7ACAAB-6416-4EF9-8FDF-D40472A4D793}">
      <dgm:prSet/>
      <dgm:spPr/>
      <dgm:t>
        <a:bodyPr/>
        <a:lstStyle/>
        <a:p>
          <a:endParaRPr lang="en-US"/>
        </a:p>
      </dgm:t>
    </dgm:pt>
    <dgm:pt modelId="{2E3BF3B5-218E-41A2-A3C9-95F545A48979}" type="sibTrans" cxnId="{BC7ACAAB-6416-4EF9-8FDF-D40472A4D793}">
      <dgm:prSet/>
      <dgm:spPr/>
      <dgm:t>
        <a:bodyPr/>
        <a:lstStyle/>
        <a:p>
          <a:endParaRPr lang="en-US"/>
        </a:p>
      </dgm:t>
    </dgm:pt>
    <dgm:pt modelId="{E63735F8-2AF3-4FFE-9996-9943BA2A4E72}" type="pres">
      <dgm:prSet presAssocID="{E3E21F2B-CBD0-4F74-8E99-A1D5B95AB389}" presName="linear" presStyleCnt="0">
        <dgm:presLayoutVars>
          <dgm:animLvl val="lvl"/>
          <dgm:resizeHandles val="exact"/>
        </dgm:presLayoutVars>
      </dgm:prSet>
      <dgm:spPr/>
    </dgm:pt>
    <dgm:pt modelId="{E5E281BE-6A4B-42C4-8058-A13096CDE1CF}" type="pres">
      <dgm:prSet presAssocID="{17085443-212E-49D0-846D-F74BD4CA6D4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66F63CA-7547-4668-B45D-7EB9697F7591}" type="pres">
      <dgm:prSet presAssocID="{F9E51EF5-71D1-48D4-8544-5E222BD80B4E}" presName="spacer" presStyleCnt="0"/>
      <dgm:spPr/>
    </dgm:pt>
    <dgm:pt modelId="{0F94993A-AE92-4AA4-9A5C-2222EEEEC936}" type="pres">
      <dgm:prSet presAssocID="{324DBCB4-CBAD-4781-B2AB-2BC7316CCA3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B7BA0E7-3A62-4F1B-8609-B35A5893E604}" type="pres">
      <dgm:prSet presAssocID="{7B09ED40-7170-412D-9C91-4473316E6D24}" presName="spacer" presStyleCnt="0"/>
      <dgm:spPr/>
    </dgm:pt>
    <dgm:pt modelId="{FAAA33EF-3C80-4544-B988-A39A25076CEC}" type="pres">
      <dgm:prSet presAssocID="{2486DE82-9EFF-4250-A374-001D8E2147B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675FB78-B6AE-43E3-91D5-A127D82380DA}" type="pres">
      <dgm:prSet presAssocID="{6F216BF3-DA6F-42AC-9AB7-86CDE5A4EF25}" presName="spacer" presStyleCnt="0"/>
      <dgm:spPr/>
    </dgm:pt>
    <dgm:pt modelId="{9756B400-51EA-4A73-9A90-9500B3C2F430}" type="pres">
      <dgm:prSet presAssocID="{9E1BFCE9-788F-4B3A-95CF-E9329F6C7AB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E570405-318C-4784-AFE1-C651617B7176}" type="presOf" srcId="{324DBCB4-CBAD-4781-B2AB-2BC7316CCA36}" destId="{0F94993A-AE92-4AA4-9A5C-2222EEEEC936}" srcOrd="0" destOrd="0" presId="urn:microsoft.com/office/officeart/2005/8/layout/vList2"/>
    <dgm:cxn modelId="{D397113A-7DB4-4FC0-BCAF-49B9DF35A55D}" type="presOf" srcId="{E3E21F2B-CBD0-4F74-8E99-A1D5B95AB389}" destId="{E63735F8-2AF3-4FFE-9996-9943BA2A4E72}" srcOrd="0" destOrd="0" presId="urn:microsoft.com/office/officeart/2005/8/layout/vList2"/>
    <dgm:cxn modelId="{74ACA17C-1078-4838-B11E-A9E10F5E6C0B}" srcId="{E3E21F2B-CBD0-4F74-8E99-A1D5B95AB389}" destId="{2486DE82-9EFF-4250-A374-001D8E2147BC}" srcOrd="2" destOrd="0" parTransId="{4E74497B-4859-42BC-8192-1749577FCD13}" sibTransId="{6F216BF3-DA6F-42AC-9AB7-86CDE5A4EF25}"/>
    <dgm:cxn modelId="{65CC9B85-9867-4406-9A28-E35D27E7797C}" type="presOf" srcId="{2486DE82-9EFF-4250-A374-001D8E2147BC}" destId="{FAAA33EF-3C80-4544-B988-A39A25076CEC}" srcOrd="0" destOrd="0" presId="urn:microsoft.com/office/officeart/2005/8/layout/vList2"/>
    <dgm:cxn modelId="{EB964896-709F-46BE-92A7-37F27ED63AEE}" type="presOf" srcId="{17085443-212E-49D0-846D-F74BD4CA6D46}" destId="{E5E281BE-6A4B-42C4-8058-A13096CDE1CF}" srcOrd="0" destOrd="0" presId="urn:microsoft.com/office/officeart/2005/8/layout/vList2"/>
    <dgm:cxn modelId="{FEF3969F-D4C7-43FA-9AFC-AAFC1180E3FD}" srcId="{E3E21F2B-CBD0-4F74-8E99-A1D5B95AB389}" destId="{17085443-212E-49D0-846D-F74BD4CA6D46}" srcOrd="0" destOrd="0" parTransId="{A6A985F9-23D1-4C63-BD04-356E1E792A25}" sibTransId="{F9E51EF5-71D1-48D4-8544-5E222BD80B4E}"/>
    <dgm:cxn modelId="{BC7ACAAB-6416-4EF9-8FDF-D40472A4D793}" srcId="{E3E21F2B-CBD0-4F74-8E99-A1D5B95AB389}" destId="{9E1BFCE9-788F-4B3A-95CF-E9329F6C7AB3}" srcOrd="3" destOrd="0" parTransId="{6BD2A4C8-DD59-4F18-9EAA-C780718EF412}" sibTransId="{2E3BF3B5-218E-41A2-A3C9-95F545A48979}"/>
    <dgm:cxn modelId="{A37774E1-4891-4755-8F6A-718F9F18F49F}" type="presOf" srcId="{9E1BFCE9-788F-4B3A-95CF-E9329F6C7AB3}" destId="{9756B400-51EA-4A73-9A90-9500B3C2F430}" srcOrd="0" destOrd="0" presId="urn:microsoft.com/office/officeart/2005/8/layout/vList2"/>
    <dgm:cxn modelId="{524209F7-A5CD-436B-A915-B893229F3A64}" srcId="{E3E21F2B-CBD0-4F74-8E99-A1D5B95AB389}" destId="{324DBCB4-CBAD-4781-B2AB-2BC7316CCA36}" srcOrd="1" destOrd="0" parTransId="{F7D2A11A-157E-42A6-B096-EFA7BBEB115A}" sibTransId="{7B09ED40-7170-412D-9C91-4473316E6D24}"/>
    <dgm:cxn modelId="{889E96FD-557A-4B06-A309-FC2E3CAB7856}" type="presParOf" srcId="{E63735F8-2AF3-4FFE-9996-9943BA2A4E72}" destId="{E5E281BE-6A4B-42C4-8058-A13096CDE1CF}" srcOrd="0" destOrd="0" presId="urn:microsoft.com/office/officeart/2005/8/layout/vList2"/>
    <dgm:cxn modelId="{0E0EBEFD-6515-4E37-BAD2-DA870C09976A}" type="presParOf" srcId="{E63735F8-2AF3-4FFE-9996-9943BA2A4E72}" destId="{D66F63CA-7547-4668-B45D-7EB9697F7591}" srcOrd="1" destOrd="0" presId="urn:microsoft.com/office/officeart/2005/8/layout/vList2"/>
    <dgm:cxn modelId="{36DF7946-77A0-49A8-8EEE-F5E42EF014F6}" type="presParOf" srcId="{E63735F8-2AF3-4FFE-9996-9943BA2A4E72}" destId="{0F94993A-AE92-4AA4-9A5C-2222EEEEC936}" srcOrd="2" destOrd="0" presId="urn:microsoft.com/office/officeart/2005/8/layout/vList2"/>
    <dgm:cxn modelId="{F6ECCE1B-11F7-4365-B060-16C1CC1020E2}" type="presParOf" srcId="{E63735F8-2AF3-4FFE-9996-9943BA2A4E72}" destId="{1B7BA0E7-3A62-4F1B-8609-B35A5893E604}" srcOrd="3" destOrd="0" presId="urn:microsoft.com/office/officeart/2005/8/layout/vList2"/>
    <dgm:cxn modelId="{A43E1CF2-1FBA-4AEE-9383-DBF59847B7B0}" type="presParOf" srcId="{E63735F8-2AF3-4FFE-9996-9943BA2A4E72}" destId="{FAAA33EF-3C80-4544-B988-A39A25076CEC}" srcOrd="4" destOrd="0" presId="urn:microsoft.com/office/officeart/2005/8/layout/vList2"/>
    <dgm:cxn modelId="{55361196-F7EF-4CCE-8963-4FFBB3EC9160}" type="presParOf" srcId="{E63735F8-2AF3-4FFE-9996-9943BA2A4E72}" destId="{7675FB78-B6AE-43E3-91D5-A127D82380DA}" srcOrd="5" destOrd="0" presId="urn:microsoft.com/office/officeart/2005/8/layout/vList2"/>
    <dgm:cxn modelId="{574FE2C7-F8F8-4D64-96EB-0B2098F6C4E5}" type="presParOf" srcId="{E63735F8-2AF3-4FFE-9996-9943BA2A4E72}" destId="{9756B400-51EA-4A73-9A90-9500B3C2F43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E281BE-6A4B-42C4-8058-A13096CDE1CF}">
      <dsp:nvSpPr>
        <dsp:cNvPr id="0" name=""/>
        <dsp:cNvSpPr/>
      </dsp:nvSpPr>
      <dsp:spPr>
        <a:xfrm>
          <a:off x="0" y="14494"/>
          <a:ext cx="7102096" cy="1078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Scheme for local producers</a:t>
          </a:r>
          <a:endParaRPr lang="en-US" sz="2700" kern="1200"/>
        </a:p>
      </dsp:txBody>
      <dsp:txXfrm>
        <a:off x="52624" y="67118"/>
        <a:ext cx="6996848" cy="972760"/>
      </dsp:txXfrm>
    </dsp:sp>
    <dsp:sp modelId="{0F94993A-AE92-4AA4-9A5C-2222EEEEC936}">
      <dsp:nvSpPr>
        <dsp:cNvPr id="0" name=""/>
        <dsp:cNvSpPr/>
      </dsp:nvSpPr>
      <dsp:spPr>
        <a:xfrm>
          <a:off x="0" y="1170263"/>
          <a:ext cx="7102096" cy="1078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Launched by Ministry of Commerce Industry and Trade</a:t>
          </a:r>
          <a:endParaRPr lang="en-US" sz="2700" kern="1200" dirty="0"/>
        </a:p>
      </dsp:txBody>
      <dsp:txXfrm>
        <a:off x="52624" y="1222887"/>
        <a:ext cx="6996848" cy="972760"/>
      </dsp:txXfrm>
    </dsp:sp>
    <dsp:sp modelId="{FAAA33EF-3C80-4544-B988-A39A25076CEC}">
      <dsp:nvSpPr>
        <dsp:cNvPr id="0" name=""/>
        <dsp:cNvSpPr/>
      </dsp:nvSpPr>
      <dsp:spPr>
        <a:xfrm>
          <a:off x="0" y="2326032"/>
          <a:ext cx="7102096" cy="1078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To assist MSMEs products to meet market quality and safety requirements</a:t>
          </a:r>
          <a:endParaRPr lang="en-US" sz="2700" kern="1200"/>
        </a:p>
      </dsp:txBody>
      <dsp:txXfrm>
        <a:off x="52624" y="2378656"/>
        <a:ext cx="6996848" cy="972760"/>
      </dsp:txXfrm>
    </dsp:sp>
    <dsp:sp modelId="{9756B400-51EA-4A73-9A90-9500B3C2F430}">
      <dsp:nvSpPr>
        <dsp:cNvPr id="0" name=""/>
        <dsp:cNvSpPr/>
      </dsp:nvSpPr>
      <dsp:spPr>
        <a:xfrm>
          <a:off x="0" y="3481801"/>
          <a:ext cx="7102096" cy="1078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To assist cottage producers to achieve certification for systems and products</a:t>
          </a:r>
          <a:endParaRPr lang="en-US" sz="2700" kern="1200" dirty="0"/>
        </a:p>
      </dsp:txBody>
      <dsp:txXfrm>
        <a:off x="52624" y="3534425"/>
        <a:ext cx="6996848" cy="9727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B156DC-9D46-4E7B-BE0A-55939BE357E8}" type="datetimeFigureOut">
              <a:rPr lang="en-ZA" smtClean="0"/>
              <a:t>2025/12/05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648CE2-FB15-439F-B1F3-21AABB48477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56240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48CE2-FB15-439F-B1F3-21AABB48477B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74449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48CE2-FB15-439F-B1F3-21AABB48477B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1514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48CE2-FB15-439F-B1F3-21AABB48477B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83149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48CE2-FB15-439F-B1F3-21AABB48477B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7386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48CE2-FB15-439F-B1F3-21AABB48477B}" type="slidenum">
              <a:rPr lang="en-ZA" smtClean="0"/>
              <a:t>15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60777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338FC-B6D3-AE39-39BC-8B0465220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E6FCE-AEAD-F4ED-DC95-E138908593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BC474-3339-3D42-1B0F-7D0F76491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82798-EC96-41BA-9648-F3D0EE504AA5}" type="datetimeFigureOut">
              <a:rPr lang="en-ZA" smtClean="0"/>
              <a:t>2025/12/05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0C775-0058-DE7A-BAFA-E9413C519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BEE2B-FFF7-A563-650C-6814326AB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555-CEBB-41DB-8BE7-83CDF21389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7638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D0E5-47E4-B7D5-D539-B073A961F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7D2B8-375A-E9EC-E995-909D72356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91248-74A0-D18E-6B84-692321B6C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82798-EC96-41BA-9648-F3D0EE504AA5}" type="datetimeFigureOut">
              <a:rPr lang="en-ZA" smtClean="0"/>
              <a:t>2025/12/05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10C03-6C01-6BD4-35D9-83A3E4897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6351F-F01F-6EBB-14D9-6B8B19D46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555-CEBB-41DB-8BE7-83CDF21389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77789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CD5EB-8D63-719B-1636-F17ED2234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CF65E-9C04-DD1A-C90D-0C5EC7554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BD106-0880-AC3C-DED8-97D53057F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82798-EC96-41BA-9648-F3D0EE504AA5}" type="datetimeFigureOut">
              <a:rPr lang="en-ZA" smtClean="0"/>
              <a:t>2025/12/05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AEAE9-0148-E1CC-9430-F114E2E4B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AAC14-1DAE-D639-35FE-6CB86683B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555-CEBB-41DB-8BE7-83CDF21389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145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A73F2-5E9F-453D-D05F-693A8E4D7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949C0-812B-513B-3CEB-3E113F8601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8456E5-1014-0E2A-56CE-C1DB6A20D0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887F0-568E-7003-4EDA-260601600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82798-EC96-41BA-9648-F3D0EE504AA5}" type="datetimeFigureOut">
              <a:rPr lang="en-ZA" smtClean="0"/>
              <a:t>2025/12/05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CCBB0-5768-66FB-0BC2-3A3D814F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1F217-EFE4-F8A9-540F-DD7213170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555-CEBB-41DB-8BE7-83CDF21389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97131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2AC0-F955-5E11-DC33-72BCED234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FC978-C0CC-8ED3-8CD5-BA64E844A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98869-EAD9-2F42-3568-438C9DFF6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F7EDE9-6111-0939-0436-092653AFC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DC55C5-3ABF-8E75-3DFC-59D897A51A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8CA377-D3F4-6DE7-D201-4A07898C4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82798-EC96-41BA-9648-F3D0EE504AA5}" type="datetimeFigureOut">
              <a:rPr lang="en-ZA" smtClean="0"/>
              <a:t>2025/12/05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81C55-E90D-A0EB-D011-189302025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4B0644-82A8-DC63-1A3D-CED4269AF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555-CEBB-41DB-8BE7-83CDF21389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720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4419C-178C-5C29-5AD2-C1B284F88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09A582-3605-3D5C-223F-99A061F1C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82798-EC96-41BA-9648-F3D0EE504AA5}" type="datetimeFigureOut">
              <a:rPr lang="en-ZA" smtClean="0"/>
              <a:t>2025/12/05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A5702-E797-1ECB-6B0F-BFB585189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6A333B-B508-73D7-AA7F-BCE08A1D5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555-CEBB-41DB-8BE7-83CDF21389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33645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3FCAEA-C373-FA14-C192-8B844D8FC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82798-EC96-41BA-9648-F3D0EE504AA5}" type="datetimeFigureOut">
              <a:rPr lang="en-ZA" smtClean="0"/>
              <a:t>2025/12/05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E41C55-7C50-08B7-B312-6E0406104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FDA58-8DB9-A1EA-DD0A-F014DBBDA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555-CEBB-41DB-8BE7-83CDF21389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4728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8AC33-6BA7-7B22-4F5B-C3B701D07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C679A-87AB-F931-B5EA-F255BC09C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67E96-58B6-28C6-42B1-666E7A10E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765E1-0EE6-00D7-A4DC-6EEE0DA2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82798-EC96-41BA-9648-F3D0EE504AA5}" type="datetimeFigureOut">
              <a:rPr lang="en-ZA" smtClean="0"/>
              <a:t>2025/12/05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D80D7-F8C3-F755-F3F1-8ABA00E3F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B9B82-C4B1-69AE-A32F-472487659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555-CEBB-41DB-8BE7-83CDF21389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50855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33AD5-6313-199C-6D85-5BF88DF4C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8C924A-C41A-BD27-C06B-E257B47F71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B4A25C-39DB-09A3-9376-41C0E3F4A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ECC960-3607-0BC6-FAAD-4C1FADE2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82798-EC96-41BA-9648-F3D0EE504AA5}" type="datetimeFigureOut">
              <a:rPr lang="en-ZA" smtClean="0"/>
              <a:t>2025/12/05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786819-DF72-413B-152E-EB171311F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F5D2D-A6DB-5C4C-01DE-2C73207D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555-CEBB-41DB-8BE7-83CDF21389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58226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8FFAD-DA23-6AB0-EF4B-708B6F3B4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FFF54-4248-2BC2-5B21-662FD20FD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7C141-9CDD-270C-2FA7-A24E74BC5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82798-EC96-41BA-9648-F3D0EE504AA5}" type="datetimeFigureOut">
              <a:rPr lang="en-ZA" smtClean="0"/>
              <a:t>2025/12/05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768DF-6AC2-6137-982A-35B444390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6D054-7B93-FFC7-D40F-8BDE062D3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555-CEBB-41DB-8BE7-83CDF21389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04356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66FDB6-9877-524B-259F-513F84FC73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2A52CC-CA5B-5649-9C44-3E6ACC62F5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3CB6C-9EC0-24B1-D571-333E70FBE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82798-EC96-41BA-9648-F3D0EE504AA5}" type="datetimeFigureOut">
              <a:rPr lang="en-ZA" smtClean="0"/>
              <a:t>2025/12/05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6EE9B-6E95-7BDC-30F5-D7BBBB4B0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6CF27-B3E3-D107-5943-F7ECD0815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555-CEBB-41DB-8BE7-83CDF21389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57938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18CA21-68B5-8ED7-0A3F-F311550B1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7CE52-B5E1-1F3F-7DA7-CC9C7FB7C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995AE-50DC-0858-463A-6468C97E80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182798-EC96-41BA-9648-F3D0EE504AA5}" type="datetimeFigureOut">
              <a:rPr lang="en-ZA" smtClean="0"/>
              <a:t>2025/12/05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43248-C893-FA45-0051-851EF52549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16613-B994-FCD0-2EAF-FE2D005970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9EF555-CEBB-41DB-8BE7-83CDF21389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562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6.png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12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microsoft.com/office/2007/relationships/hdphoto" Target="../media/hdphoto1.wdp"/><Relationship Id="rId5" Type="http://schemas.openxmlformats.org/officeDocument/2006/relationships/image" Target="../media/image10.gif"/><Relationship Id="rId15" Type="http://schemas.openxmlformats.org/officeDocument/2006/relationships/image" Target="../media/image4.jpe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Relationship Id="rId1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2.png"/><Relationship Id="rId7" Type="http://schemas.openxmlformats.org/officeDocument/2006/relationships/diagramLayout" Target="../diagrams/layout1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11" Type="http://schemas.openxmlformats.org/officeDocument/2006/relationships/image" Target="../media/image19.png"/><Relationship Id="rId5" Type="http://schemas.openxmlformats.org/officeDocument/2006/relationships/image" Target="../media/image4.jpeg"/><Relationship Id="rId10" Type="http://schemas.microsoft.com/office/2007/relationships/diagramDrawing" Target="../diagrams/drawing1.xml"/><Relationship Id="rId4" Type="http://schemas.openxmlformats.org/officeDocument/2006/relationships/image" Target="../media/image3.jpeg"/><Relationship Id="rId9" Type="http://schemas.openxmlformats.org/officeDocument/2006/relationships/diagramColors" Target="../diagrams/colors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mailto:Sgama@swasa.co.sz" TargetMode="External"/><Relationship Id="rId3" Type="http://schemas.openxmlformats.org/officeDocument/2006/relationships/image" Target="../media/image18.png"/><Relationship Id="rId7" Type="http://schemas.openxmlformats.org/officeDocument/2006/relationships/hyperlink" Target="http://www.swasa.co.sz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mailto:sgama@swasa.co.sz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swasa.co.sz/" TargetMode="Externa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2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4.jpeg"/><Relationship Id="rId7" Type="http://schemas.openxmlformats.org/officeDocument/2006/relationships/image" Target="../media/image28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Relationship Id="rId9" Type="http://schemas.openxmlformats.org/officeDocument/2006/relationships/image" Target="../media/image3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3.jpeg"/><Relationship Id="rId3" Type="http://schemas.openxmlformats.org/officeDocument/2006/relationships/image" Target="../media/image2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jp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49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jpeg"/><Relationship Id="rId11" Type="http://schemas.openxmlformats.org/officeDocument/2006/relationships/image" Target="../media/image4.jpeg"/><Relationship Id="rId5" Type="http://schemas.openxmlformats.org/officeDocument/2006/relationships/image" Target="../media/image47.jpeg"/><Relationship Id="rId10" Type="http://schemas.openxmlformats.org/officeDocument/2006/relationships/image" Target="../media/image3.jpeg"/><Relationship Id="rId4" Type="http://schemas.openxmlformats.org/officeDocument/2006/relationships/image" Target="../media/image46.jpeg"/><Relationship Id="rId9" Type="http://schemas.openxmlformats.org/officeDocument/2006/relationships/image" Target="../media/image5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5EAF0D3-056A-511A-AC82-9B3A5FC55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13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5AB379B-B759-E82D-DFA7-2D2342B2C128}"/>
              </a:ext>
            </a:extLst>
          </p:cNvPr>
          <p:cNvSpPr/>
          <p:nvPr/>
        </p:nvSpPr>
        <p:spPr>
          <a:xfrm>
            <a:off x="491613" y="403123"/>
            <a:ext cx="4876800" cy="4001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35711F-A4E9-B036-1846-7E6D1597FA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640" y="2873155"/>
            <a:ext cx="6966154" cy="2573195"/>
          </a:xfrm>
        </p:spPr>
        <p:txBody>
          <a:bodyPr>
            <a:noAutofit/>
          </a:bodyPr>
          <a:lstStyle/>
          <a:p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ESWASA</a:t>
            </a:r>
            <a:endParaRPr lang="en-ZA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084166-44D8-1D8B-45D3-D48A81E68E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9677" y="5810333"/>
            <a:ext cx="4185880" cy="427718"/>
          </a:xfrm>
        </p:spPr>
        <p:txBody>
          <a:bodyPr>
            <a:noAutofit/>
          </a:bodyPr>
          <a:lstStyle/>
          <a:p>
            <a:r>
              <a:rPr lang="en-GB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MSME CERTIFICATION</a:t>
            </a:r>
            <a:endParaRPr lang="en-ZA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739CF8-2763-5554-734A-A68CA21EA3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38"/>
            <a:ext cx="3600000" cy="3600000"/>
          </a:xfrm>
          <a:prstGeom prst="rect">
            <a:avLst/>
          </a:prstGeom>
        </p:spPr>
      </p:pic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B1A311E9-85B3-C403-725E-F194B23BDF1E}"/>
              </a:ext>
            </a:extLst>
          </p:cNvPr>
          <p:cNvSpPr/>
          <p:nvPr/>
        </p:nvSpPr>
        <p:spPr>
          <a:xfrm>
            <a:off x="1238865" y="5382734"/>
            <a:ext cx="3962400" cy="58994"/>
          </a:xfrm>
          <a:prstGeom prst="homePlate">
            <a:avLst/>
          </a:prstGeom>
          <a:solidFill>
            <a:srgbClr val="CDD7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CAE3EAAF-D964-E49B-C635-70082D924C38}"/>
              </a:ext>
            </a:extLst>
          </p:cNvPr>
          <p:cNvSpPr/>
          <p:nvPr/>
        </p:nvSpPr>
        <p:spPr>
          <a:xfrm>
            <a:off x="698091" y="5574070"/>
            <a:ext cx="3962400" cy="58994"/>
          </a:xfrm>
          <a:prstGeom prst="homePlate">
            <a:avLst/>
          </a:prstGeom>
          <a:solidFill>
            <a:srgbClr val="4987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F230A73E-2EB6-8AB9-DF02-6DBA28C0FB7C}"/>
              </a:ext>
            </a:extLst>
          </p:cNvPr>
          <p:cNvSpPr/>
          <p:nvPr/>
        </p:nvSpPr>
        <p:spPr>
          <a:xfrm>
            <a:off x="2482645" y="5485187"/>
            <a:ext cx="3962400" cy="58994"/>
          </a:xfrm>
          <a:prstGeom prst="homePlate">
            <a:avLst/>
          </a:prstGeom>
          <a:solidFill>
            <a:srgbClr val="004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BD8A74CF-E618-022C-6415-88EC42567432}"/>
              </a:ext>
            </a:extLst>
          </p:cNvPr>
          <p:cNvSpPr/>
          <p:nvPr/>
        </p:nvSpPr>
        <p:spPr>
          <a:xfrm>
            <a:off x="1700980" y="5691206"/>
            <a:ext cx="3962400" cy="58994"/>
          </a:xfrm>
          <a:prstGeom prst="homePlate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A67F1A86-33C6-DD51-C19A-F5AD3A383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6541" y="6585679"/>
            <a:ext cx="2527722" cy="307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E3191"/>
                </a:solidFill>
                <a:effectLst/>
                <a:latin typeface="BankGothic Lt BT" panose="020B0607020203060204" pitchFamily="34" charset="0"/>
              </a:rPr>
              <a:t>#ImprovingTheWorldWeLiveIn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5" descr="social-media-logos-facebook-twitter-instagram-youtube-flickr-vector-pg-transparent-background-high-resolution-linkedin-googleplus-210299554">
            <a:extLst>
              <a:ext uri="{FF2B5EF4-FFF2-40B4-BE49-F238E27FC236}">
                <a16:creationId xmlns:a16="http://schemas.microsoft.com/office/drawing/2014/main" id="{4B0CC50D-CC5F-C11B-0450-F638783FA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78" t="8835" r="39842" b="71758"/>
          <a:stretch>
            <a:fillRect/>
          </a:stretch>
        </p:blipFill>
        <p:spPr bwMode="auto">
          <a:xfrm>
            <a:off x="6796574" y="6658245"/>
            <a:ext cx="1778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pic>
        <p:nvPicPr>
          <p:cNvPr id="6" name="Picture 6" descr="social-media-logos-facebook-twitter-instagram-youtube-flickr-vector-pg-transparent-background-high-resolution-linkedin-googleplus-210299554">
            <a:extLst>
              <a:ext uri="{FF2B5EF4-FFF2-40B4-BE49-F238E27FC236}">
                <a16:creationId xmlns:a16="http://schemas.microsoft.com/office/drawing/2014/main" id="{98547734-EFA8-3F92-AABC-2DA8E9545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4" t="34485" r="4137" b="46553"/>
          <a:stretch>
            <a:fillRect/>
          </a:stretch>
        </p:blipFill>
        <p:spPr bwMode="auto">
          <a:xfrm>
            <a:off x="7037644" y="6658245"/>
            <a:ext cx="18415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16BC14-CBB1-8222-A91D-FB3EC1F21DFF}"/>
              </a:ext>
            </a:extLst>
          </p:cNvPr>
          <p:cNvCxnSpPr/>
          <p:nvPr/>
        </p:nvCxnSpPr>
        <p:spPr>
          <a:xfrm>
            <a:off x="1899677" y="6710223"/>
            <a:ext cx="2160000" cy="0"/>
          </a:xfrm>
          <a:prstGeom prst="line">
            <a:avLst/>
          </a:prstGeom>
          <a:ln w="28575">
            <a:solidFill>
              <a:srgbClr val="2E31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BA4696D5-5F58-44B6-0D72-13EC8400594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0202" y="291329"/>
            <a:ext cx="3071596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988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4D18CA-4F94-23B5-070B-81693228C5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4304C2-BADD-62EE-C875-2A5346453EF4}"/>
              </a:ext>
            </a:extLst>
          </p:cNvPr>
          <p:cNvSpPr/>
          <p:nvPr/>
        </p:nvSpPr>
        <p:spPr>
          <a:xfrm>
            <a:off x="471948" y="415558"/>
            <a:ext cx="7737987" cy="5270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3D6D25-6582-86D2-3861-F7DCE6A77F81}"/>
              </a:ext>
            </a:extLst>
          </p:cNvPr>
          <p:cNvSpPr/>
          <p:nvPr/>
        </p:nvSpPr>
        <p:spPr>
          <a:xfrm>
            <a:off x="963561" y="5673213"/>
            <a:ext cx="2074607" cy="324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7C0B03-1771-3E65-5EF5-7BCE88B0A8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38"/>
            <a:ext cx="1080000" cy="1080000"/>
          </a:xfrm>
          <a:prstGeom prst="rect">
            <a:avLst/>
          </a:prstGeom>
        </p:spPr>
      </p:pic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3BDE3088-E942-A43B-C67B-C75A4F0CB099}"/>
              </a:ext>
            </a:extLst>
          </p:cNvPr>
          <p:cNvSpPr txBox="1">
            <a:spLocks/>
          </p:cNvSpPr>
          <p:nvPr/>
        </p:nvSpPr>
        <p:spPr>
          <a:xfrm>
            <a:off x="23748" y="2329549"/>
            <a:ext cx="4891864" cy="3355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2925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Eswatini Standards Authority is the National Standards Body (NSB) of Eswatini</a:t>
            </a:r>
          </a:p>
          <a:p>
            <a:pPr marL="542925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A Government Parastatal under the Ministry of Commerce, Industry and Trade (MCIT)</a:t>
            </a:r>
          </a:p>
          <a:p>
            <a:pPr marL="542925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Established through the Standards &amp; Quality Act (10) of 2003, reviewed in 2023</a:t>
            </a:r>
          </a:p>
          <a:p>
            <a:pPr marL="542925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Started operations in 2007</a:t>
            </a:r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  <p:sp>
        <p:nvSpPr>
          <p:cNvPr id="17" name="Teardrop 16">
            <a:extLst>
              <a:ext uri="{FF2B5EF4-FFF2-40B4-BE49-F238E27FC236}">
                <a16:creationId xmlns:a16="http://schemas.microsoft.com/office/drawing/2014/main" id="{A04C9268-5B68-155E-FC6F-39F35E4D99BD}"/>
              </a:ext>
            </a:extLst>
          </p:cNvPr>
          <p:cNvSpPr/>
          <p:nvPr/>
        </p:nvSpPr>
        <p:spPr>
          <a:xfrm flipH="1">
            <a:off x="5075089" y="1353451"/>
            <a:ext cx="4716000" cy="3960000"/>
          </a:xfrm>
          <a:prstGeom prst="teardrop">
            <a:avLst/>
          </a:prstGeom>
          <a:noFill/>
          <a:ln w="28575">
            <a:solidFill>
              <a:srgbClr val="2E31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4B38BB30-97DA-19FC-7BA5-BE4109D84D02}"/>
              </a:ext>
            </a:extLst>
          </p:cNvPr>
          <p:cNvSpPr txBox="1">
            <a:spLocks/>
          </p:cNvSpPr>
          <p:nvPr/>
        </p:nvSpPr>
        <p:spPr>
          <a:xfrm>
            <a:off x="5170990" y="1614366"/>
            <a:ext cx="4205986" cy="14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ZA" b="1" dirty="0">
                <a:latin typeface="Garamond" panose="02020404030301010803" pitchFamily="18" charset="0"/>
              </a:rPr>
              <a:t>Vision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dirty="0"/>
              <a:t>The outstanding service provider in quality standards for competitiveness.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ZA" sz="1800" b="1" dirty="0">
              <a:latin typeface="BankGothic Lt BT" panose="020B060702020306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A19812-A88A-CD13-E288-3AC5E1A0FE21}"/>
              </a:ext>
            </a:extLst>
          </p:cNvPr>
          <p:cNvSpPr/>
          <p:nvPr/>
        </p:nvSpPr>
        <p:spPr>
          <a:xfrm>
            <a:off x="5314714" y="3050603"/>
            <a:ext cx="3918537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2800" b="1" dirty="0">
                <a:latin typeface="Garamond" panose="02020404030301010803" pitchFamily="18" charset="0"/>
              </a:rPr>
              <a:t>Mission</a:t>
            </a:r>
          </a:p>
          <a:p>
            <a:pPr algn="ctr"/>
            <a:r>
              <a:rPr lang="en-US" sz="1600" dirty="0"/>
              <a:t>We provide internationally recognized quality standards and conformity assessment services to improve business performance and promote trade.</a:t>
            </a:r>
          </a:p>
          <a:p>
            <a:pPr algn="ctr"/>
            <a:endParaRPr lang="en-ZA" b="1" dirty="0">
              <a:latin typeface="BankGothic Lt BT" panose="020B060702020306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BFC180-F0ED-0107-594C-7036C90EB7D2}"/>
              </a:ext>
            </a:extLst>
          </p:cNvPr>
          <p:cNvSpPr/>
          <p:nvPr/>
        </p:nvSpPr>
        <p:spPr>
          <a:xfrm>
            <a:off x="312471" y="1230771"/>
            <a:ext cx="1758954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Garamond" panose="02020404030301010803" pitchFamily="18" charset="0"/>
              </a:rPr>
              <a:t>About Us</a:t>
            </a:r>
            <a:endParaRPr lang="en-ZA" sz="2800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979E83A8-9B54-B992-3897-DA07016D5821}"/>
              </a:ext>
            </a:extLst>
          </p:cNvPr>
          <p:cNvSpPr/>
          <p:nvPr/>
        </p:nvSpPr>
        <p:spPr>
          <a:xfrm>
            <a:off x="471948" y="1980442"/>
            <a:ext cx="1152000" cy="58994"/>
          </a:xfrm>
          <a:prstGeom prst="homePlate">
            <a:avLst/>
          </a:prstGeom>
          <a:solidFill>
            <a:srgbClr val="004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D8B22364-42D5-BC1F-5C6C-7AEC3F12A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8011" y="6478555"/>
            <a:ext cx="2527722" cy="307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E3191"/>
                </a:solidFill>
                <a:effectLst/>
                <a:latin typeface="BankGothic Lt BT" panose="020B0607020203060204" pitchFamily="34" charset="0"/>
              </a:rPr>
              <a:t>#ImprovingTheWorldWeLiveIn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5" descr="social-media-logos-facebook-twitter-instagram-youtube-flickr-vector-pg-transparent-background-high-resolution-linkedin-googleplus-210299554">
            <a:extLst>
              <a:ext uri="{FF2B5EF4-FFF2-40B4-BE49-F238E27FC236}">
                <a16:creationId xmlns:a16="http://schemas.microsoft.com/office/drawing/2014/main" id="{F7C29CD8-9F8C-D271-A4CF-7BE951673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78" t="8835" r="39842" b="71758"/>
          <a:stretch>
            <a:fillRect/>
          </a:stretch>
        </p:blipFill>
        <p:spPr bwMode="auto">
          <a:xfrm>
            <a:off x="7358044" y="6551121"/>
            <a:ext cx="1778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pic>
        <p:nvPicPr>
          <p:cNvPr id="4" name="Picture 6" descr="social-media-logos-facebook-twitter-instagram-youtube-flickr-vector-pg-transparent-background-high-resolution-linkedin-googleplus-210299554">
            <a:extLst>
              <a:ext uri="{FF2B5EF4-FFF2-40B4-BE49-F238E27FC236}">
                <a16:creationId xmlns:a16="http://schemas.microsoft.com/office/drawing/2014/main" id="{2963C186-C107-C19F-47C4-C7D3FBE85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4" t="34485" r="4137" b="46553"/>
          <a:stretch>
            <a:fillRect/>
          </a:stretch>
        </p:blipFill>
        <p:spPr bwMode="auto">
          <a:xfrm>
            <a:off x="7599114" y="6551121"/>
            <a:ext cx="18415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6798F0-A262-B2CC-BBA3-9E2FCB7D308B}"/>
              </a:ext>
            </a:extLst>
          </p:cNvPr>
          <p:cNvCxnSpPr/>
          <p:nvPr/>
        </p:nvCxnSpPr>
        <p:spPr>
          <a:xfrm>
            <a:off x="2461147" y="6603099"/>
            <a:ext cx="2160000" cy="0"/>
          </a:xfrm>
          <a:prstGeom prst="line">
            <a:avLst/>
          </a:prstGeom>
          <a:ln w="28575">
            <a:solidFill>
              <a:srgbClr val="2E31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39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6CA8C-6AD3-5776-C8E6-105BC8B3F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EB156F-E102-FE0A-D016-1D64EB34A0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23F8EC9-E2D6-62B3-A1D4-13B7C070B867}"/>
              </a:ext>
            </a:extLst>
          </p:cNvPr>
          <p:cNvSpPr/>
          <p:nvPr/>
        </p:nvSpPr>
        <p:spPr>
          <a:xfrm>
            <a:off x="471948" y="530942"/>
            <a:ext cx="7737987" cy="5270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CF5681-9321-7F4D-C13D-1429D2C7E405}"/>
              </a:ext>
            </a:extLst>
          </p:cNvPr>
          <p:cNvSpPr/>
          <p:nvPr/>
        </p:nvSpPr>
        <p:spPr>
          <a:xfrm>
            <a:off x="963561" y="5673213"/>
            <a:ext cx="2074607" cy="324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B82913-EE18-B6B4-CBD4-611BBD51A0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38"/>
            <a:ext cx="1080000" cy="1080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8ED09BD-0EC4-F8C5-E69F-0C8189E4E3DB}"/>
              </a:ext>
            </a:extLst>
          </p:cNvPr>
          <p:cNvSpPr/>
          <p:nvPr/>
        </p:nvSpPr>
        <p:spPr>
          <a:xfrm>
            <a:off x="386316" y="1098115"/>
            <a:ext cx="2841429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chemeClr val="tx1"/>
                </a:solidFill>
                <a:latin typeface="Garamond" panose="02020404030301010803" pitchFamily="18" charset="0"/>
              </a:rPr>
              <a:t>Our Core Values</a:t>
            </a:r>
            <a:endParaRPr lang="en-ZA" sz="2800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7B9743DC-77FF-735E-4CD5-CDB7E68A3725}"/>
              </a:ext>
            </a:extLst>
          </p:cNvPr>
          <p:cNvSpPr/>
          <p:nvPr/>
        </p:nvSpPr>
        <p:spPr>
          <a:xfrm>
            <a:off x="471948" y="1776462"/>
            <a:ext cx="2160000" cy="58994"/>
          </a:xfrm>
          <a:prstGeom prst="homePlate">
            <a:avLst/>
          </a:prstGeom>
          <a:solidFill>
            <a:srgbClr val="004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4DF2B8-A38F-DC1B-33F6-2535D162B5A8}"/>
              </a:ext>
            </a:extLst>
          </p:cNvPr>
          <p:cNvSpPr/>
          <p:nvPr/>
        </p:nvSpPr>
        <p:spPr>
          <a:xfrm>
            <a:off x="471948" y="2134237"/>
            <a:ext cx="8384925" cy="3701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>
                <a:solidFill>
                  <a:schemeClr val="tx1"/>
                </a:solidFill>
              </a:rPr>
              <a:t>Professionalism</a:t>
            </a:r>
          </a:p>
          <a:p>
            <a:r>
              <a:rPr lang="en-GB" sz="1600" dirty="0">
                <a:solidFill>
                  <a:schemeClr val="tx1"/>
                </a:solidFill>
              </a:rPr>
              <a:t>We conduct our business affairs reliably, competently and we take accountability for our actions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b="1" dirty="0">
                <a:solidFill>
                  <a:schemeClr val="tx1"/>
                </a:solidFill>
              </a:rPr>
              <a:t>Responsiveness</a:t>
            </a:r>
          </a:p>
          <a:p>
            <a:r>
              <a:rPr lang="en-GB" sz="1600" dirty="0">
                <a:solidFill>
                  <a:schemeClr val="tx1"/>
                </a:solidFill>
              </a:rPr>
              <a:t>We do it right on time and react in a positive and desired manner to our market, customers and stakeholder expectations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b="1" dirty="0">
                <a:solidFill>
                  <a:schemeClr val="tx1"/>
                </a:solidFill>
              </a:rPr>
              <a:t>People Centricity</a:t>
            </a:r>
          </a:p>
          <a:p>
            <a:r>
              <a:rPr lang="en-GB" sz="1600" dirty="0">
                <a:solidFill>
                  <a:schemeClr val="tx1"/>
                </a:solidFill>
              </a:rPr>
              <a:t>We place people first, mutually beneficial relationships are of essence to our performance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b="1" dirty="0">
                <a:solidFill>
                  <a:schemeClr val="tx1"/>
                </a:solidFill>
              </a:rPr>
              <a:t>Transparency</a:t>
            </a:r>
          </a:p>
          <a:p>
            <a:r>
              <a:rPr lang="en-GB" sz="1600" dirty="0">
                <a:solidFill>
                  <a:schemeClr val="tx1"/>
                </a:solidFill>
              </a:rPr>
              <a:t>We are committed standardisers who conduct our business honestly and in openness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b="1" dirty="0">
                <a:solidFill>
                  <a:schemeClr val="tx1"/>
                </a:solidFill>
              </a:rPr>
              <a:t>Innovation</a:t>
            </a:r>
          </a:p>
          <a:p>
            <a:r>
              <a:rPr lang="en-GB" sz="1600" dirty="0">
                <a:solidFill>
                  <a:schemeClr val="tx1"/>
                </a:solidFill>
              </a:rPr>
              <a:t>We embrace and employ new ideas and improved ways in our business dealing</a:t>
            </a:r>
            <a:endParaRPr lang="en-ZA" sz="1600" dirty="0">
              <a:solidFill>
                <a:schemeClr val="tx1"/>
              </a:solidFill>
            </a:endParaRP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68C6EDA7-88CF-5175-9387-EDA963058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8011" y="6478555"/>
            <a:ext cx="2527722" cy="307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E3191"/>
                </a:solidFill>
                <a:effectLst/>
                <a:latin typeface="BankGothic Lt BT" panose="020B0607020203060204" pitchFamily="34" charset="0"/>
              </a:rPr>
              <a:t>#ImprovingTheWorldWeLiveIn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5" descr="social-media-logos-facebook-twitter-instagram-youtube-flickr-vector-pg-transparent-background-high-resolution-linkedin-googleplus-210299554">
            <a:extLst>
              <a:ext uri="{FF2B5EF4-FFF2-40B4-BE49-F238E27FC236}">
                <a16:creationId xmlns:a16="http://schemas.microsoft.com/office/drawing/2014/main" id="{A2027F27-1695-E899-2523-5AF1E2549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78" t="8835" r="39842" b="71758"/>
          <a:stretch>
            <a:fillRect/>
          </a:stretch>
        </p:blipFill>
        <p:spPr bwMode="auto">
          <a:xfrm>
            <a:off x="7358044" y="6551121"/>
            <a:ext cx="1778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pic>
        <p:nvPicPr>
          <p:cNvPr id="10" name="Picture 6" descr="social-media-logos-facebook-twitter-instagram-youtube-flickr-vector-pg-transparent-background-high-resolution-linkedin-googleplus-210299554">
            <a:extLst>
              <a:ext uri="{FF2B5EF4-FFF2-40B4-BE49-F238E27FC236}">
                <a16:creationId xmlns:a16="http://schemas.microsoft.com/office/drawing/2014/main" id="{47F52285-4FFD-8C84-570F-8C79EFF06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4" t="34485" r="4137" b="46553"/>
          <a:stretch>
            <a:fillRect/>
          </a:stretch>
        </p:blipFill>
        <p:spPr bwMode="auto">
          <a:xfrm>
            <a:off x="7599114" y="6551121"/>
            <a:ext cx="18415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3388844-1687-30C0-FC3D-7AB476C5A13A}"/>
              </a:ext>
            </a:extLst>
          </p:cNvPr>
          <p:cNvCxnSpPr/>
          <p:nvPr/>
        </p:nvCxnSpPr>
        <p:spPr>
          <a:xfrm>
            <a:off x="2461147" y="6603099"/>
            <a:ext cx="2160000" cy="0"/>
          </a:xfrm>
          <a:prstGeom prst="line">
            <a:avLst/>
          </a:prstGeom>
          <a:ln w="28575">
            <a:solidFill>
              <a:srgbClr val="2E31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388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0CBC8-43EA-2C16-F347-1C33E20B9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A03D2F-6117-FFC2-642D-3162E10E0D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3724E26-4E0C-0147-C4E1-82B6D116EADC}"/>
              </a:ext>
            </a:extLst>
          </p:cNvPr>
          <p:cNvSpPr/>
          <p:nvPr/>
        </p:nvSpPr>
        <p:spPr>
          <a:xfrm>
            <a:off x="471947" y="402104"/>
            <a:ext cx="7737987" cy="5270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64A537-10CD-4CB4-9DF5-9A05DCE0C9F7}"/>
              </a:ext>
            </a:extLst>
          </p:cNvPr>
          <p:cNvSpPr/>
          <p:nvPr/>
        </p:nvSpPr>
        <p:spPr>
          <a:xfrm>
            <a:off x="963561" y="5673213"/>
            <a:ext cx="2074607" cy="324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B07635-1326-378C-8A9A-9931B523AE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38"/>
            <a:ext cx="1080000" cy="1080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305E46-F4B0-BDBC-0678-4A498A2150F2}"/>
              </a:ext>
            </a:extLst>
          </p:cNvPr>
          <p:cNvSpPr/>
          <p:nvPr/>
        </p:nvSpPr>
        <p:spPr>
          <a:xfrm>
            <a:off x="423186" y="1079425"/>
            <a:ext cx="3917755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chemeClr val="tx1"/>
                </a:solidFill>
                <a:latin typeface="Garamond" panose="02020404030301010803" pitchFamily="18" charset="0"/>
              </a:rPr>
              <a:t>ESWASA Accreditation</a:t>
            </a:r>
            <a:endParaRPr lang="en-ZA" sz="2800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6AA3E975-89A7-ED55-58EF-5BCF948B408A}"/>
              </a:ext>
            </a:extLst>
          </p:cNvPr>
          <p:cNvSpPr/>
          <p:nvPr/>
        </p:nvSpPr>
        <p:spPr>
          <a:xfrm>
            <a:off x="540000" y="1797827"/>
            <a:ext cx="3024000" cy="58994"/>
          </a:xfrm>
          <a:prstGeom prst="homePlate">
            <a:avLst/>
          </a:prstGeom>
          <a:solidFill>
            <a:srgbClr val="004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6FE5CE-B517-96FD-4D77-E00379CDE4D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3653" y="5365097"/>
            <a:ext cx="5444443" cy="900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6CC4E72-DC58-8871-542A-A7A24A2B7CF5}"/>
              </a:ext>
            </a:extLst>
          </p:cNvPr>
          <p:cNvSpPr txBox="1"/>
          <p:nvPr/>
        </p:nvSpPr>
        <p:spPr>
          <a:xfrm>
            <a:off x="232760" y="2017377"/>
            <a:ext cx="4805745" cy="3381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dirty="0"/>
              <a:t>Eswatini Standards Authority – Management Systems Certification Services is accredited by the Southern African Development Community Accreditation Service (SADCAS).</a:t>
            </a:r>
          </a:p>
          <a:p>
            <a:pPr>
              <a:lnSpc>
                <a:spcPct val="150000"/>
              </a:lnSpc>
            </a:pPr>
            <a:endParaRPr lang="en-GB" sz="1600" dirty="0"/>
          </a:p>
          <a:p>
            <a:pPr>
              <a:lnSpc>
                <a:spcPct val="150000"/>
              </a:lnSpc>
            </a:pPr>
            <a:r>
              <a:rPr lang="en-GB" sz="1600" b="1" dirty="0"/>
              <a:t>Scopes</a:t>
            </a:r>
            <a:r>
              <a:rPr lang="en-GB" sz="1600" dirty="0"/>
              <a:t>: Quality Management Systems to ISO/IEC 17021-1:2015 and ISO/IEC 17021-3:2017 (Certification to ISO 9001:2015),                                                   IAF Codes 3, 12, 13 and 38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D2841AD-433A-3DA6-F1DA-E99839E5E7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544" y="2706935"/>
            <a:ext cx="3171429" cy="177142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DDFAD04-C1C1-AEB5-564E-7C6288F21DA2}"/>
              </a:ext>
            </a:extLst>
          </p:cNvPr>
          <p:cNvSpPr txBox="1"/>
          <p:nvPr/>
        </p:nvSpPr>
        <p:spPr>
          <a:xfrm>
            <a:off x="4746259" y="1599557"/>
            <a:ext cx="6096000" cy="1173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GB" sz="1600" b="1" kern="1400" dirty="0">
                <a:ln>
                  <a:noFill/>
                </a:ln>
                <a:solidFill>
                  <a:srgbClr val="000000"/>
                </a:solidFill>
                <a:effectLst/>
              </a:rPr>
              <a:t>ESWASA</a:t>
            </a:r>
            <a:r>
              <a:rPr lang="en-GB" sz="1600" kern="1400" dirty="0">
                <a:ln>
                  <a:noFill/>
                </a:ln>
                <a:solidFill>
                  <a:srgbClr val="000000"/>
                </a:solidFill>
                <a:effectLst/>
              </a:rPr>
              <a:t> is a member of the following                                          international organizations:</a:t>
            </a:r>
          </a:p>
          <a:p>
            <a:pPr marL="0" marR="0" indent="0" algn="l">
              <a:lnSpc>
                <a:spcPct val="119000"/>
              </a:lnSpc>
              <a:spcAft>
                <a:spcPts val="600"/>
              </a:spcAft>
            </a:pPr>
            <a:r>
              <a:rPr lang="en-GB" sz="1400" kern="1400" dirty="0">
                <a:ln>
                  <a:noFill/>
                </a:ln>
                <a:solidFill>
                  <a:srgbClr val="000000"/>
                </a:solidFill>
                <a:effectLst/>
              </a:rPr>
              <a:t> </a:t>
            </a: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2D90D53B-8646-2D67-BBFB-2B58A423C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8011" y="6478555"/>
            <a:ext cx="2527722" cy="307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E3191"/>
                </a:solidFill>
                <a:effectLst/>
                <a:latin typeface="BankGothic Lt BT" panose="020B0607020203060204" pitchFamily="34" charset="0"/>
              </a:rPr>
              <a:t>#ImprovingTheWorldWeLiveIn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5" descr="social-media-logos-facebook-twitter-instagram-youtube-flickr-vector-pg-transparent-background-high-resolution-linkedin-googleplus-210299554">
            <a:extLst>
              <a:ext uri="{FF2B5EF4-FFF2-40B4-BE49-F238E27FC236}">
                <a16:creationId xmlns:a16="http://schemas.microsoft.com/office/drawing/2014/main" id="{3D71FAA2-711D-CD06-8DB4-88F222CBC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78" t="8835" r="39842" b="71758"/>
          <a:stretch>
            <a:fillRect/>
          </a:stretch>
        </p:blipFill>
        <p:spPr bwMode="auto">
          <a:xfrm>
            <a:off x="7358044" y="6551121"/>
            <a:ext cx="1778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pic>
        <p:nvPicPr>
          <p:cNvPr id="11" name="Picture 6" descr="social-media-logos-facebook-twitter-instagram-youtube-flickr-vector-pg-transparent-background-high-resolution-linkedin-googleplus-210299554">
            <a:extLst>
              <a:ext uri="{FF2B5EF4-FFF2-40B4-BE49-F238E27FC236}">
                <a16:creationId xmlns:a16="http://schemas.microsoft.com/office/drawing/2014/main" id="{3FB11699-14A4-EF9C-FF1F-FA5AD861C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4" t="34485" r="4137" b="46553"/>
          <a:stretch>
            <a:fillRect/>
          </a:stretch>
        </p:blipFill>
        <p:spPr bwMode="auto">
          <a:xfrm>
            <a:off x="7599114" y="6551121"/>
            <a:ext cx="18415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DE247BD-6B1B-6E89-C995-23155186AA16}"/>
              </a:ext>
            </a:extLst>
          </p:cNvPr>
          <p:cNvCxnSpPr/>
          <p:nvPr/>
        </p:nvCxnSpPr>
        <p:spPr>
          <a:xfrm>
            <a:off x="2461147" y="6603099"/>
            <a:ext cx="2160000" cy="0"/>
          </a:xfrm>
          <a:prstGeom prst="line">
            <a:avLst/>
          </a:prstGeom>
          <a:ln w="28575">
            <a:solidFill>
              <a:srgbClr val="2E31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747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729D1F-0CE5-56C7-0CF3-6E727ECB84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43761" y="0"/>
            <a:ext cx="12192000" cy="6858000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87F508E-89A6-FF85-97AA-F6F2CC957069}"/>
              </a:ext>
            </a:extLst>
          </p:cNvPr>
          <p:cNvSpPr/>
          <p:nvPr/>
        </p:nvSpPr>
        <p:spPr>
          <a:xfrm>
            <a:off x="324465" y="412955"/>
            <a:ext cx="3795251" cy="21434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253E5A-73F5-14AE-F124-C351A373AB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38"/>
            <a:ext cx="1080000" cy="1080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B7D8AFB-86FD-F590-7F33-CE51B7E2431E}"/>
              </a:ext>
            </a:extLst>
          </p:cNvPr>
          <p:cNvSpPr/>
          <p:nvPr/>
        </p:nvSpPr>
        <p:spPr>
          <a:xfrm>
            <a:off x="1480793" y="720252"/>
            <a:ext cx="2552207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Garamond" panose="02020404030301010803" pitchFamily="18" charset="0"/>
              </a:rPr>
              <a:t>Our Services</a:t>
            </a:r>
            <a:endParaRPr lang="en-ZA" sz="2800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A6E1F190-0031-EC73-40FC-78230CD2D77A}"/>
              </a:ext>
            </a:extLst>
          </p:cNvPr>
          <p:cNvSpPr/>
          <p:nvPr/>
        </p:nvSpPr>
        <p:spPr>
          <a:xfrm>
            <a:off x="1828739" y="1397264"/>
            <a:ext cx="1620000" cy="58994"/>
          </a:xfrm>
          <a:prstGeom prst="homePlate">
            <a:avLst/>
          </a:prstGeom>
          <a:solidFill>
            <a:srgbClr val="004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AE3C9D-5FDC-3AFF-F762-C60B7C5C6D5E}"/>
              </a:ext>
            </a:extLst>
          </p:cNvPr>
          <p:cNvSpPr/>
          <p:nvPr/>
        </p:nvSpPr>
        <p:spPr>
          <a:xfrm>
            <a:off x="43761" y="2297985"/>
            <a:ext cx="12148239" cy="347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34CE471-2823-35C8-BE7A-0D30F57A01E6}"/>
              </a:ext>
            </a:extLst>
          </p:cNvPr>
          <p:cNvSpPr/>
          <p:nvPr/>
        </p:nvSpPr>
        <p:spPr>
          <a:xfrm>
            <a:off x="618958" y="6190392"/>
            <a:ext cx="6096000" cy="4215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3A3A3A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4FDCD11-AFE1-6634-8AA9-0907A4C3F9B2}"/>
              </a:ext>
            </a:extLst>
          </p:cNvPr>
          <p:cNvGrpSpPr/>
          <p:nvPr/>
        </p:nvGrpSpPr>
        <p:grpSpPr>
          <a:xfrm>
            <a:off x="324465" y="1677469"/>
            <a:ext cx="4469843" cy="739610"/>
            <a:chOff x="738579" y="1182165"/>
            <a:chExt cx="4469843" cy="73961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9B8ACAB-5FB1-28B2-84C8-ED2AFED71A04}"/>
                </a:ext>
              </a:extLst>
            </p:cNvPr>
            <p:cNvSpPr/>
            <p:nvPr/>
          </p:nvSpPr>
          <p:spPr>
            <a:xfrm>
              <a:off x="1625337" y="1303988"/>
              <a:ext cx="3583085" cy="3767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STANDARDS DEVELOPMENT</a:t>
              </a:r>
            </a:p>
          </p:txBody>
        </p:sp>
        <p:pic>
          <p:nvPicPr>
            <p:cNvPr id="44" name="Picture 2" descr="ISO - International Organization for Standardization">
              <a:extLst>
                <a:ext uri="{FF2B5EF4-FFF2-40B4-BE49-F238E27FC236}">
                  <a16:creationId xmlns:a16="http://schemas.microsoft.com/office/drawing/2014/main" id="{50B516A9-8B35-A90C-12A6-61CF275C25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579" y="1182165"/>
              <a:ext cx="801435" cy="7396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64DE9C1-236F-5950-B2DA-6920CFC4AC42}"/>
              </a:ext>
            </a:extLst>
          </p:cNvPr>
          <p:cNvGrpSpPr/>
          <p:nvPr/>
        </p:nvGrpSpPr>
        <p:grpSpPr>
          <a:xfrm>
            <a:off x="469578" y="4776274"/>
            <a:ext cx="7199511" cy="1599904"/>
            <a:chOff x="883691" y="4096505"/>
            <a:chExt cx="7199511" cy="1599904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23D992EA-69DE-ED5F-527B-884125C4E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83691" y="4096505"/>
              <a:ext cx="1599904" cy="1599904"/>
            </a:xfrm>
            <a:prstGeom prst="rect">
              <a:avLst/>
            </a:prstGeom>
          </p:spPr>
        </p:pic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97131A0-DC5F-21BE-8D74-E207185F31BB}"/>
                </a:ext>
              </a:extLst>
            </p:cNvPr>
            <p:cNvSpPr/>
            <p:nvPr/>
          </p:nvSpPr>
          <p:spPr>
            <a:xfrm>
              <a:off x="2217661" y="4818654"/>
              <a:ext cx="5865541" cy="7817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SCALES &amp; METROLOGY SERVICES</a:t>
              </a:r>
              <a:endPara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anose="02020603050405020304" pitchFamily="18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257FC7D-0FC7-44D0-8869-EEAE7ADD3B5C}"/>
              </a:ext>
            </a:extLst>
          </p:cNvPr>
          <p:cNvGrpSpPr/>
          <p:nvPr/>
        </p:nvGrpSpPr>
        <p:grpSpPr>
          <a:xfrm>
            <a:off x="137712" y="4065612"/>
            <a:ext cx="6977763" cy="954036"/>
            <a:chOff x="513116" y="3445467"/>
            <a:chExt cx="6977763" cy="954036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6B389ACC-BDDE-9FBB-CED5-817E637814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3116" y="3445467"/>
              <a:ext cx="1599905" cy="941121"/>
            </a:xfrm>
            <a:prstGeom prst="rect">
              <a:avLst/>
            </a:prstGeom>
          </p:spPr>
        </p:pic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C53CD5E-E1A8-2931-C5FE-DC363086BC82}"/>
                </a:ext>
              </a:extLst>
            </p:cNvPr>
            <p:cNvSpPr/>
            <p:nvPr/>
          </p:nvSpPr>
          <p:spPr>
            <a:xfrm>
              <a:off x="1625338" y="3617758"/>
              <a:ext cx="5865541" cy="7817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PRODUCT TESTING </a:t>
              </a:r>
              <a:endPara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anose="02020603050405020304" pitchFamily="18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0A0D0C6-81D6-0E36-F348-27559514837C}"/>
              </a:ext>
            </a:extLst>
          </p:cNvPr>
          <p:cNvGrpSpPr/>
          <p:nvPr/>
        </p:nvGrpSpPr>
        <p:grpSpPr>
          <a:xfrm>
            <a:off x="6070011" y="2701603"/>
            <a:ext cx="5163463" cy="1080000"/>
            <a:chOff x="6556911" y="1941810"/>
            <a:chExt cx="5163463" cy="1080000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D4B18C0F-278D-8628-2EE0-20E2B839AC8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56911" y="1941810"/>
              <a:ext cx="1313310" cy="1080000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4C64806-DEC9-2654-0147-F1B778A50794}"/>
                </a:ext>
              </a:extLst>
            </p:cNvPr>
            <p:cNvSpPr/>
            <p:nvPr/>
          </p:nvSpPr>
          <p:spPr>
            <a:xfrm>
              <a:off x="7754792" y="2138685"/>
              <a:ext cx="3965582" cy="7817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STANDARDS-BASED TRAINING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9C71BBD-373C-D2FF-6315-F247BBD7743C}"/>
              </a:ext>
            </a:extLst>
          </p:cNvPr>
          <p:cNvGrpSpPr/>
          <p:nvPr/>
        </p:nvGrpSpPr>
        <p:grpSpPr>
          <a:xfrm>
            <a:off x="6309046" y="4008589"/>
            <a:ext cx="4750795" cy="1080000"/>
            <a:chOff x="6673566" y="3323451"/>
            <a:chExt cx="4750795" cy="1080000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A0FB1BD7-C7C8-583A-3DF7-F336BE8E7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673566" y="3323451"/>
              <a:ext cx="1080000" cy="1080000"/>
            </a:xfrm>
            <a:prstGeom prst="rect">
              <a:avLst/>
            </a:prstGeom>
          </p:spPr>
        </p:pic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8CB1F52-3AEF-9F13-E15D-3E761C329053}"/>
                </a:ext>
              </a:extLst>
            </p:cNvPr>
            <p:cNvSpPr/>
            <p:nvPr/>
          </p:nvSpPr>
          <p:spPr>
            <a:xfrm>
              <a:off x="7782605" y="3524179"/>
              <a:ext cx="3641756" cy="7817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WTO ENQUIRY POINT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BC7A3D6-A875-7AEA-50A2-8A5723F76C83}"/>
              </a:ext>
            </a:extLst>
          </p:cNvPr>
          <p:cNvGrpSpPr/>
          <p:nvPr/>
        </p:nvGrpSpPr>
        <p:grpSpPr>
          <a:xfrm>
            <a:off x="6223257" y="5163186"/>
            <a:ext cx="5499165" cy="1332000"/>
            <a:chOff x="6637371" y="4402951"/>
            <a:chExt cx="5499165" cy="1332000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589EA3C7-7717-4AD7-3C17-0ADD09599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0000" b="90435" l="7763" r="95434">
                          <a14:foregroundMark x1="91324" y1="46957" x2="91324" y2="46957"/>
                          <a14:foregroundMark x1="94521" y1="42609" x2="94521" y2="42609"/>
                          <a14:foregroundMark x1="52968" y1="90435" x2="52968" y2="90435"/>
                          <a14:foregroundMark x1="7763" y1="54348" x2="7763" y2="54348"/>
                          <a14:foregroundMark x1="95434" y1="49565" x2="95434" y2="49565"/>
                          <a14:foregroundMark x1="53425" y1="10000" x2="53425" y2="10000"/>
                          <a14:foregroundMark x1="51598" y1="10000" x2="51598" y2="1000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637371" y="4402951"/>
              <a:ext cx="1268308" cy="1332000"/>
            </a:xfrm>
            <a:prstGeom prst="rect">
              <a:avLst/>
            </a:prstGeom>
          </p:spPr>
        </p:pic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8970FC7-9061-9343-A3E1-19CBF94BC978}"/>
                </a:ext>
              </a:extLst>
            </p:cNvPr>
            <p:cNvSpPr/>
            <p:nvPr/>
          </p:nvSpPr>
          <p:spPr>
            <a:xfrm>
              <a:off x="7870221" y="4856692"/>
              <a:ext cx="4266315" cy="7817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INFORMATION DISSEMINATION </a:t>
              </a:r>
            </a:p>
          </p:txBody>
        </p:sp>
      </p:grpSp>
      <p:sp>
        <p:nvSpPr>
          <p:cNvPr id="60" name="AutoShape 4" descr="ISO 22000:2018 - Food safety management systems - Requirements for any  organization in the food chain">
            <a:extLst>
              <a:ext uri="{FF2B5EF4-FFF2-40B4-BE49-F238E27FC236}">
                <a16:creationId xmlns:a16="http://schemas.microsoft.com/office/drawing/2014/main" id="{E32E934E-7915-71B8-1B52-8CCC269A05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29486" y="403683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EB83C61-DA1D-689C-85B4-9E5BEB3DD65D}"/>
              </a:ext>
            </a:extLst>
          </p:cNvPr>
          <p:cNvGrpSpPr/>
          <p:nvPr/>
        </p:nvGrpSpPr>
        <p:grpSpPr>
          <a:xfrm>
            <a:off x="6096000" y="1350943"/>
            <a:ext cx="3561839" cy="1080000"/>
            <a:chOff x="6722673" y="943661"/>
            <a:chExt cx="3561839" cy="1080000"/>
          </a:xfrm>
        </p:grpSpPr>
        <p:pic>
          <p:nvPicPr>
            <p:cNvPr id="62" name="Picture 6" descr="Iso Logo High Res Stock Images | Shutterstock">
              <a:extLst>
                <a:ext uri="{FF2B5EF4-FFF2-40B4-BE49-F238E27FC236}">
                  <a16:creationId xmlns:a16="http://schemas.microsoft.com/office/drawing/2014/main" id="{6E018FED-2A94-6A86-09C4-E8CD37DE67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2673" y="943661"/>
              <a:ext cx="1236119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F41A166-BFA3-BECC-930A-760A0005A466}"/>
                </a:ext>
              </a:extLst>
            </p:cNvPr>
            <p:cNvSpPr/>
            <p:nvPr/>
          </p:nvSpPr>
          <p:spPr>
            <a:xfrm>
              <a:off x="7753566" y="1228052"/>
              <a:ext cx="2530946" cy="7817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STANDARDS SALES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5CCC7E2-9B0E-2C6F-C774-8C4873BC8E71}"/>
              </a:ext>
            </a:extLst>
          </p:cNvPr>
          <p:cNvGrpSpPr/>
          <p:nvPr/>
        </p:nvGrpSpPr>
        <p:grpSpPr>
          <a:xfrm>
            <a:off x="170564" y="2686417"/>
            <a:ext cx="7043782" cy="1188142"/>
            <a:chOff x="599296" y="2079955"/>
            <a:chExt cx="7043782" cy="1188142"/>
          </a:xfrm>
        </p:grpSpPr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BAF0D21A-2953-C0B3-EE21-88EA98A24E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928821">
              <a:off x="599296" y="2188097"/>
              <a:ext cx="1080000" cy="1080000"/>
            </a:xfrm>
            <a:prstGeom prst="rect">
              <a:avLst/>
            </a:prstGeom>
          </p:spPr>
        </p:pic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FD87461B-6CA3-A6AB-4FB2-3B1FCD60EA6B}"/>
                </a:ext>
              </a:extLst>
            </p:cNvPr>
            <p:cNvSpPr/>
            <p:nvPr/>
          </p:nvSpPr>
          <p:spPr>
            <a:xfrm>
              <a:off x="1625337" y="2079955"/>
              <a:ext cx="6017741" cy="10991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CERTIFICATION:</a:t>
              </a:r>
            </a:p>
            <a:p>
              <a:pPr marL="357188" marR="0" lvl="0" indent="-357188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MANAGEMENT SYSTEMS </a:t>
              </a:r>
            </a:p>
            <a:p>
              <a:pPr marL="357188" marR="0" lvl="0" indent="-357188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PRODUCT CERTIFICATION</a:t>
              </a:r>
            </a:p>
          </p:txBody>
        </p:sp>
      </p:grpSp>
      <p:sp>
        <p:nvSpPr>
          <p:cNvPr id="2" name="Text Box 2">
            <a:extLst>
              <a:ext uri="{FF2B5EF4-FFF2-40B4-BE49-F238E27FC236}">
                <a16:creationId xmlns:a16="http://schemas.microsoft.com/office/drawing/2014/main" id="{4BE6280F-2CE6-DCD0-923C-E9EBD8DD3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2511" y="6500672"/>
            <a:ext cx="2527722" cy="307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E3191"/>
                </a:solidFill>
                <a:effectLst/>
                <a:latin typeface="BankGothic Lt BT" panose="020B0607020203060204" pitchFamily="34" charset="0"/>
              </a:rPr>
              <a:t>#ImprovingTheWorldWeLiveIn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5" descr="social-media-logos-facebook-twitter-instagram-youtube-flickr-vector-pg-transparent-background-high-resolution-linkedin-googleplus-210299554">
            <a:extLst>
              <a:ext uri="{FF2B5EF4-FFF2-40B4-BE49-F238E27FC236}">
                <a16:creationId xmlns:a16="http://schemas.microsoft.com/office/drawing/2014/main" id="{A19ABF6F-AA98-DF83-DA7C-65D259E9C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78" t="8835" r="39842" b="71758"/>
          <a:stretch>
            <a:fillRect/>
          </a:stretch>
        </p:blipFill>
        <p:spPr bwMode="auto">
          <a:xfrm>
            <a:off x="11612544" y="6573238"/>
            <a:ext cx="1778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pic>
        <p:nvPicPr>
          <p:cNvPr id="4" name="Picture 6" descr="social-media-logos-facebook-twitter-instagram-youtube-flickr-vector-pg-transparent-background-high-resolution-linkedin-googleplus-210299554">
            <a:extLst>
              <a:ext uri="{FF2B5EF4-FFF2-40B4-BE49-F238E27FC236}">
                <a16:creationId xmlns:a16="http://schemas.microsoft.com/office/drawing/2014/main" id="{5A54030A-692F-444C-5A7C-864BB7D98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4" t="34485" r="4137" b="46553"/>
          <a:stretch>
            <a:fillRect/>
          </a:stretch>
        </p:blipFill>
        <p:spPr bwMode="auto">
          <a:xfrm>
            <a:off x="11853614" y="6573238"/>
            <a:ext cx="18415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247E6B-9B14-F903-CAEC-378E5563CEF3}"/>
              </a:ext>
            </a:extLst>
          </p:cNvPr>
          <p:cNvCxnSpPr/>
          <p:nvPr/>
        </p:nvCxnSpPr>
        <p:spPr>
          <a:xfrm>
            <a:off x="6715647" y="6625216"/>
            <a:ext cx="2160000" cy="0"/>
          </a:xfrm>
          <a:prstGeom prst="line">
            <a:avLst/>
          </a:prstGeom>
          <a:ln w="28575">
            <a:solidFill>
              <a:srgbClr val="2E31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157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B326E-5C9F-8FC8-DFE0-4D9901BB3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39EEE2-DE7F-D75B-1B34-1FDE158E090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4093" y="5286619"/>
            <a:ext cx="2456472" cy="1584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E50797F-C8C6-4710-BBE2-F7117E23B832}"/>
              </a:ext>
            </a:extLst>
          </p:cNvPr>
          <p:cNvSpPr/>
          <p:nvPr/>
        </p:nvSpPr>
        <p:spPr>
          <a:xfrm>
            <a:off x="1297860" y="814389"/>
            <a:ext cx="6634315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chemeClr val="tx1"/>
                </a:solidFill>
                <a:latin typeface="Garamond" panose="02020404030301010803" pitchFamily="18" charset="0"/>
              </a:rPr>
              <a:t>Ingelo Certification Scheme</a:t>
            </a:r>
          </a:p>
          <a:p>
            <a:endParaRPr lang="en-ZA" sz="2800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4F3C58-D70F-C506-06B2-8006BF397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38"/>
            <a:ext cx="1080000" cy="1080000"/>
          </a:xfrm>
          <a:prstGeom prst="rect">
            <a:avLst/>
          </a:prstGeom>
        </p:spPr>
      </p:pic>
      <p:sp>
        <p:nvSpPr>
          <p:cNvPr id="13" name="Text Box 2">
            <a:extLst>
              <a:ext uri="{FF2B5EF4-FFF2-40B4-BE49-F238E27FC236}">
                <a16:creationId xmlns:a16="http://schemas.microsoft.com/office/drawing/2014/main" id="{7CAAD36A-7FE6-80B4-DC2A-DF95D9DEF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7111" y="6550060"/>
            <a:ext cx="2527722" cy="307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E3191"/>
                </a:solidFill>
                <a:effectLst/>
                <a:latin typeface="BankGothic Lt BT" panose="020B0607020203060204" pitchFamily="34" charset="0"/>
              </a:rPr>
              <a:t>#ImprovingTheWorldWeLiveIn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5" descr="social-media-logos-facebook-twitter-instagram-youtube-flickr-vector-pg-transparent-background-high-resolution-linkedin-googleplus-210299554">
            <a:extLst>
              <a:ext uri="{FF2B5EF4-FFF2-40B4-BE49-F238E27FC236}">
                <a16:creationId xmlns:a16="http://schemas.microsoft.com/office/drawing/2014/main" id="{27D78570-02F3-2EB6-5E52-0D00FAD72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78" t="8835" r="39842" b="71758"/>
          <a:stretch>
            <a:fillRect/>
          </a:stretch>
        </p:blipFill>
        <p:spPr bwMode="auto">
          <a:xfrm>
            <a:off x="11587144" y="6622626"/>
            <a:ext cx="1778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pic>
        <p:nvPicPr>
          <p:cNvPr id="15" name="Picture 6" descr="social-media-logos-facebook-twitter-instagram-youtube-flickr-vector-pg-transparent-background-high-resolution-linkedin-googleplus-210299554">
            <a:extLst>
              <a:ext uri="{FF2B5EF4-FFF2-40B4-BE49-F238E27FC236}">
                <a16:creationId xmlns:a16="http://schemas.microsoft.com/office/drawing/2014/main" id="{F0D66B12-97FC-72B5-7CDD-1BEAB0811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4" t="34485" r="4137" b="46553"/>
          <a:stretch>
            <a:fillRect/>
          </a:stretch>
        </p:blipFill>
        <p:spPr bwMode="auto">
          <a:xfrm>
            <a:off x="11828214" y="6622626"/>
            <a:ext cx="18415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717F54D-419D-DE37-16D9-B5092FBC0B72}"/>
              </a:ext>
            </a:extLst>
          </p:cNvPr>
          <p:cNvCxnSpPr/>
          <p:nvPr/>
        </p:nvCxnSpPr>
        <p:spPr>
          <a:xfrm>
            <a:off x="6690247" y="6674604"/>
            <a:ext cx="2160000" cy="0"/>
          </a:xfrm>
          <a:prstGeom prst="line">
            <a:avLst/>
          </a:prstGeom>
          <a:ln w="28575">
            <a:solidFill>
              <a:srgbClr val="2E31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50BFE377-0298-F0DF-0A8F-DBD94FB1E337}"/>
              </a:ext>
            </a:extLst>
          </p:cNvPr>
          <p:cNvSpPr/>
          <p:nvPr/>
        </p:nvSpPr>
        <p:spPr>
          <a:xfrm>
            <a:off x="1628665" y="1298408"/>
            <a:ext cx="5400000" cy="72000"/>
          </a:xfrm>
          <a:prstGeom prst="homePlate">
            <a:avLst/>
          </a:prstGeom>
          <a:solidFill>
            <a:srgbClr val="004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A31ECDE4-8DDB-D931-670C-207B440B366D}"/>
              </a:ext>
            </a:extLst>
          </p:cNvPr>
          <p:cNvGraphicFramePr>
            <a:graphicFrameLocks/>
          </p:cNvGraphicFramePr>
          <p:nvPr/>
        </p:nvGraphicFramePr>
        <p:xfrm>
          <a:off x="3968263" y="1523788"/>
          <a:ext cx="7102096" cy="45743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04F27D7C-9079-FA4F-2E2F-47F216E78F6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11"/>
          <a:stretch>
            <a:fillRect/>
          </a:stretch>
        </p:blipFill>
        <p:spPr>
          <a:xfrm>
            <a:off x="922521" y="1356888"/>
            <a:ext cx="2762301" cy="4574305"/>
          </a:xfrm>
        </p:spPr>
      </p:pic>
    </p:spTree>
    <p:extLst>
      <p:ext uri="{BB962C8B-B14F-4D97-AF65-F5344CB8AC3E}">
        <p14:creationId xmlns:p14="http://schemas.microsoft.com/office/powerpoint/2010/main" val="3685818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C20EF-0877-081A-B1C2-43032EA3C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3812DC0-0AA3-C3DF-A8DB-2E4FF0E092E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4093" y="5286619"/>
            <a:ext cx="2456472" cy="1584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B5A955-7AAB-3E26-0522-87881F88F2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38"/>
            <a:ext cx="1080000" cy="1080000"/>
          </a:xfrm>
          <a:prstGeom prst="rect">
            <a:avLst/>
          </a:prstGeom>
        </p:spPr>
      </p:pic>
      <p:sp>
        <p:nvSpPr>
          <p:cNvPr id="13" name="Text Box 2">
            <a:extLst>
              <a:ext uri="{FF2B5EF4-FFF2-40B4-BE49-F238E27FC236}">
                <a16:creationId xmlns:a16="http://schemas.microsoft.com/office/drawing/2014/main" id="{8B680C00-FD90-6C23-A37A-0E77DC3BD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7111" y="6550060"/>
            <a:ext cx="2527722" cy="307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E3191"/>
                </a:solidFill>
                <a:effectLst/>
                <a:latin typeface="BankGothic Lt BT" panose="020B0607020203060204" pitchFamily="34" charset="0"/>
              </a:rPr>
              <a:t>#ImprovingTheWorldWeLiveIn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5" descr="social-media-logos-facebook-twitter-instagram-youtube-flickr-vector-pg-transparent-background-high-resolution-linkedin-googleplus-210299554">
            <a:extLst>
              <a:ext uri="{FF2B5EF4-FFF2-40B4-BE49-F238E27FC236}">
                <a16:creationId xmlns:a16="http://schemas.microsoft.com/office/drawing/2014/main" id="{9F8CB7D3-B1F5-671C-BCB7-ABB3D6732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78" t="8835" r="39842" b="71758"/>
          <a:stretch>
            <a:fillRect/>
          </a:stretch>
        </p:blipFill>
        <p:spPr bwMode="auto">
          <a:xfrm>
            <a:off x="11587144" y="6622626"/>
            <a:ext cx="1778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pic>
        <p:nvPicPr>
          <p:cNvPr id="15" name="Picture 6" descr="social-media-logos-facebook-twitter-instagram-youtube-flickr-vector-pg-transparent-background-high-resolution-linkedin-googleplus-210299554">
            <a:extLst>
              <a:ext uri="{FF2B5EF4-FFF2-40B4-BE49-F238E27FC236}">
                <a16:creationId xmlns:a16="http://schemas.microsoft.com/office/drawing/2014/main" id="{2A4EF5DD-3C03-5D56-F321-FA18571B5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4" t="34485" r="4137" b="46553"/>
          <a:stretch>
            <a:fillRect/>
          </a:stretch>
        </p:blipFill>
        <p:spPr bwMode="auto">
          <a:xfrm>
            <a:off x="11828214" y="6622626"/>
            <a:ext cx="18415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86CCAA8-FDA5-2888-DBC1-5CD31D7AED62}"/>
              </a:ext>
            </a:extLst>
          </p:cNvPr>
          <p:cNvCxnSpPr/>
          <p:nvPr/>
        </p:nvCxnSpPr>
        <p:spPr>
          <a:xfrm>
            <a:off x="6690247" y="6674604"/>
            <a:ext cx="2160000" cy="0"/>
          </a:xfrm>
          <a:prstGeom prst="line">
            <a:avLst/>
          </a:prstGeom>
          <a:ln w="28575">
            <a:solidFill>
              <a:srgbClr val="2E31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F82A846-EB39-D130-0A68-D33D0AE2EF17}"/>
              </a:ext>
            </a:extLst>
          </p:cNvPr>
          <p:cNvSpPr txBox="1"/>
          <p:nvPr/>
        </p:nvSpPr>
        <p:spPr>
          <a:xfrm>
            <a:off x="74382" y="1260067"/>
            <a:ext cx="5723147" cy="402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Eswatini Standards Authority (ESWASA)</a:t>
            </a:r>
            <a:r>
              <a:rPr lang="en-GB" sz="1400" dirty="0"/>
              <a:t> invites                                                     </a:t>
            </a:r>
            <a:r>
              <a:rPr lang="en-GB" sz="1400" b="1" dirty="0"/>
              <a:t>Micro, Small &amp; Medium Enterprises (MSMEs) </a:t>
            </a:r>
            <a:r>
              <a:rPr lang="en-GB" sz="1400" dirty="0"/>
              <a:t>to apply for participation in the Ingelo</a:t>
            </a:r>
            <a:r>
              <a:rPr lang="en-GB" sz="1400" b="1" dirty="0"/>
              <a:t> Certification Scheme </a:t>
            </a:r>
            <a:r>
              <a:rPr lang="en-GB" sz="1400" dirty="0"/>
              <a:t>– a program developed to support local businesses in achieving product and system certification.</a:t>
            </a:r>
          </a:p>
          <a:p>
            <a:r>
              <a:rPr lang="en-GB" sz="1400" dirty="0"/>
              <a:t>                                                                                                 </a:t>
            </a:r>
            <a:endParaRPr lang="en-GB" sz="1400" b="1" kern="50" cap="all" dirty="0">
              <a:solidFill>
                <a:srgbClr val="000000"/>
              </a:solidFill>
            </a:endParaRPr>
          </a:p>
          <a:p>
            <a:pPr marL="0" marR="0" indent="0" algn="l">
              <a:lnSpc>
                <a:spcPct val="119000"/>
              </a:lnSpc>
              <a:spcAft>
                <a:spcPts val="600"/>
              </a:spcAft>
              <a:buNone/>
            </a:pPr>
            <a:r>
              <a:rPr lang="en-GB" sz="1400" b="1" kern="50" cap="all" dirty="0">
                <a:ln>
                  <a:noFill/>
                </a:ln>
                <a:solidFill>
                  <a:srgbClr val="000000"/>
                </a:solidFill>
                <a:effectLst/>
              </a:rPr>
              <a:t>What is the Ingelo Certification Scheme?</a:t>
            </a:r>
            <a:endParaRPr lang="en-GB" sz="1400" kern="140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285750" marR="0" indent="-285750" algn="l">
              <a:lnSpc>
                <a:spcPct val="119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sz="1400" kern="50" dirty="0">
                <a:ln>
                  <a:noFill/>
                </a:ln>
                <a:solidFill>
                  <a:srgbClr val="000000"/>
                </a:solidFill>
                <a:effectLst/>
              </a:rPr>
              <a:t>The Ingelo Certification Scheme is a scheme for local producers, an initiative launched by the  </a:t>
            </a:r>
            <a:r>
              <a:rPr lang="en-GB" sz="1400" b="1" kern="50" dirty="0">
                <a:ln>
                  <a:noFill/>
                </a:ln>
                <a:solidFill>
                  <a:srgbClr val="000000"/>
                </a:solidFill>
                <a:effectLst/>
              </a:rPr>
              <a:t>Ministry of Commerce, Industry and Trade</a:t>
            </a:r>
            <a:r>
              <a:rPr lang="en-GB" sz="1400" kern="50" dirty="0">
                <a:ln>
                  <a:noFill/>
                </a:ln>
                <a:solidFill>
                  <a:srgbClr val="000000"/>
                </a:solidFill>
                <a:effectLst/>
              </a:rPr>
              <a:t>:</a:t>
            </a:r>
            <a:endParaRPr lang="en-GB" sz="1400" kern="140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285750" marR="0" indent="-285750" algn="l">
              <a:lnSpc>
                <a:spcPct val="119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sz="1400" kern="50" dirty="0">
                <a:ln>
                  <a:noFill/>
                </a:ln>
                <a:solidFill>
                  <a:srgbClr val="000000"/>
                </a:solidFill>
                <a:effectLst/>
              </a:rPr>
              <a:t>To support cottage producers in achieving certification for both their systems and products.</a:t>
            </a:r>
            <a:endParaRPr lang="en-GB" sz="1400" kern="140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285750" marR="0" indent="-285750" algn="l">
              <a:lnSpc>
                <a:spcPct val="119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sz="1400" kern="50" dirty="0">
                <a:ln>
                  <a:noFill/>
                </a:ln>
                <a:solidFill>
                  <a:srgbClr val="000000"/>
                </a:solidFill>
                <a:effectLst/>
              </a:rPr>
              <a:t>To assist producers of products and services in meeting market requirements on quality and safety based on standards requirements.</a:t>
            </a:r>
            <a:endParaRPr lang="en-GB" sz="1400" kern="140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indent="0" algn="l">
              <a:lnSpc>
                <a:spcPct val="119000"/>
              </a:lnSpc>
              <a:spcAft>
                <a:spcPts val="600"/>
              </a:spcAft>
              <a:buNone/>
            </a:pPr>
            <a:r>
              <a:rPr lang="en-GB" sz="1400" kern="1400" dirty="0">
                <a:ln>
                  <a:noFill/>
                </a:ln>
                <a:solidFill>
                  <a:srgbClr val="000000"/>
                </a:solidFill>
                <a:effectLst/>
              </a:rPr>
              <a:t> 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677AB57-ED67-1314-A524-7BB0C0CB7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414" y="1260067"/>
            <a:ext cx="6284244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400" b="1" cap="all" dirty="0"/>
              <a:t>Benefits of participation: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sz="1400" dirty="0"/>
              <a:t>Improved product quality and safety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sz="1400" dirty="0"/>
              <a:t>Increased access to local and regional markets (</a:t>
            </a:r>
            <a:r>
              <a:rPr lang="en-GB" sz="1400" dirty="0" err="1"/>
              <a:t>e.g</a:t>
            </a:r>
            <a:r>
              <a:rPr lang="en-GB" sz="1400" dirty="0"/>
              <a:t> access to trade in </a:t>
            </a:r>
            <a:r>
              <a:rPr lang="en-GB" sz="1400" dirty="0" err="1"/>
              <a:t>AfCFTA</a:t>
            </a:r>
            <a:r>
              <a:rPr lang="en-GB" sz="1400" dirty="0"/>
              <a:t>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sz="1400" dirty="0"/>
              <a:t>Recognition through the </a:t>
            </a:r>
            <a:r>
              <a:rPr lang="en-GB" sz="1400" b="1" dirty="0"/>
              <a:t>ESWASA Approved</a:t>
            </a:r>
            <a:r>
              <a:rPr lang="en-GB" sz="1400" dirty="0"/>
              <a:t> mark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sz="1400" dirty="0"/>
              <a:t>Technical support during the certification process</a:t>
            </a:r>
          </a:p>
          <a:p>
            <a:pPr marL="0" indent="0">
              <a:buNone/>
            </a:pPr>
            <a:r>
              <a:rPr lang="en-GB" sz="1400" dirty="0"/>
              <a:t> </a:t>
            </a:r>
          </a:p>
          <a:p>
            <a:pPr marL="0" indent="0">
              <a:buNone/>
            </a:pPr>
            <a:r>
              <a:rPr lang="en-GB" sz="1400" b="1" cap="all" dirty="0"/>
              <a:t>Who Can Apply?</a:t>
            </a:r>
            <a:endParaRPr lang="en-GB" sz="1400" dirty="0"/>
          </a:p>
          <a:p>
            <a:pPr>
              <a:buFont typeface="Wingdings" panose="05000000000000000000" pitchFamily="2" charset="2"/>
              <a:buChar char="ü"/>
            </a:pPr>
            <a:r>
              <a:rPr lang="en-GB" sz="1400" dirty="0" err="1"/>
              <a:t>Emaswati</a:t>
            </a:r>
            <a:endParaRPr lang="en-GB" sz="1400" dirty="0"/>
          </a:p>
          <a:p>
            <a:pPr>
              <a:buFont typeface="Wingdings" panose="05000000000000000000" pitchFamily="2" charset="2"/>
              <a:buChar char="ü"/>
            </a:pPr>
            <a:r>
              <a:rPr lang="en-GB" sz="1400" dirty="0"/>
              <a:t>Local MSMEs, involved in the production of any products or offering services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sz="1400" dirty="0"/>
              <a:t>Local MSME producers who are willing to increase   production to meet export  quota requirements by local and regional markets, through compliance with certification requirements </a:t>
            </a:r>
          </a:p>
          <a:p>
            <a:endParaRPr lang="en-ZA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0F82CA-3538-23B9-F07A-791127665842}"/>
              </a:ext>
            </a:extLst>
          </p:cNvPr>
          <p:cNvSpPr txBox="1"/>
          <p:nvPr/>
        </p:nvSpPr>
        <p:spPr>
          <a:xfrm>
            <a:off x="2935956" y="217949"/>
            <a:ext cx="6100916" cy="1008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ct val="119000"/>
              </a:lnSpc>
              <a:spcAft>
                <a:spcPts val="600"/>
              </a:spcAft>
              <a:buNone/>
            </a:pPr>
            <a:r>
              <a:rPr lang="en-GB" sz="1800" b="1" kern="5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Are you a local producer looking to enhance the quality and marketability of your products? </a:t>
            </a:r>
            <a:endParaRPr lang="en-GB" sz="1050" kern="140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0" marR="0" indent="0" algn="l">
              <a:lnSpc>
                <a:spcPct val="119000"/>
              </a:lnSpc>
              <a:spcAft>
                <a:spcPts val="600"/>
              </a:spcAft>
              <a:buNone/>
            </a:pPr>
            <a:r>
              <a:rPr lang="en-GB" sz="1050" kern="140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055569-4942-5D27-A50D-17A8B69ED258}"/>
              </a:ext>
            </a:extLst>
          </p:cNvPr>
          <p:cNvSpPr txBox="1"/>
          <p:nvPr/>
        </p:nvSpPr>
        <p:spPr>
          <a:xfrm>
            <a:off x="2372003" y="4769114"/>
            <a:ext cx="8044939" cy="2334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19000"/>
              </a:lnSpc>
              <a:spcAft>
                <a:spcPts val="600"/>
              </a:spcAft>
              <a:buNone/>
            </a:pPr>
            <a:r>
              <a:rPr lang="en-GB" sz="1400" b="1" kern="50" cap="all" dirty="0">
                <a:ln>
                  <a:noFill/>
                </a:ln>
                <a:solidFill>
                  <a:srgbClr val="000000"/>
                </a:solidFill>
                <a:effectLst/>
              </a:rPr>
              <a:t>How to Apply:</a:t>
            </a:r>
            <a:endParaRPr lang="en-GB" sz="1400" kern="140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indent="0" algn="l">
              <a:lnSpc>
                <a:spcPct val="119000"/>
              </a:lnSpc>
              <a:spcAft>
                <a:spcPts val="600"/>
              </a:spcAft>
              <a:buNone/>
            </a:pPr>
            <a:r>
              <a:rPr lang="en-GB" sz="1400" kern="50" dirty="0">
                <a:ln>
                  <a:noFill/>
                </a:ln>
                <a:solidFill>
                  <a:srgbClr val="000000"/>
                </a:solidFill>
                <a:effectLst/>
              </a:rPr>
              <a:t>Visit: </a:t>
            </a:r>
            <a:r>
              <a:rPr lang="en-GB" sz="1400" u="sng" kern="50" dirty="0">
                <a:ln>
                  <a:noFill/>
                </a:ln>
                <a:solidFill>
                  <a:srgbClr val="085296"/>
                </a:solidFill>
                <a:effectLst/>
                <a:hlinkClick r:id="rId7"/>
              </a:rPr>
              <a:t>www.swasa.co.sz</a:t>
            </a:r>
            <a:r>
              <a:rPr lang="en-GB" sz="1400" kern="50" dirty="0">
                <a:ln>
                  <a:noFill/>
                </a:ln>
                <a:solidFill>
                  <a:srgbClr val="000000"/>
                </a:solidFill>
                <a:effectLst/>
              </a:rPr>
              <a:t> and download the Ingelo application form. </a:t>
            </a:r>
            <a:endParaRPr lang="en-GB" sz="1400" kern="140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indent="0" algn="l">
              <a:lnSpc>
                <a:spcPct val="119000"/>
              </a:lnSpc>
              <a:spcAft>
                <a:spcPts val="600"/>
              </a:spcAft>
              <a:buNone/>
            </a:pPr>
            <a:r>
              <a:rPr lang="en-GB" sz="1400" kern="50" dirty="0">
                <a:ln>
                  <a:noFill/>
                </a:ln>
                <a:solidFill>
                  <a:srgbClr val="000000"/>
                </a:solidFill>
                <a:effectLst/>
              </a:rPr>
              <a:t>Completed application forms must be sent to </a:t>
            </a:r>
            <a:r>
              <a:rPr lang="en-GB" sz="1400" u="sng" kern="100" dirty="0">
                <a:ln>
                  <a:noFill/>
                </a:ln>
                <a:solidFill>
                  <a:srgbClr val="085296"/>
                </a:solidFill>
                <a:effectLst/>
                <a:hlinkClick r:id="rId8"/>
              </a:rPr>
              <a:t>sgama@swasa.co.sz</a:t>
            </a:r>
            <a:r>
              <a:rPr lang="en-GB" sz="1400" kern="100" dirty="0">
                <a:ln>
                  <a:noFill/>
                </a:ln>
                <a:solidFill>
                  <a:srgbClr val="000000"/>
                </a:solidFill>
                <a:effectLst/>
              </a:rPr>
              <a:t> </a:t>
            </a:r>
            <a:r>
              <a:rPr lang="en-GB" sz="1400" kern="50" dirty="0">
                <a:ln>
                  <a:noFill/>
                </a:ln>
                <a:solidFill>
                  <a:srgbClr val="000000"/>
                </a:solidFill>
                <a:effectLst/>
              </a:rPr>
              <a:t> or hand delivered to; </a:t>
            </a:r>
            <a:endParaRPr lang="en-GB" sz="1400" kern="140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indent="0" algn="l">
              <a:lnSpc>
                <a:spcPct val="119000"/>
              </a:lnSpc>
              <a:spcAft>
                <a:spcPts val="600"/>
              </a:spcAft>
              <a:buNone/>
            </a:pPr>
            <a:r>
              <a:rPr lang="en-GB" sz="1400" kern="1400" dirty="0">
                <a:ln>
                  <a:noFill/>
                </a:ln>
                <a:solidFill>
                  <a:srgbClr val="000000"/>
                </a:solidFill>
                <a:effectLst/>
              </a:rPr>
              <a:t>Eswatini Standards Authority - ESWASA</a:t>
            </a:r>
          </a:p>
          <a:p>
            <a:pPr marL="0" marR="0" indent="0" algn="l">
              <a:lnSpc>
                <a:spcPct val="119000"/>
              </a:lnSpc>
              <a:spcAft>
                <a:spcPts val="600"/>
              </a:spcAft>
              <a:buNone/>
            </a:pPr>
            <a:r>
              <a:rPr lang="en-GB" sz="1400" kern="1400" dirty="0">
                <a:ln>
                  <a:noFill/>
                </a:ln>
                <a:solidFill>
                  <a:srgbClr val="000000"/>
                </a:solidFill>
                <a:effectLst/>
              </a:rPr>
              <a:t>Plot 247, Marbel Construction, </a:t>
            </a:r>
          </a:p>
          <a:p>
            <a:pPr marL="0" marR="0" indent="0" algn="l">
              <a:lnSpc>
                <a:spcPct val="119000"/>
              </a:lnSpc>
              <a:spcAft>
                <a:spcPts val="600"/>
              </a:spcAft>
              <a:buNone/>
            </a:pPr>
            <a:r>
              <a:rPr lang="en-GB" sz="1400" kern="1400" dirty="0">
                <a:ln>
                  <a:noFill/>
                </a:ln>
                <a:solidFill>
                  <a:srgbClr val="000000"/>
                </a:solidFill>
                <a:effectLst/>
              </a:rPr>
              <a:t>King Mswati III Avenue, Matsapha Industrial Site </a:t>
            </a:r>
          </a:p>
          <a:p>
            <a:pPr marL="0" marR="0" indent="0" algn="l">
              <a:lnSpc>
                <a:spcPct val="119000"/>
              </a:lnSpc>
              <a:spcAft>
                <a:spcPts val="600"/>
              </a:spcAft>
              <a:buNone/>
            </a:pPr>
            <a:r>
              <a:rPr lang="en-GB" sz="1400" kern="1400" dirty="0">
                <a:ln>
                  <a:noFill/>
                </a:ln>
                <a:solidFill>
                  <a:srgbClr val="000000"/>
                </a:solidFill>
                <a:effectLst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638344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E9438-745D-3913-E227-E81B676F0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EAF678A-927B-92DC-35E0-304703F7FBB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4093" y="5286619"/>
            <a:ext cx="2456472" cy="1584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D8519CA-F5D1-9BF5-F6D4-C6F3CBC56894}"/>
              </a:ext>
            </a:extLst>
          </p:cNvPr>
          <p:cNvSpPr/>
          <p:nvPr/>
        </p:nvSpPr>
        <p:spPr>
          <a:xfrm>
            <a:off x="1730042" y="620762"/>
            <a:ext cx="7002686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chemeClr val="tx1"/>
                </a:solidFill>
                <a:latin typeface="Garamond" panose="02020404030301010803" pitchFamily="18" charset="0"/>
              </a:rPr>
              <a:t>Benefits of the Ingelo Certification Scheme</a:t>
            </a:r>
          </a:p>
          <a:p>
            <a:endParaRPr lang="en-ZA" sz="2800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5D5389A-8B82-EAC6-2866-F09F6912B9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38"/>
            <a:ext cx="1080000" cy="1080000"/>
          </a:xfrm>
          <a:prstGeom prst="rect">
            <a:avLst/>
          </a:prstGeom>
        </p:spPr>
      </p:pic>
      <p:sp>
        <p:nvSpPr>
          <p:cNvPr id="13" name="Text Box 2">
            <a:extLst>
              <a:ext uri="{FF2B5EF4-FFF2-40B4-BE49-F238E27FC236}">
                <a16:creationId xmlns:a16="http://schemas.microsoft.com/office/drawing/2014/main" id="{B1218FC4-8347-6277-B8AA-70E808FDB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7111" y="6550060"/>
            <a:ext cx="2527722" cy="307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E3191"/>
                </a:solidFill>
                <a:effectLst/>
                <a:latin typeface="BankGothic Lt BT" panose="020B0607020203060204" pitchFamily="34" charset="0"/>
              </a:rPr>
              <a:t>#ImprovingTheWorldWeLiveIn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5" descr="social-media-logos-facebook-twitter-instagram-youtube-flickr-vector-pg-transparent-background-high-resolution-linkedin-googleplus-210299554">
            <a:extLst>
              <a:ext uri="{FF2B5EF4-FFF2-40B4-BE49-F238E27FC236}">
                <a16:creationId xmlns:a16="http://schemas.microsoft.com/office/drawing/2014/main" id="{56EE6588-40E8-A2B9-CB23-DD5ED939A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78" t="8835" r="39842" b="71758"/>
          <a:stretch>
            <a:fillRect/>
          </a:stretch>
        </p:blipFill>
        <p:spPr bwMode="auto">
          <a:xfrm>
            <a:off x="11587144" y="6622626"/>
            <a:ext cx="1778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pic>
        <p:nvPicPr>
          <p:cNvPr id="15" name="Picture 6" descr="social-media-logos-facebook-twitter-instagram-youtube-flickr-vector-pg-transparent-background-high-resolution-linkedin-googleplus-210299554">
            <a:extLst>
              <a:ext uri="{FF2B5EF4-FFF2-40B4-BE49-F238E27FC236}">
                <a16:creationId xmlns:a16="http://schemas.microsoft.com/office/drawing/2014/main" id="{F0462847-92C7-69E1-1B80-BB1C84E78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4" t="34485" r="4137" b="46553"/>
          <a:stretch>
            <a:fillRect/>
          </a:stretch>
        </p:blipFill>
        <p:spPr bwMode="auto">
          <a:xfrm>
            <a:off x="11828214" y="6622626"/>
            <a:ext cx="18415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AE713BE-3B75-9341-B4D2-F4A5C9EDBDBA}"/>
              </a:ext>
            </a:extLst>
          </p:cNvPr>
          <p:cNvCxnSpPr/>
          <p:nvPr/>
        </p:nvCxnSpPr>
        <p:spPr>
          <a:xfrm>
            <a:off x="6690247" y="6674604"/>
            <a:ext cx="2160000" cy="0"/>
          </a:xfrm>
          <a:prstGeom prst="line">
            <a:avLst/>
          </a:prstGeom>
          <a:ln w="28575">
            <a:solidFill>
              <a:srgbClr val="2E31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872FC79-FAF5-C00B-26B3-A43B11031E16}"/>
              </a:ext>
            </a:extLst>
          </p:cNvPr>
          <p:cNvSpPr/>
          <p:nvPr/>
        </p:nvSpPr>
        <p:spPr>
          <a:xfrm>
            <a:off x="1996965" y="1220444"/>
            <a:ext cx="6120000" cy="72000"/>
          </a:xfrm>
          <a:prstGeom prst="homePlate">
            <a:avLst/>
          </a:prstGeom>
          <a:solidFill>
            <a:srgbClr val="004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C9F465-D674-9958-9201-BB9FA1122F54}"/>
              </a:ext>
            </a:extLst>
          </p:cNvPr>
          <p:cNvSpPr/>
          <p:nvPr/>
        </p:nvSpPr>
        <p:spPr>
          <a:xfrm>
            <a:off x="0" y="5286619"/>
            <a:ext cx="2946400" cy="15713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237E4-685C-9F52-0FFF-8D417F78E1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5409" y="1505617"/>
            <a:ext cx="10921181" cy="4580551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Aptos" panose="020B0004020202020204" pitchFamily="34" charset="0"/>
              </a:rPr>
              <a:t>Improved product quality and safety</a:t>
            </a:r>
          </a:p>
          <a:p>
            <a:pPr marL="0" indent="0">
              <a:buNone/>
            </a:pPr>
            <a:endParaRPr lang="en-GB" sz="2400" dirty="0">
              <a:latin typeface="Aptos" panose="020B0004020202020204" pitchFamily="34" charset="0"/>
            </a:endParaRPr>
          </a:p>
          <a:p>
            <a:r>
              <a:rPr lang="en-GB" sz="2400" dirty="0">
                <a:latin typeface="Aptos" panose="020B0004020202020204" pitchFamily="34" charset="0"/>
              </a:rPr>
              <a:t>Increased access to local markets and readiness of regional markets</a:t>
            </a:r>
          </a:p>
          <a:p>
            <a:pPr marL="0" indent="0">
              <a:buNone/>
            </a:pPr>
            <a:endParaRPr lang="en-GB" sz="2400" dirty="0">
              <a:latin typeface="Aptos" panose="020B0004020202020204" pitchFamily="34" charset="0"/>
            </a:endParaRPr>
          </a:p>
          <a:p>
            <a:r>
              <a:rPr lang="en-GB" sz="2400" dirty="0">
                <a:latin typeface="Aptos" panose="020B0004020202020204" pitchFamily="34" charset="0"/>
              </a:rPr>
              <a:t>Recognition through the ESWASA-approved Mark</a:t>
            </a:r>
          </a:p>
          <a:p>
            <a:pPr marL="0" indent="0">
              <a:buNone/>
            </a:pPr>
            <a:endParaRPr lang="en-GB" sz="2400" dirty="0">
              <a:latin typeface="Aptos" panose="020B0004020202020204" pitchFamily="34" charset="0"/>
            </a:endParaRPr>
          </a:p>
          <a:p>
            <a:r>
              <a:rPr lang="en-GB" sz="2400" dirty="0">
                <a:latin typeface="Aptos" panose="020B0004020202020204" pitchFamily="34" charset="0"/>
              </a:rPr>
              <a:t>Technical support during the certification process</a:t>
            </a:r>
          </a:p>
          <a:p>
            <a:pPr marL="0" indent="0">
              <a:buNone/>
            </a:pPr>
            <a:endParaRPr lang="en-GB" sz="2400" dirty="0">
              <a:latin typeface="Aptos" panose="020B0004020202020204" pitchFamily="34" charset="0"/>
            </a:endParaRPr>
          </a:p>
          <a:p>
            <a:r>
              <a:rPr lang="en-GB" sz="2400" dirty="0">
                <a:latin typeface="Aptos" panose="020B0004020202020204" pitchFamily="34" charset="0"/>
              </a:rPr>
              <a:t>Visit </a:t>
            </a:r>
            <a:r>
              <a:rPr lang="en-GB" sz="2400" dirty="0">
                <a:latin typeface="Aptos" panose="020B0004020202020204" pitchFamily="34" charset="0"/>
                <a:hlinkClick r:id="rId6"/>
              </a:rPr>
              <a:t>www.swasa.co.sz</a:t>
            </a:r>
            <a:r>
              <a:rPr lang="en-GB" sz="2400" dirty="0">
                <a:latin typeface="Aptos" panose="020B0004020202020204" pitchFamily="34" charset="0"/>
              </a:rPr>
              <a:t> download form and send completed form to </a:t>
            </a:r>
            <a:r>
              <a:rPr lang="en-GB" sz="2400" dirty="0">
                <a:latin typeface="Aptos" panose="020B0004020202020204" pitchFamily="34" charset="0"/>
                <a:hlinkClick r:id="rId7"/>
              </a:rPr>
              <a:t>sgama@swasa.co.sz</a:t>
            </a:r>
            <a:r>
              <a:rPr lang="en-GB" sz="2400" dirty="0">
                <a:latin typeface="Aptos" panose="020B0004020202020204" pitchFamily="34" charset="0"/>
              </a:rPr>
              <a:t> or hand deliver to ESWASA offices</a:t>
            </a:r>
          </a:p>
        </p:txBody>
      </p:sp>
    </p:spTree>
    <p:extLst>
      <p:ext uri="{BB962C8B-B14F-4D97-AF65-F5344CB8AC3E}">
        <p14:creationId xmlns:p14="http://schemas.microsoft.com/office/powerpoint/2010/main" val="2817902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54913-4F2F-B9E5-77DD-917CC0F35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71AA2A7-B825-461D-4ACA-C35DC190838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4093" y="5286619"/>
            <a:ext cx="2456472" cy="1584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AD17DF-A8B1-2CA8-B85A-4519F0D2B72A}"/>
              </a:ext>
            </a:extLst>
          </p:cNvPr>
          <p:cNvSpPr/>
          <p:nvPr/>
        </p:nvSpPr>
        <p:spPr>
          <a:xfrm>
            <a:off x="1297860" y="814389"/>
            <a:ext cx="6634315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chemeClr val="tx1"/>
                </a:solidFill>
                <a:latin typeface="Garamond" panose="02020404030301010803" pitchFamily="18" charset="0"/>
              </a:rPr>
              <a:t>Benefits of Certification</a:t>
            </a:r>
          </a:p>
          <a:p>
            <a:endParaRPr lang="en-ZA" sz="2800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F25180-2083-9005-3BBC-B17CDBE73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38"/>
            <a:ext cx="1080000" cy="1080000"/>
          </a:xfrm>
          <a:prstGeom prst="rect">
            <a:avLst/>
          </a:prstGeom>
        </p:spPr>
      </p:pic>
      <p:sp>
        <p:nvSpPr>
          <p:cNvPr id="13" name="Text Box 2">
            <a:extLst>
              <a:ext uri="{FF2B5EF4-FFF2-40B4-BE49-F238E27FC236}">
                <a16:creationId xmlns:a16="http://schemas.microsoft.com/office/drawing/2014/main" id="{7B86BF0C-831B-2521-35A9-C79F4058C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7111" y="6550060"/>
            <a:ext cx="2527722" cy="307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E3191"/>
                </a:solidFill>
                <a:effectLst/>
                <a:latin typeface="BankGothic Lt BT" panose="020B0607020203060204" pitchFamily="34" charset="0"/>
              </a:rPr>
              <a:t>#ImprovingTheWorldWeLiveIn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5" descr="social-media-logos-facebook-twitter-instagram-youtube-flickr-vector-pg-transparent-background-high-resolution-linkedin-googleplus-210299554">
            <a:extLst>
              <a:ext uri="{FF2B5EF4-FFF2-40B4-BE49-F238E27FC236}">
                <a16:creationId xmlns:a16="http://schemas.microsoft.com/office/drawing/2014/main" id="{DD2B198F-7611-3D24-C886-DD597A4C8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78" t="8835" r="39842" b="71758"/>
          <a:stretch>
            <a:fillRect/>
          </a:stretch>
        </p:blipFill>
        <p:spPr bwMode="auto">
          <a:xfrm>
            <a:off x="11587144" y="6622626"/>
            <a:ext cx="1778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pic>
        <p:nvPicPr>
          <p:cNvPr id="15" name="Picture 6" descr="social-media-logos-facebook-twitter-instagram-youtube-flickr-vector-pg-transparent-background-high-resolution-linkedin-googleplus-210299554">
            <a:extLst>
              <a:ext uri="{FF2B5EF4-FFF2-40B4-BE49-F238E27FC236}">
                <a16:creationId xmlns:a16="http://schemas.microsoft.com/office/drawing/2014/main" id="{1ED09F02-46DD-D4F1-5556-D0A153E0A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4" t="34485" r="4137" b="46553"/>
          <a:stretch>
            <a:fillRect/>
          </a:stretch>
        </p:blipFill>
        <p:spPr bwMode="auto">
          <a:xfrm>
            <a:off x="11828214" y="6622626"/>
            <a:ext cx="18415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883DD45-1A3C-CD8E-BA26-3BEC959E1F20}"/>
              </a:ext>
            </a:extLst>
          </p:cNvPr>
          <p:cNvCxnSpPr/>
          <p:nvPr/>
        </p:nvCxnSpPr>
        <p:spPr>
          <a:xfrm>
            <a:off x="6690247" y="6674604"/>
            <a:ext cx="2160000" cy="0"/>
          </a:xfrm>
          <a:prstGeom prst="line">
            <a:avLst/>
          </a:prstGeom>
          <a:ln w="28575">
            <a:solidFill>
              <a:srgbClr val="2E31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D48D3BF3-AEA3-8D6F-AF3A-5B0A378D4327}"/>
              </a:ext>
            </a:extLst>
          </p:cNvPr>
          <p:cNvSpPr/>
          <p:nvPr/>
        </p:nvSpPr>
        <p:spPr>
          <a:xfrm>
            <a:off x="1471009" y="1291984"/>
            <a:ext cx="3600000" cy="72000"/>
          </a:xfrm>
          <a:prstGeom prst="homePlate">
            <a:avLst/>
          </a:prstGeom>
          <a:solidFill>
            <a:srgbClr val="004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DA3F9D-644F-E707-DBFA-3BEEFD9BE1F2}"/>
              </a:ext>
            </a:extLst>
          </p:cNvPr>
          <p:cNvSpPr txBox="1"/>
          <p:nvPr/>
        </p:nvSpPr>
        <p:spPr>
          <a:xfrm>
            <a:off x="427056" y="1323890"/>
            <a:ext cx="8846260" cy="5349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Market Access &amp; Growth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Many markets and industries mandate certifications as a condition for entry.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Having recognised certifications reduces trade barriers and opens global opportunities.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Certified products and systems help SMEs qualify corporate supply chains.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Customer Trust &amp; Brand Value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Certifications provide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independent validation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, signalling reliability and safety to customers.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They strengthen brand reputation and can differentiate SMEs from uncertified competitors.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Trust built through certifications often translates into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customer loyalty and premium pricing power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.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Risk Management &amp; Compliance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Certifications help SMEs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minimise legal and regulatory risks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.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They serve as documented proof of compliance in case of disputes, audits, or liability claims.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They embed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continuous improvement systems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that keep SMEs competitive and resilient.</a:t>
            </a:r>
          </a:p>
        </p:txBody>
      </p:sp>
      <p:pic>
        <p:nvPicPr>
          <p:cNvPr id="6" name="Picture 5" descr="A person holding a bottle of juice&#10;&#10;AI-generated content may be incorrect.">
            <a:extLst>
              <a:ext uri="{FF2B5EF4-FFF2-40B4-BE49-F238E27FC236}">
                <a16:creationId xmlns:a16="http://schemas.microsoft.com/office/drawing/2014/main" id="{75B01739-6731-871A-951F-D9C75DC5C82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364" y="1728789"/>
            <a:ext cx="3510000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111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2D1C7-6354-CE53-59CE-AD7C20F70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AC130F-91F6-8475-AD29-6A8E141B215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4093" y="5286619"/>
            <a:ext cx="2456472" cy="1584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0783200-5B48-C33B-5CA9-0DEB0CAEFC38}"/>
              </a:ext>
            </a:extLst>
          </p:cNvPr>
          <p:cNvSpPr/>
          <p:nvPr/>
        </p:nvSpPr>
        <p:spPr>
          <a:xfrm>
            <a:off x="1297860" y="814389"/>
            <a:ext cx="6634315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chemeClr val="tx1"/>
                </a:solidFill>
                <a:latin typeface="Garamond" panose="02020404030301010803" pitchFamily="18" charset="0"/>
              </a:rPr>
              <a:t>Benefits of Certification</a:t>
            </a:r>
          </a:p>
          <a:p>
            <a:endParaRPr lang="en-ZA" sz="2800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42838F-7DA9-32DF-3DED-920C340D51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38"/>
            <a:ext cx="1080000" cy="1080000"/>
          </a:xfrm>
          <a:prstGeom prst="rect">
            <a:avLst/>
          </a:prstGeom>
        </p:spPr>
      </p:pic>
      <p:sp>
        <p:nvSpPr>
          <p:cNvPr id="13" name="Text Box 2">
            <a:extLst>
              <a:ext uri="{FF2B5EF4-FFF2-40B4-BE49-F238E27FC236}">
                <a16:creationId xmlns:a16="http://schemas.microsoft.com/office/drawing/2014/main" id="{2E24F0AB-CE8F-CD9E-462F-5E68A82E2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7111" y="6550060"/>
            <a:ext cx="2527722" cy="307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E3191"/>
                </a:solidFill>
                <a:effectLst/>
                <a:latin typeface="BankGothic Lt BT" panose="020B0607020203060204" pitchFamily="34" charset="0"/>
              </a:rPr>
              <a:t>#ImprovingTheWorldWeLiveIn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5" descr="social-media-logos-facebook-twitter-instagram-youtube-flickr-vector-pg-transparent-background-high-resolution-linkedin-googleplus-210299554">
            <a:extLst>
              <a:ext uri="{FF2B5EF4-FFF2-40B4-BE49-F238E27FC236}">
                <a16:creationId xmlns:a16="http://schemas.microsoft.com/office/drawing/2014/main" id="{5492EB31-6431-C640-94D8-912756365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78" t="8835" r="39842" b="71758"/>
          <a:stretch>
            <a:fillRect/>
          </a:stretch>
        </p:blipFill>
        <p:spPr bwMode="auto">
          <a:xfrm>
            <a:off x="11587144" y="6622626"/>
            <a:ext cx="1778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pic>
        <p:nvPicPr>
          <p:cNvPr id="15" name="Picture 6" descr="social-media-logos-facebook-twitter-instagram-youtube-flickr-vector-pg-transparent-background-high-resolution-linkedin-googleplus-210299554">
            <a:extLst>
              <a:ext uri="{FF2B5EF4-FFF2-40B4-BE49-F238E27FC236}">
                <a16:creationId xmlns:a16="http://schemas.microsoft.com/office/drawing/2014/main" id="{F704F829-E98D-5923-2472-DF0955E0A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4" t="34485" r="4137" b="46553"/>
          <a:stretch>
            <a:fillRect/>
          </a:stretch>
        </p:blipFill>
        <p:spPr bwMode="auto">
          <a:xfrm>
            <a:off x="11828214" y="6622626"/>
            <a:ext cx="18415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0106B94-0C5F-74DD-1FE4-188D2DEEF884}"/>
              </a:ext>
            </a:extLst>
          </p:cNvPr>
          <p:cNvCxnSpPr/>
          <p:nvPr/>
        </p:nvCxnSpPr>
        <p:spPr>
          <a:xfrm>
            <a:off x="6690247" y="6674604"/>
            <a:ext cx="2160000" cy="0"/>
          </a:xfrm>
          <a:prstGeom prst="line">
            <a:avLst/>
          </a:prstGeom>
          <a:ln w="28575">
            <a:solidFill>
              <a:srgbClr val="2E31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333B9556-7FC2-473B-943A-1E35C903F890}"/>
              </a:ext>
            </a:extLst>
          </p:cNvPr>
          <p:cNvSpPr/>
          <p:nvPr/>
        </p:nvSpPr>
        <p:spPr>
          <a:xfrm>
            <a:off x="1471009" y="1291984"/>
            <a:ext cx="3600000" cy="72000"/>
          </a:xfrm>
          <a:prstGeom prst="homePlate">
            <a:avLst/>
          </a:prstGeom>
          <a:solidFill>
            <a:srgbClr val="004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F185145-7FA0-4E68-AE95-BB17EFBC9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56" y="1672439"/>
            <a:ext cx="7636804" cy="4351338"/>
          </a:xfrm>
        </p:spPr>
        <p:txBody>
          <a:bodyPr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Financing &amp; Investment Appeal</a:t>
            </a:r>
          </a:p>
          <a:p>
            <a:pPr marL="228600" marR="0" lvl="0" indent="-228600" algn="l" defTabSz="914400" rtl="0" eaLnBrk="1" fontAlgn="auto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Investors and lenders increasingly assess 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intangibles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when evaluating SMEs.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Certifications add credibility to business operations, boosting investor confidence.</a:t>
            </a:r>
          </a:p>
          <a:p>
            <a:pPr marL="228600" marR="0" lvl="0" indent="-228600" algn="l" defTabSz="914400" rtl="0" eaLnBrk="1" fontAlgn="auto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They can enhance company valuation during funding rounds or M&amp;A activity.</a:t>
            </a:r>
          </a:p>
          <a:p>
            <a:pPr marL="228600" marR="0" lvl="0" indent="-228600" algn="l" defTabSz="914400" rtl="0" eaLnBrk="1" fontAlgn="auto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Building Long-Term Competitive Advantage</a:t>
            </a:r>
          </a:p>
          <a:p>
            <a:pPr marL="228600" marR="0" lvl="0" indent="-228600" algn="l" defTabSz="914400" rtl="0" eaLnBrk="1" fontAlgn="auto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Unlike machinery or stock, certifications 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don’t depreciate overnight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—they compound business credibility over time.</a:t>
            </a:r>
          </a:p>
          <a:p>
            <a:pPr marL="228600" marR="0" lvl="0" indent="-228600" algn="l" defTabSz="914400" rtl="0" eaLnBrk="1" fontAlgn="auto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When integrated into IP and brand strategy, certifications become part of the SME’s 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unique intangible asset portfolio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.</a:t>
            </a:r>
            <a:endParaRPr lang="en-ZA" sz="1600" dirty="0"/>
          </a:p>
        </p:txBody>
      </p:sp>
      <p:pic>
        <p:nvPicPr>
          <p:cNvPr id="20" name="Picture 19" descr="A person holding a basket of lettuce&#10;&#10;AI-generated content may be incorrect.">
            <a:extLst>
              <a:ext uri="{FF2B5EF4-FFF2-40B4-BE49-F238E27FC236}">
                <a16:creationId xmlns:a16="http://schemas.microsoft.com/office/drawing/2014/main" id="{BB9CA090-C640-8236-0D30-770ECD79839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0289" y="3467922"/>
            <a:ext cx="3600000" cy="2555855"/>
          </a:xfrm>
          <a:prstGeom prst="rect">
            <a:avLst/>
          </a:prstGeom>
        </p:spPr>
      </p:pic>
      <p:pic>
        <p:nvPicPr>
          <p:cNvPr id="21" name="Picture 3">
            <a:extLst>
              <a:ext uri="{FF2B5EF4-FFF2-40B4-BE49-F238E27FC236}">
                <a16:creationId xmlns:a16="http://schemas.microsoft.com/office/drawing/2014/main" id="{4060953F-7FB2-BE44-A698-E05C120AB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0247" y="537962"/>
            <a:ext cx="4293836" cy="27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7925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88CF521A-2AD0-4BA6-A488-D85B5500AC59}"/>
              </a:ext>
            </a:extLst>
          </p:cNvPr>
          <p:cNvGrpSpPr/>
          <p:nvPr/>
        </p:nvGrpSpPr>
        <p:grpSpPr>
          <a:xfrm>
            <a:off x="129799" y="1033456"/>
            <a:ext cx="4314882" cy="2385194"/>
            <a:chOff x="98980" y="1018198"/>
            <a:chExt cx="4314882" cy="2385194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3BED2E2C-53D1-4CDE-830A-2CCE42B8BB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980" y="1307892"/>
              <a:ext cx="2095500" cy="2095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D178BB1-F50F-455C-933B-52CDF1D1553D}"/>
                </a:ext>
              </a:extLst>
            </p:cNvPr>
            <p:cNvSpPr txBox="1"/>
            <p:nvPr/>
          </p:nvSpPr>
          <p:spPr>
            <a:xfrm>
              <a:off x="222955" y="1018198"/>
              <a:ext cx="4190907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SZNS 025: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Poultry processing- Hygiene requirements</a:t>
              </a:r>
              <a:endParaRPr kumimoji="0" lang="aa-ET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268E2E-0A13-47B4-A9D4-E5B6960ADEF2}"/>
              </a:ext>
            </a:extLst>
          </p:cNvPr>
          <p:cNvGrpSpPr/>
          <p:nvPr/>
        </p:nvGrpSpPr>
        <p:grpSpPr>
          <a:xfrm>
            <a:off x="8091198" y="4574438"/>
            <a:ext cx="4100802" cy="1833562"/>
            <a:chOff x="7846635" y="4410836"/>
            <a:chExt cx="4100802" cy="1833562"/>
          </a:xfrm>
        </p:grpSpPr>
        <p:pic>
          <p:nvPicPr>
            <p:cNvPr id="1028" name="Picture 4" descr="Animal feed supplement - SuperMix - Agrofeed - cattle / vitamin / calcium">
              <a:extLst>
                <a:ext uri="{FF2B5EF4-FFF2-40B4-BE49-F238E27FC236}">
                  <a16:creationId xmlns:a16="http://schemas.microsoft.com/office/drawing/2014/main" id="{052A0808-AC6F-4B6E-8FE1-8FFA4F52ED5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3250" r="13338"/>
            <a:stretch>
              <a:fillRect/>
            </a:stretch>
          </p:blipFill>
          <p:spPr bwMode="auto">
            <a:xfrm>
              <a:off x="10601368" y="4410836"/>
              <a:ext cx="1346069" cy="18335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01F1512-DC09-4FC0-88E8-56D1DEAE812B}"/>
                </a:ext>
              </a:extLst>
            </p:cNvPr>
            <p:cNvSpPr txBox="1"/>
            <p:nvPr/>
          </p:nvSpPr>
          <p:spPr>
            <a:xfrm>
              <a:off x="7846635" y="5285723"/>
              <a:ext cx="258914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SZNS 031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:cattle feeds- specification</a:t>
              </a:r>
              <a:endParaRPr kumimoji="0" lang="aa-ET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60D5A76-B8BA-4372-AC42-3CA62963C48F}"/>
              </a:ext>
            </a:extLst>
          </p:cNvPr>
          <p:cNvGrpSpPr/>
          <p:nvPr/>
        </p:nvGrpSpPr>
        <p:grpSpPr>
          <a:xfrm>
            <a:off x="281681" y="4827019"/>
            <a:ext cx="4999092" cy="1569660"/>
            <a:chOff x="268231" y="5017705"/>
            <a:chExt cx="5979497" cy="1569660"/>
          </a:xfrm>
        </p:grpSpPr>
        <p:pic>
          <p:nvPicPr>
            <p:cNvPr id="1030" name="Picture 6" descr="Buy Fresh Baby Marrow in Dubai &amp; UAE online - Free Same Day Delivery">
              <a:extLst>
                <a:ext uri="{FF2B5EF4-FFF2-40B4-BE49-F238E27FC236}">
                  <a16:creationId xmlns:a16="http://schemas.microsoft.com/office/drawing/2014/main" id="{2E795DEF-348A-4B59-A0EC-1F3EEDD1F0C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1485" b="20757"/>
            <a:stretch>
              <a:fillRect/>
            </a:stretch>
          </p:blipFill>
          <p:spPr bwMode="auto">
            <a:xfrm>
              <a:off x="268231" y="5349539"/>
              <a:ext cx="2143125" cy="12378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7B5F743-2D82-433C-8266-350A6A0E838F}"/>
                </a:ext>
              </a:extLst>
            </p:cNvPr>
            <p:cNvSpPr txBox="1"/>
            <p:nvPr/>
          </p:nvSpPr>
          <p:spPr>
            <a:xfrm>
              <a:off x="2142463" y="5017705"/>
              <a:ext cx="4105265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SZNS KS 052: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Fresh </a:t>
              </a:r>
              <a:r>
                <a:rPr kumimoji="0" 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Couragettes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/ Baby morrow- Specification and grading</a:t>
              </a:r>
              <a:endParaRPr kumimoji="0" lang="aa-ET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78E5DA9-FD6D-4A25-810D-E681A4422873}"/>
              </a:ext>
            </a:extLst>
          </p:cNvPr>
          <p:cNvGrpSpPr/>
          <p:nvPr/>
        </p:nvGrpSpPr>
        <p:grpSpPr>
          <a:xfrm>
            <a:off x="4419556" y="3493480"/>
            <a:ext cx="3375406" cy="2914520"/>
            <a:chOff x="3061253" y="3658477"/>
            <a:chExt cx="3375406" cy="2914520"/>
          </a:xfrm>
        </p:grpSpPr>
        <p:pic>
          <p:nvPicPr>
            <p:cNvPr id="1032" name="Picture 8" descr="Fertilizer Basics: Organic Fertilizer, NPK Ratio | Gardeners.com">
              <a:extLst>
                <a:ext uri="{FF2B5EF4-FFF2-40B4-BE49-F238E27FC236}">
                  <a16:creationId xmlns:a16="http://schemas.microsoft.com/office/drawing/2014/main" id="{D6786D62-BE46-4249-8FD0-AAEA0D54A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BFBFB"/>
                </a:clrFrom>
                <a:clrTo>
                  <a:srgbClr val="FBFBF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9878" y="4429872"/>
              <a:ext cx="2236781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AD96C81-0B51-49DC-A1E0-59ABA99B6EA3}"/>
                </a:ext>
              </a:extLst>
            </p:cNvPr>
            <p:cNvSpPr txBox="1"/>
            <p:nvPr/>
          </p:nvSpPr>
          <p:spPr>
            <a:xfrm>
              <a:off x="3061253" y="3658477"/>
              <a:ext cx="303640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SZNS 037</a:t>
              </a:r>
              <a:r>
                <a:rPr kumimoji="0" lang="en-GB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: 2Organic fertilizer- Specification</a:t>
              </a:r>
              <a:endParaRPr kumimoji="0" lang="aa-ET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26F8431-6B55-4D78-8B2E-128C904E4441}"/>
              </a:ext>
            </a:extLst>
          </p:cNvPr>
          <p:cNvGrpSpPr/>
          <p:nvPr/>
        </p:nvGrpSpPr>
        <p:grpSpPr>
          <a:xfrm>
            <a:off x="9344633" y="1292452"/>
            <a:ext cx="2847367" cy="1833562"/>
            <a:chOff x="8551896" y="1773592"/>
            <a:chExt cx="3534914" cy="1804974"/>
          </a:xfrm>
        </p:grpSpPr>
        <p:pic>
          <p:nvPicPr>
            <p:cNvPr id="1040" name="Picture 16" descr="Maize Grain Images – Browse 132,377 Stock Photos, Vectors, and Video |  Adobe Stock">
              <a:extLst>
                <a:ext uri="{FF2B5EF4-FFF2-40B4-BE49-F238E27FC236}">
                  <a16:creationId xmlns:a16="http://schemas.microsoft.com/office/drawing/2014/main" id="{D9B0292E-677F-4F5B-B5AB-CC90FF0613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51896" y="2245066"/>
              <a:ext cx="2776891" cy="1333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B278FBF-F7C9-4AE8-8886-726D1CEF5497}"/>
                </a:ext>
              </a:extLst>
            </p:cNvPr>
            <p:cNvSpPr txBox="1"/>
            <p:nvPr/>
          </p:nvSpPr>
          <p:spPr>
            <a:xfrm>
              <a:off x="8657810" y="1773592"/>
              <a:ext cx="34290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SZNS 049: </a:t>
              </a:r>
              <a:r>
                <a:rPr kumimoji="0" lang="fr-FR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Maize grains- Spécification</a:t>
              </a:r>
              <a:endParaRPr kumimoji="0" lang="aa-ET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58D3390-F081-4124-A604-7B556FA7CE29}"/>
              </a:ext>
            </a:extLst>
          </p:cNvPr>
          <p:cNvGrpSpPr/>
          <p:nvPr/>
        </p:nvGrpSpPr>
        <p:grpSpPr>
          <a:xfrm>
            <a:off x="4516992" y="1039259"/>
            <a:ext cx="4217055" cy="1971724"/>
            <a:chOff x="4650164" y="1653312"/>
            <a:chExt cx="4217055" cy="1971724"/>
          </a:xfrm>
        </p:grpSpPr>
        <p:pic>
          <p:nvPicPr>
            <p:cNvPr id="1042" name="Picture 18" descr="Sweet Potatoes For Weight Loss: 12 Reasons Why You Must Include This  Superfood In Your Diet">
              <a:extLst>
                <a:ext uri="{FF2B5EF4-FFF2-40B4-BE49-F238E27FC236}">
                  <a16:creationId xmlns:a16="http://schemas.microsoft.com/office/drawing/2014/main" id="{2BE22BDA-FE6D-4804-8467-29941F3A78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0164" y="2221036"/>
              <a:ext cx="1963929" cy="140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FAEC691-3F4D-429B-8850-D74BD17C0B9B}"/>
                </a:ext>
              </a:extLst>
            </p:cNvPr>
            <p:cNvSpPr txBox="1"/>
            <p:nvPr/>
          </p:nvSpPr>
          <p:spPr>
            <a:xfrm>
              <a:off x="6075821" y="1653312"/>
              <a:ext cx="2791398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SZNS 058: 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Sweet potato- Grading requirements</a:t>
              </a:r>
              <a:endParaRPr kumimoji="0" lang="aa-ET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FC0411C-ABF6-4227-A70A-A82D07EF4680}"/>
              </a:ext>
            </a:extLst>
          </p:cNvPr>
          <p:cNvGrpSpPr/>
          <p:nvPr/>
        </p:nvGrpSpPr>
        <p:grpSpPr>
          <a:xfrm>
            <a:off x="281681" y="2620726"/>
            <a:ext cx="4013945" cy="1860689"/>
            <a:chOff x="303467" y="2386646"/>
            <a:chExt cx="4013945" cy="1860689"/>
          </a:xfrm>
        </p:grpSpPr>
        <p:pic>
          <p:nvPicPr>
            <p:cNvPr id="1038" name="Picture 14" descr="Onion definition and meaning | Collins English Dictionary">
              <a:extLst>
                <a:ext uri="{FF2B5EF4-FFF2-40B4-BE49-F238E27FC236}">
                  <a16:creationId xmlns:a16="http://schemas.microsoft.com/office/drawing/2014/main" id="{9EB97C11-EB68-4334-A250-5BDFD106E9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3663" y="2386646"/>
              <a:ext cx="2153749" cy="14332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4831C52-3229-4F2C-B16D-F096DAB09270}"/>
                </a:ext>
              </a:extLst>
            </p:cNvPr>
            <p:cNvSpPr txBox="1"/>
            <p:nvPr/>
          </p:nvSpPr>
          <p:spPr>
            <a:xfrm>
              <a:off x="303467" y="3416338"/>
              <a:ext cx="315860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SZNS BOS 43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: Onion – Grading requirements</a:t>
              </a:r>
              <a:endParaRPr kumimoji="0" lang="aa-ET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06D5DF6-2B07-4394-8C8D-A96E5D58BDAA}"/>
              </a:ext>
            </a:extLst>
          </p:cNvPr>
          <p:cNvGrpSpPr/>
          <p:nvPr/>
        </p:nvGrpSpPr>
        <p:grpSpPr>
          <a:xfrm>
            <a:off x="8071760" y="3303478"/>
            <a:ext cx="3857319" cy="1913270"/>
            <a:chOff x="8071760" y="3303478"/>
            <a:chExt cx="3857319" cy="1913270"/>
          </a:xfrm>
        </p:grpSpPr>
        <p:pic>
          <p:nvPicPr>
            <p:cNvPr id="1044" name="Picture 20" descr="Building A Better Banana | Science| Smithsonian Magazine">
              <a:extLst>
                <a:ext uri="{FF2B5EF4-FFF2-40B4-BE49-F238E27FC236}">
                  <a16:creationId xmlns:a16="http://schemas.microsoft.com/office/drawing/2014/main" id="{7A61B2D4-C62E-4648-A325-0429FF7D21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722217">
              <a:off x="8071760" y="3303478"/>
              <a:ext cx="2134829" cy="1913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8E58A06-8855-4B68-A25F-4E0811616D13}"/>
                </a:ext>
              </a:extLst>
            </p:cNvPr>
            <p:cNvSpPr txBox="1"/>
            <p:nvPr/>
          </p:nvSpPr>
          <p:spPr>
            <a:xfrm>
              <a:off x="8918866" y="3572414"/>
              <a:ext cx="301021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SZNS 060: 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Banana- Grading Requirements</a:t>
              </a:r>
              <a:endParaRPr kumimoji="0" lang="aa-ET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230910-FA98-C654-BA26-D907604212BE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9849465" cy="7262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>
                <a:solidFill>
                  <a:srgbClr val="13108A"/>
                </a:solidFill>
                <a:latin typeface="Garamond" panose="02020404030301010803" pitchFamily="18" charset="0"/>
              </a:rPr>
              <a:t>STANDARDS AVAILABLE IN ESWASA</a:t>
            </a:r>
            <a:endParaRPr lang="en-ZA" sz="2800" b="1" dirty="0">
              <a:solidFill>
                <a:srgbClr val="13108A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445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 descr="Hannah Smith wins Number One Mageu Art &amp; Soul Competition.">
            <a:extLst>
              <a:ext uri="{FF2B5EF4-FFF2-40B4-BE49-F238E27FC236}">
                <a16:creationId xmlns:a16="http://schemas.microsoft.com/office/drawing/2014/main" id="{EDD28FE5-4A11-47AC-9710-4FF37477EE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151" r="28096" b="4863"/>
          <a:stretch>
            <a:fillRect/>
          </a:stretch>
        </p:blipFill>
        <p:spPr bwMode="auto">
          <a:xfrm>
            <a:off x="9363012" y="835258"/>
            <a:ext cx="1238375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B4D4DCC9-0625-42FE-8D4E-2C6047B27C3B}"/>
              </a:ext>
            </a:extLst>
          </p:cNvPr>
          <p:cNvGrpSpPr/>
          <p:nvPr/>
        </p:nvGrpSpPr>
        <p:grpSpPr>
          <a:xfrm>
            <a:off x="301218" y="3798739"/>
            <a:ext cx="3995437" cy="2520000"/>
            <a:chOff x="-1135995" y="1111549"/>
            <a:chExt cx="3995437" cy="2520000"/>
          </a:xfrm>
        </p:grpSpPr>
        <p:pic>
          <p:nvPicPr>
            <p:cNvPr id="33" name="Picture 4" descr="How to pasteurize milk and should you do it? - Milky Day Blog">
              <a:extLst>
                <a:ext uri="{FF2B5EF4-FFF2-40B4-BE49-F238E27FC236}">
                  <a16:creationId xmlns:a16="http://schemas.microsoft.com/office/drawing/2014/main" id="{6CA1D633-9D93-4EE6-BC1E-BEDBD94F455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68468"/>
            <a:stretch>
              <a:fillRect/>
            </a:stretch>
          </p:blipFill>
          <p:spPr bwMode="auto">
            <a:xfrm>
              <a:off x="-1135995" y="1111549"/>
              <a:ext cx="1071136" cy="25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8FAF1F8-A396-4060-AC29-C5F78D21942D}"/>
                </a:ext>
              </a:extLst>
            </p:cNvPr>
            <p:cNvSpPr txBox="1"/>
            <p:nvPr/>
          </p:nvSpPr>
          <p:spPr>
            <a:xfrm>
              <a:off x="-298718" y="2360500"/>
              <a:ext cx="315816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SZNS SANS 1679</a:t>
              </a:r>
              <a:r>
                <a:rPr kumimoji="0" lang="fr-FR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: 	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Pasteurised</a:t>
              </a:r>
              <a:r>
                <a:rPr kumimoji="0" lang="fr-FR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Milk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A2EFAED-0CA5-4D81-ABD5-7CBD04012899}"/>
              </a:ext>
            </a:extLst>
          </p:cNvPr>
          <p:cNvGrpSpPr/>
          <p:nvPr/>
        </p:nvGrpSpPr>
        <p:grpSpPr>
          <a:xfrm>
            <a:off x="1789429" y="1545060"/>
            <a:ext cx="3227120" cy="1800000"/>
            <a:chOff x="439166" y="597063"/>
            <a:chExt cx="4168709" cy="2770715"/>
          </a:xfrm>
        </p:grpSpPr>
        <p:pic>
          <p:nvPicPr>
            <p:cNvPr id="2050" name="Picture 2" descr="Creamy Peanut Butter | Crazy Richard's">
              <a:extLst>
                <a:ext uri="{FF2B5EF4-FFF2-40B4-BE49-F238E27FC236}">
                  <a16:creationId xmlns:a16="http://schemas.microsoft.com/office/drawing/2014/main" id="{DC0D4304-C273-4671-9D4F-AD1EF3D999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8893" y="597063"/>
              <a:ext cx="1918982" cy="27707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FA90853-6287-410E-9392-04F6BCEDBC3C}"/>
                </a:ext>
              </a:extLst>
            </p:cNvPr>
            <p:cNvSpPr txBox="1"/>
            <p:nvPr/>
          </p:nvSpPr>
          <p:spPr>
            <a:xfrm>
              <a:off x="439166" y="1058594"/>
              <a:ext cx="2466692" cy="1847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SZNS 035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:  Peanut butter Specification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5996447-B523-4B98-9301-D468CC66C9AF}"/>
              </a:ext>
            </a:extLst>
          </p:cNvPr>
          <p:cNvGrpSpPr/>
          <p:nvPr/>
        </p:nvGrpSpPr>
        <p:grpSpPr>
          <a:xfrm>
            <a:off x="8142338" y="4075204"/>
            <a:ext cx="4049662" cy="2016389"/>
            <a:chOff x="8969268" y="4345174"/>
            <a:chExt cx="4049662" cy="2212095"/>
          </a:xfrm>
        </p:grpSpPr>
        <p:pic>
          <p:nvPicPr>
            <p:cNvPr id="2058" name="Picture 10" descr="Amazon.com : Heinz Chili Sauce (12 oz Bottle) : Grocery &amp; Gourmet Food">
              <a:extLst>
                <a:ext uri="{FF2B5EF4-FFF2-40B4-BE49-F238E27FC236}">
                  <a16:creationId xmlns:a16="http://schemas.microsoft.com/office/drawing/2014/main" id="{6EDA82FE-24A0-4C0D-936F-26C3CF1BB5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8544" r="29119"/>
            <a:stretch>
              <a:fillRect/>
            </a:stretch>
          </p:blipFill>
          <p:spPr bwMode="auto">
            <a:xfrm>
              <a:off x="8969268" y="4345174"/>
              <a:ext cx="936523" cy="22120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0934DF8-E4B8-4C32-82C6-54F702651541}"/>
                </a:ext>
              </a:extLst>
            </p:cNvPr>
            <p:cNvSpPr/>
            <p:nvPr/>
          </p:nvSpPr>
          <p:spPr>
            <a:xfrm>
              <a:off x="9772284" y="5351444"/>
              <a:ext cx="3246646" cy="10328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SZNS CODEX      STAN 306</a:t>
              </a:r>
              <a:r>
                <a:rPr kumimoji="0" lang="en-GB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: Chilli Sauce</a:t>
              </a:r>
            </a:p>
          </p:txBody>
        </p:sp>
      </p:grpSp>
      <p:pic>
        <p:nvPicPr>
          <p:cNvPr id="2062" name="Picture 14" descr="Low calorie Cherry jam">
            <a:extLst>
              <a:ext uri="{FF2B5EF4-FFF2-40B4-BE49-F238E27FC236}">
                <a16:creationId xmlns:a16="http://schemas.microsoft.com/office/drawing/2014/main" id="{7707655E-48F1-4F99-A73E-9A184F28D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03873" y="4158739"/>
            <a:ext cx="1906945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23EF1AA5-CAB2-4E8E-AED7-9D79BC2758C0}"/>
              </a:ext>
            </a:extLst>
          </p:cNvPr>
          <p:cNvSpPr/>
          <p:nvPr/>
        </p:nvSpPr>
        <p:spPr>
          <a:xfrm>
            <a:off x="5349819" y="5058739"/>
            <a:ext cx="2446741" cy="1032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SZNS CODEX STAN 296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Jam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293A71E-9661-4F90-A3B6-7A6B5D19F45B}"/>
              </a:ext>
            </a:extLst>
          </p:cNvPr>
          <p:cNvSpPr txBox="1"/>
          <p:nvPr/>
        </p:nvSpPr>
        <p:spPr>
          <a:xfrm>
            <a:off x="6893463" y="1675094"/>
            <a:ext cx="24977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SZNS SANS 1199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Production of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Mageu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7A481-85A3-F60E-A883-A70013D3F2A3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9849465" cy="7262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>
                <a:solidFill>
                  <a:srgbClr val="13108A"/>
                </a:solidFill>
                <a:latin typeface="Garamond" panose="02020404030301010803" pitchFamily="18" charset="0"/>
              </a:rPr>
              <a:t>STANDARDS AVAILABLE IN ESWASA</a:t>
            </a:r>
            <a:endParaRPr lang="en-ZA" sz="2800" b="1" dirty="0">
              <a:solidFill>
                <a:srgbClr val="13108A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283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A6A06C-2450-FE24-D5FC-6107430EA8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1974" y="0"/>
            <a:ext cx="12223974" cy="6858000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D15C518-677E-83FC-CA71-770BA799D30F}"/>
              </a:ext>
            </a:extLst>
          </p:cNvPr>
          <p:cNvSpPr/>
          <p:nvPr/>
        </p:nvSpPr>
        <p:spPr>
          <a:xfrm>
            <a:off x="1071716" y="1081548"/>
            <a:ext cx="2910349" cy="1268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B6BEC1-B6F3-29B6-19CA-26C8142C18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38"/>
            <a:ext cx="1080000" cy="1080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C955C23-B03C-3969-F4AA-521B3109F365}"/>
              </a:ext>
            </a:extLst>
          </p:cNvPr>
          <p:cNvSpPr/>
          <p:nvPr/>
        </p:nvSpPr>
        <p:spPr>
          <a:xfrm>
            <a:off x="1230300" y="748304"/>
            <a:ext cx="2065319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Garamond" panose="02020404030301010803" pitchFamily="18" charset="0"/>
              </a:rPr>
              <a:t>Our Clients</a:t>
            </a:r>
            <a:endParaRPr lang="en-ZA" sz="2800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9F6B91EC-FA8C-4B06-CF4D-138F57C212D1}"/>
              </a:ext>
            </a:extLst>
          </p:cNvPr>
          <p:cNvSpPr/>
          <p:nvPr/>
        </p:nvSpPr>
        <p:spPr>
          <a:xfrm>
            <a:off x="1374890" y="1459755"/>
            <a:ext cx="1152000" cy="58994"/>
          </a:xfrm>
          <a:prstGeom prst="homePlate">
            <a:avLst/>
          </a:prstGeom>
          <a:solidFill>
            <a:srgbClr val="004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78EE8E-14AD-FF26-88F2-0B76982F9967}"/>
              </a:ext>
            </a:extLst>
          </p:cNvPr>
          <p:cNvSpPr/>
          <p:nvPr/>
        </p:nvSpPr>
        <p:spPr>
          <a:xfrm>
            <a:off x="1230300" y="2349910"/>
            <a:ext cx="7393000" cy="2844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3" name="Picture 2" descr="A green and white logo&#10;&#10;AI-generated content may be incorrect.">
            <a:extLst>
              <a:ext uri="{FF2B5EF4-FFF2-40B4-BE49-F238E27FC236}">
                <a16:creationId xmlns:a16="http://schemas.microsoft.com/office/drawing/2014/main" id="{F8BAD8F1-CD98-B3EA-B667-927B2E6D64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90" y="2995188"/>
            <a:ext cx="1775050" cy="1440000"/>
          </a:xfrm>
          <a:prstGeom prst="rect">
            <a:avLst/>
          </a:prstGeom>
        </p:spPr>
      </p:pic>
      <p:pic>
        <p:nvPicPr>
          <p:cNvPr id="11" name="Picture 10" descr="A blue and white logo&#10;&#10;AI-generated content may be incorrect.">
            <a:extLst>
              <a:ext uri="{FF2B5EF4-FFF2-40B4-BE49-F238E27FC236}">
                <a16:creationId xmlns:a16="http://schemas.microsoft.com/office/drawing/2014/main" id="{0415E082-EC02-0064-913A-667B7C3251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738" y="2647372"/>
            <a:ext cx="1440000" cy="1440000"/>
          </a:xfrm>
          <a:prstGeom prst="rect">
            <a:avLst/>
          </a:prstGeom>
        </p:spPr>
      </p:pic>
      <p:pic>
        <p:nvPicPr>
          <p:cNvPr id="13" name="Picture 12" descr="A blue and white logo&#10;&#10;AI-generated content may be incorrect.">
            <a:extLst>
              <a:ext uri="{FF2B5EF4-FFF2-40B4-BE49-F238E27FC236}">
                <a16:creationId xmlns:a16="http://schemas.microsoft.com/office/drawing/2014/main" id="{9A38DF33-A234-FE81-ECAA-E54BD98D54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672" y="4312060"/>
            <a:ext cx="4007835" cy="1080000"/>
          </a:xfrm>
          <a:prstGeom prst="rect">
            <a:avLst/>
          </a:prstGeom>
        </p:spPr>
      </p:pic>
      <p:pic>
        <p:nvPicPr>
          <p:cNvPr id="15" name="Picture 14" descr="A close-up of an eagle&#10;&#10;AI-generated content may be incorrect.">
            <a:extLst>
              <a:ext uri="{FF2B5EF4-FFF2-40B4-BE49-F238E27FC236}">
                <a16:creationId xmlns:a16="http://schemas.microsoft.com/office/drawing/2014/main" id="{71384DA2-F8A1-170F-45A5-EB7F6ACCD7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72" b="27651"/>
          <a:stretch>
            <a:fillRect/>
          </a:stretch>
        </p:blipFill>
        <p:spPr>
          <a:xfrm>
            <a:off x="6799802" y="586779"/>
            <a:ext cx="3760705" cy="1872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027D162-9524-3731-7395-488B6FEBAA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35266" y="2136910"/>
            <a:ext cx="2324301" cy="1966130"/>
          </a:xfrm>
          <a:prstGeom prst="rect">
            <a:avLst/>
          </a:prstGeom>
        </p:spPr>
      </p:pic>
      <p:pic>
        <p:nvPicPr>
          <p:cNvPr id="19" name="Picture 18" descr="A logo with a white and orange design&#10;&#10;AI-generated content may be incorrect.">
            <a:extLst>
              <a:ext uri="{FF2B5EF4-FFF2-40B4-BE49-F238E27FC236}">
                <a16:creationId xmlns:a16="http://schemas.microsoft.com/office/drawing/2014/main" id="{26AC73EE-F237-3095-303F-82F5AB4D653A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2793" y="2140890"/>
            <a:ext cx="2333625" cy="19621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D8FEB07-2AC5-55A6-39D0-7560B79BA6A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9302" y="4342272"/>
            <a:ext cx="2469465" cy="1044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38A9D47-6E07-8DAE-C9DB-D65989A0D983}"/>
              </a:ext>
            </a:extLst>
          </p:cNvPr>
          <p:cNvSpPr txBox="1"/>
          <p:nvPr/>
        </p:nvSpPr>
        <p:spPr>
          <a:xfrm>
            <a:off x="299332" y="1981726"/>
            <a:ext cx="408343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0" i="0" dirty="0">
                <a:solidFill>
                  <a:srgbClr val="212529"/>
                </a:solidFill>
                <a:effectLst/>
                <a:latin typeface="Stencil" panose="040409050D0802020404" pitchFamily="82" charset="0"/>
              </a:rPr>
              <a:t>M P Food Processors (</a:t>
            </a:r>
            <a:r>
              <a:rPr lang="en-GB" sz="2800" b="0" i="0" dirty="0" err="1">
                <a:solidFill>
                  <a:srgbClr val="212529"/>
                </a:solidFill>
                <a:effectLst/>
                <a:latin typeface="Stencil" panose="040409050D0802020404" pitchFamily="82" charset="0"/>
              </a:rPr>
              <a:t>pty</a:t>
            </a:r>
            <a:r>
              <a:rPr lang="en-GB" sz="2800" b="0" i="0" dirty="0">
                <a:solidFill>
                  <a:srgbClr val="212529"/>
                </a:solidFill>
                <a:effectLst/>
                <a:latin typeface="Stencil" panose="040409050D0802020404" pitchFamily="82" charset="0"/>
              </a:rPr>
              <a:t>) Ltd</a:t>
            </a:r>
            <a:endParaRPr lang="en-ZA" sz="2800" dirty="0">
              <a:latin typeface="Stencil" panose="040409050D0802020404" pitchFamily="82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0C3D7E7-E541-80BF-E2E2-444D50376EA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4779" y="5751174"/>
            <a:ext cx="5220152" cy="47248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E3FE4C1-7EBC-ED9A-2C6D-DDAB708D90A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92967" y="1346163"/>
            <a:ext cx="1036410" cy="1112616"/>
          </a:xfrm>
          <a:prstGeom prst="rect">
            <a:avLst/>
          </a:prstGeom>
        </p:spPr>
      </p:pic>
      <p:sp>
        <p:nvSpPr>
          <p:cNvPr id="38" name="Text Box 2">
            <a:extLst>
              <a:ext uri="{FF2B5EF4-FFF2-40B4-BE49-F238E27FC236}">
                <a16:creationId xmlns:a16="http://schemas.microsoft.com/office/drawing/2014/main" id="{9417331D-302A-507E-5BC5-8EB5CCC98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8011" y="6478555"/>
            <a:ext cx="2527722" cy="307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E3191"/>
                </a:solidFill>
                <a:effectLst/>
                <a:latin typeface="BankGothic Lt BT" panose="020B0607020203060204" pitchFamily="34" charset="0"/>
              </a:rPr>
              <a:t>#ImprovingTheWorldWeLiveIn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9" name="Picture 5" descr="social-media-logos-facebook-twitter-instagram-youtube-flickr-vector-pg-transparent-background-high-resolution-linkedin-googleplus-210299554">
            <a:extLst>
              <a:ext uri="{FF2B5EF4-FFF2-40B4-BE49-F238E27FC236}">
                <a16:creationId xmlns:a16="http://schemas.microsoft.com/office/drawing/2014/main" id="{86F2A042-CA02-69B9-BD8C-2F11C9F1D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78" t="8835" r="39842" b="71758"/>
          <a:stretch>
            <a:fillRect/>
          </a:stretch>
        </p:blipFill>
        <p:spPr bwMode="auto">
          <a:xfrm>
            <a:off x="7358044" y="6551121"/>
            <a:ext cx="1778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pic>
        <p:nvPicPr>
          <p:cNvPr id="40" name="Picture 6" descr="social-media-logos-facebook-twitter-instagram-youtube-flickr-vector-pg-transparent-background-high-resolution-linkedin-googleplus-210299554">
            <a:extLst>
              <a:ext uri="{FF2B5EF4-FFF2-40B4-BE49-F238E27FC236}">
                <a16:creationId xmlns:a16="http://schemas.microsoft.com/office/drawing/2014/main" id="{E6F37A99-94A3-5770-2D41-D895B3EBB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4" t="34485" r="4137" b="46553"/>
          <a:stretch>
            <a:fillRect/>
          </a:stretch>
        </p:blipFill>
        <p:spPr bwMode="auto">
          <a:xfrm>
            <a:off x="7599114" y="6551121"/>
            <a:ext cx="18415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9E4979F-175D-FC5B-4B8B-E03BB87E3333}"/>
              </a:ext>
            </a:extLst>
          </p:cNvPr>
          <p:cNvCxnSpPr/>
          <p:nvPr/>
        </p:nvCxnSpPr>
        <p:spPr>
          <a:xfrm>
            <a:off x="2461147" y="6603099"/>
            <a:ext cx="2160000" cy="0"/>
          </a:xfrm>
          <a:prstGeom prst="line">
            <a:avLst/>
          </a:prstGeom>
          <a:ln w="28575">
            <a:solidFill>
              <a:srgbClr val="2E31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566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B327C-6885-F45A-61D1-E8113C014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D312CB-AF40-0123-FE1B-93CD1EAAB7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1974" y="0"/>
            <a:ext cx="12223974" cy="6858000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A3BD9A8-E975-3AD5-9C0B-9D1BBB6AE9B7}"/>
              </a:ext>
            </a:extLst>
          </p:cNvPr>
          <p:cNvSpPr/>
          <p:nvPr/>
        </p:nvSpPr>
        <p:spPr>
          <a:xfrm>
            <a:off x="1071716" y="1081548"/>
            <a:ext cx="2910349" cy="1268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6F09CD-B29F-94F4-C1C2-82106DE37A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38"/>
            <a:ext cx="1080000" cy="1080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74D0BF1-57CD-22E3-4924-CCCF333B7262}"/>
              </a:ext>
            </a:extLst>
          </p:cNvPr>
          <p:cNvSpPr/>
          <p:nvPr/>
        </p:nvSpPr>
        <p:spPr>
          <a:xfrm>
            <a:off x="463136" y="1166145"/>
            <a:ext cx="1758954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Garamond" panose="02020404030301010803" pitchFamily="18" charset="0"/>
              </a:rPr>
              <a:t>Our Team</a:t>
            </a:r>
            <a:endParaRPr lang="en-ZA" sz="2800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D88BB4D5-34C1-2861-ECCA-6D5D64F55211}"/>
              </a:ext>
            </a:extLst>
          </p:cNvPr>
          <p:cNvSpPr/>
          <p:nvPr/>
        </p:nvSpPr>
        <p:spPr>
          <a:xfrm>
            <a:off x="654300" y="1922717"/>
            <a:ext cx="1152000" cy="58994"/>
          </a:xfrm>
          <a:prstGeom prst="homePlate">
            <a:avLst/>
          </a:prstGeom>
          <a:solidFill>
            <a:srgbClr val="004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E5311D-C0ED-D498-985A-2CA71E0A7C1F}"/>
              </a:ext>
            </a:extLst>
          </p:cNvPr>
          <p:cNvSpPr/>
          <p:nvPr/>
        </p:nvSpPr>
        <p:spPr>
          <a:xfrm>
            <a:off x="1230300" y="2349910"/>
            <a:ext cx="8609454" cy="4508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D09D813-F692-39DF-0FF3-5CB5794EDC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74" b="15770"/>
          <a:stretch>
            <a:fillRect/>
          </a:stretch>
        </p:blipFill>
        <p:spPr>
          <a:xfrm>
            <a:off x="2526890" y="2630455"/>
            <a:ext cx="1710478" cy="180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A916475-F089-E7C9-A397-5AB04876DB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0" t="8333" r="9069" b="32778"/>
          <a:stretch>
            <a:fillRect/>
          </a:stretch>
        </p:blipFill>
        <p:spPr>
          <a:xfrm>
            <a:off x="4833322" y="2630455"/>
            <a:ext cx="1710478" cy="1800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B926F1B-94A8-AE06-8FB8-66FC9D28AC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04" t="9697" r="13640" b="67071"/>
          <a:stretch>
            <a:fillRect/>
          </a:stretch>
        </p:blipFill>
        <p:spPr>
          <a:xfrm>
            <a:off x="367989" y="2630455"/>
            <a:ext cx="1562947" cy="1800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76D64E0-98FA-BEFA-3BA7-427CDF945AC9}"/>
              </a:ext>
            </a:extLst>
          </p:cNvPr>
          <p:cNvSpPr/>
          <p:nvPr/>
        </p:nvSpPr>
        <p:spPr>
          <a:xfrm>
            <a:off x="158057" y="4834300"/>
            <a:ext cx="1872000" cy="720000"/>
          </a:xfrm>
          <a:prstGeom prst="roundRect">
            <a:avLst/>
          </a:prstGeom>
          <a:solidFill>
            <a:srgbClr val="4987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Mr. Ncamiso K. Mhlanga </a:t>
            </a:r>
          </a:p>
          <a:p>
            <a:pPr algn="ctr"/>
            <a:r>
              <a:rPr lang="en-GB" sz="1200" dirty="0">
                <a:solidFill>
                  <a:schemeClr val="bg1"/>
                </a:solidFill>
              </a:rPr>
              <a:t>Executive Director</a:t>
            </a:r>
            <a:endParaRPr lang="en-ZA" sz="1200" dirty="0">
              <a:solidFill>
                <a:schemeClr val="bg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CACEFFA-609A-CF01-CA59-97C1F8741A84}"/>
              </a:ext>
            </a:extLst>
          </p:cNvPr>
          <p:cNvSpPr/>
          <p:nvPr/>
        </p:nvSpPr>
        <p:spPr>
          <a:xfrm>
            <a:off x="2446129" y="4834300"/>
            <a:ext cx="1872000" cy="720000"/>
          </a:xfrm>
          <a:prstGeom prst="roundRect">
            <a:avLst/>
          </a:prstGeom>
          <a:solidFill>
            <a:srgbClr val="4987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Mr. Phillip G. Mndawe</a:t>
            </a:r>
          </a:p>
          <a:p>
            <a:pPr algn="ctr"/>
            <a:r>
              <a:rPr lang="en-GB" sz="1200" dirty="0"/>
              <a:t>Technical Manager</a:t>
            </a:r>
            <a:endParaRPr lang="en-ZA" sz="12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939C46B-251F-FBB2-71ED-44502689056E}"/>
              </a:ext>
            </a:extLst>
          </p:cNvPr>
          <p:cNvSpPr/>
          <p:nvPr/>
        </p:nvSpPr>
        <p:spPr>
          <a:xfrm>
            <a:off x="4752561" y="4835343"/>
            <a:ext cx="1872000" cy="720000"/>
          </a:xfrm>
          <a:prstGeom prst="roundRect">
            <a:avLst/>
          </a:prstGeom>
          <a:solidFill>
            <a:srgbClr val="4987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Ms. Dumsile Masina</a:t>
            </a:r>
          </a:p>
          <a:p>
            <a:pPr algn="ctr"/>
            <a:r>
              <a:rPr lang="en-GB" sz="1200" dirty="0"/>
              <a:t>Chief Financial Officer</a:t>
            </a:r>
            <a:endParaRPr lang="en-ZA" sz="1200" dirty="0"/>
          </a:p>
        </p:txBody>
      </p:sp>
      <p:pic>
        <p:nvPicPr>
          <p:cNvPr id="15" name="Content Placeholder 4">
            <a:extLst>
              <a:ext uri="{FF2B5EF4-FFF2-40B4-BE49-F238E27FC236}">
                <a16:creationId xmlns:a16="http://schemas.microsoft.com/office/drawing/2014/main" id="{988B36C2-94F8-288B-231E-A4185D4B5E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888" r="10014"/>
          <a:stretch>
            <a:fillRect/>
          </a:stretch>
        </p:blipFill>
        <p:spPr>
          <a:xfrm>
            <a:off x="9132539" y="0"/>
            <a:ext cx="3067984" cy="6858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C9466BF-B720-D6A5-0AB8-3BDE19C6EC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3364" y="376132"/>
            <a:ext cx="2700000" cy="1800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0757A8C-AF2A-4B30-3DE0-D57C0ADD1E28}"/>
              </a:ext>
            </a:extLst>
          </p:cNvPr>
          <p:cNvSpPr/>
          <p:nvPr/>
        </p:nvSpPr>
        <p:spPr>
          <a:xfrm>
            <a:off x="8654143" y="4430455"/>
            <a:ext cx="1428453" cy="81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5D518C6-8BAC-C8ED-D024-EC93D6774C6D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2" y="5281159"/>
            <a:ext cx="2456472" cy="1584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7427E2E-5C6A-472A-7B09-1AF460FE7A7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134" y="2327573"/>
            <a:ext cx="2700000" cy="1800000"/>
          </a:xfrm>
          <a:prstGeom prst="rect">
            <a:avLst/>
          </a:prstGeom>
        </p:spPr>
      </p:pic>
      <p:sp>
        <p:nvSpPr>
          <p:cNvPr id="19" name="Text Box 2">
            <a:extLst>
              <a:ext uri="{FF2B5EF4-FFF2-40B4-BE49-F238E27FC236}">
                <a16:creationId xmlns:a16="http://schemas.microsoft.com/office/drawing/2014/main" id="{32DF0BE2-5BAF-8F6C-747C-D6BC8E23C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0186" y="6550060"/>
            <a:ext cx="2527722" cy="307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E3191"/>
                </a:solidFill>
                <a:effectLst/>
                <a:latin typeface="BankGothic Lt BT" panose="020B0607020203060204" pitchFamily="34" charset="0"/>
              </a:rPr>
              <a:t>#ImprovingTheWorldWeLiveIn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" name="Picture 5" descr="social-media-logos-facebook-twitter-instagram-youtube-flickr-vector-pg-transparent-background-high-resolution-linkedin-googleplus-210299554">
            <a:extLst>
              <a:ext uri="{FF2B5EF4-FFF2-40B4-BE49-F238E27FC236}">
                <a16:creationId xmlns:a16="http://schemas.microsoft.com/office/drawing/2014/main" id="{82D76AD3-FC56-5D4E-760A-2AD31E47D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78" t="8835" r="39842" b="71758"/>
          <a:stretch>
            <a:fillRect/>
          </a:stretch>
        </p:blipFill>
        <p:spPr bwMode="auto">
          <a:xfrm>
            <a:off x="8650219" y="6622626"/>
            <a:ext cx="1778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pic>
        <p:nvPicPr>
          <p:cNvPr id="21" name="Picture 6" descr="social-media-logos-facebook-twitter-instagram-youtube-flickr-vector-pg-transparent-background-high-resolution-linkedin-googleplus-210299554">
            <a:extLst>
              <a:ext uri="{FF2B5EF4-FFF2-40B4-BE49-F238E27FC236}">
                <a16:creationId xmlns:a16="http://schemas.microsoft.com/office/drawing/2014/main" id="{B18BC675-9F4A-9C89-9B8B-0BAAF6D8C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4" t="34485" r="4137" b="46553"/>
          <a:stretch>
            <a:fillRect/>
          </a:stretch>
        </p:blipFill>
        <p:spPr bwMode="auto">
          <a:xfrm>
            <a:off x="8891289" y="6622626"/>
            <a:ext cx="18415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FC5694F-BE1C-E44B-28CB-36695F952053}"/>
              </a:ext>
            </a:extLst>
          </p:cNvPr>
          <p:cNvCxnSpPr/>
          <p:nvPr/>
        </p:nvCxnSpPr>
        <p:spPr>
          <a:xfrm>
            <a:off x="3753322" y="6674604"/>
            <a:ext cx="2160000" cy="0"/>
          </a:xfrm>
          <a:prstGeom prst="line">
            <a:avLst/>
          </a:prstGeom>
          <a:ln w="28575">
            <a:solidFill>
              <a:srgbClr val="2E31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9565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C55AE-B872-9487-4AAE-840147C2D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AC210A-B69A-3930-F0C5-A736F34240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31974" y="0"/>
            <a:ext cx="12223974" cy="6858000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AA7277-3647-32AC-5248-26469828662D}"/>
              </a:ext>
            </a:extLst>
          </p:cNvPr>
          <p:cNvSpPr/>
          <p:nvPr/>
        </p:nvSpPr>
        <p:spPr>
          <a:xfrm>
            <a:off x="1071716" y="1081547"/>
            <a:ext cx="7811028" cy="4513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2BE28A-1C23-6618-C749-2795754253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38"/>
            <a:ext cx="1080000" cy="1080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025E1D6-868A-B15D-1071-7A33467AEFAE}"/>
              </a:ext>
            </a:extLst>
          </p:cNvPr>
          <p:cNvSpPr/>
          <p:nvPr/>
        </p:nvSpPr>
        <p:spPr>
          <a:xfrm>
            <a:off x="463135" y="1166145"/>
            <a:ext cx="2065319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Garamond" panose="02020404030301010803" pitchFamily="18" charset="0"/>
              </a:rPr>
              <a:t>Contact Us</a:t>
            </a:r>
            <a:endParaRPr lang="en-ZA" sz="2800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1830FC8F-9E71-CD9C-35D5-7C25C0E24D72}"/>
              </a:ext>
            </a:extLst>
          </p:cNvPr>
          <p:cNvSpPr/>
          <p:nvPr/>
        </p:nvSpPr>
        <p:spPr>
          <a:xfrm>
            <a:off x="654300" y="1922717"/>
            <a:ext cx="1440000" cy="58994"/>
          </a:xfrm>
          <a:prstGeom prst="homePlate">
            <a:avLst/>
          </a:prstGeom>
          <a:solidFill>
            <a:srgbClr val="004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0725A9F-8BC1-BD27-EF15-3E82A8302A0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0324" t="34921" r="58864" b="26191"/>
          <a:stretch>
            <a:fillRect/>
          </a:stretch>
        </p:blipFill>
        <p:spPr>
          <a:xfrm>
            <a:off x="4657200" y="1703448"/>
            <a:ext cx="5084086" cy="3600000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B2D3D97A-188E-5DDC-CA65-ADC9243323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620" t="40103" r="26627" b="51966"/>
          <a:stretch>
            <a:fillRect/>
          </a:stretch>
        </p:blipFill>
        <p:spPr>
          <a:xfrm>
            <a:off x="412245" y="2453329"/>
            <a:ext cx="4003817" cy="543947"/>
          </a:xfrm>
          <a:prstGeom prst="rect">
            <a:avLst/>
          </a:prstGeom>
        </p:spPr>
      </p:pic>
      <p:sp>
        <p:nvSpPr>
          <p:cNvPr id="9" name="Text Box 68">
            <a:extLst>
              <a:ext uri="{FF2B5EF4-FFF2-40B4-BE49-F238E27FC236}">
                <a16:creationId xmlns:a16="http://schemas.microsoft.com/office/drawing/2014/main" id="{FFAC4A79-25B8-BA3A-2D12-42D0D67CE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451" y="2687883"/>
            <a:ext cx="1378690" cy="358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(+268) 2518 4633</a:t>
            </a:r>
            <a:endParaRPr kumimoji="0" lang="en-ZA" altLang="en-US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(+268) 2518 4610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C33BBE4A-4280-0930-1E08-0C12735011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620" t="47424" r="26627" b="44265"/>
          <a:stretch>
            <a:fillRect/>
          </a:stretch>
        </p:blipFill>
        <p:spPr>
          <a:xfrm>
            <a:off x="412244" y="5741218"/>
            <a:ext cx="4003817" cy="569949"/>
          </a:xfrm>
          <a:prstGeom prst="rect">
            <a:avLst/>
          </a:prstGeom>
        </p:spPr>
      </p:pic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6DF980F4-90F9-BC17-A64D-248A0DE332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620" t="54783" r="26627" b="35693"/>
          <a:stretch>
            <a:fillRect/>
          </a:stretch>
        </p:blipFill>
        <p:spPr>
          <a:xfrm>
            <a:off x="365827" y="3503448"/>
            <a:ext cx="4003817" cy="653144"/>
          </a:xfrm>
          <a:prstGeom prst="rect">
            <a:avLst/>
          </a:prstGeom>
        </p:spPr>
      </p:pic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A0D0E25F-9BDD-35C7-C9E5-26EB54CB71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620" t="63971" r="26627" b="28163"/>
          <a:stretch>
            <a:fillRect/>
          </a:stretch>
        </p:blipFill>
        <p:spPr>
          <a:xfrm>
            <a:off x="365826" y="4606195"/>
            <a:ext cx="4003817" cy="539457"/>
          </a:xfrm>
          <a:prstGeom prst="rect">
            <a:avLst/>
          </a:prstGeom>
        </p:spPr>
      </p:pic>
      <p:sp>
        <p:nvSpPr>
          <p:cNvPr id="13" name="Text Box 63">
            <a:extLst>
              <a:ext uri="{FF2B5EF4-FFF2-40B4-BE49-F238E27FC236}">
                <a16:creationId xmlns:a16="http://schemas.microsoft.com/office/drawing/2014/main" id="{E5F29789-6911-BA3A-DF02-C09516131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0000" y="4893128"/>
            <a:ext cx="2909442" cy="686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Plot 247, Marbel Construction Premises</a:t>
            </a:r>
            <a:r>
              <a:rPr kumimoji="0" lang="en-ZA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King Mswati III Avenue West</a:t>
            </a:r>
            <a:endParaRPr kumimoji="0" lang="en-ZA" altLang="en-US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Matsapha Industrial Site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4" name="Text Box 70">
            <a:extLst>
              <a:ext uri="{FF2B5EF4-FFF2-40B4-BE49-F238E27FC236}">
                <a16:creationId xmlns:a16="http://schemas.microsoft.com/office/drawing/2014/main" id="{690FA06C-6D31-96C8-5F74-0B76C573F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0000" y="3828429"/>
            <a:ext cx="2137722" cy="3670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www.swasa.co.sz</a:t>
            </a:r>
            <a:endParaRPr kumimoji="0" lang="en-ZA" altLang="en-US" sz="12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info@swasa.co.sz</a:t>
            </a: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5" name="Text Box 66">
            <a:extLst>
              <a:ext uri="{FF2B5EF4-FFF2-40B4-BE49-F238E27FC236}">
                <a16:creationId xmlns:a16="http://schemas.microsoft.com/office/drawing/2014/main" id="{29F06E92-29AA-BCDC-D978-996920AD5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0000" y="6041637"/>
            <a:ext cx="2207486" cy="5641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P.O. Box 1399,</a:t>
            </a:r>
            <a:endParaRPr kumimoji="0" lang="en-ZA" altLang="en-US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Matsapha, Eswatini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6" name="Text Box 2">
            <a:extLst>
              <a:ext uri="{FF2B5EF4-FFF2-40B4-BE49-F238E27FC236}">
                <a16:creationId xmlns:a16="http://schemas.microsoft.com/office/drawing/2014/main" id="{DF72A8E2-4EB1-1ED5-CDCB-8BBCB841C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5318" y="6518762"/>
            <a:ext cx="2527722" cy="307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E3191"/>
                </a:solidFill>
                <a:effectLst/>
                <a:latin typeface="BankGothic Lt BT" panose="020B0607020203060204" pitchFamily="34" charset="0"/>
              </a:rPr>
              <a:t>#ImprovingTheWorldWeLiveIn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" name="Picture 5" descr="social-media-logos-facebook-twitter-instagram-youtube-flickr-vector-pg-transparent-background-high-resolution-linkedin-googleplus-210299554">
            <a:extLst>
              <a:ext uri="{FF2B5EF4-FFF2-40B4-BE49-F238E27FC236}">
                <a16:creationId xmlns:a16="http://schemas.microsoft.com/office/drawing/2014/main" id="{E52B8A45-EACC-7B37-7762-5DF657250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78" t="8835" r="39842" b="71758"/>
          <a:stretch>
            <a:fillRect/>
          </a:stretch>
        </p:blipFill>
        <p:spPr bwMode="auto">
          <a:xfrm>
            <a:off x="7425351" y="6591328"/>
            <a:ext cx="1778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pic>
        <p:nvPicPr>
          <p:cNvPr id="18" name="Picture 6" descr="social-media-logos-facebook-twitter-instagram-youtube-flickr-vector-pg-transparent-background-high-resolution-linkedin-googleplus-210299554">
            <a:extLst>
              <a:ext uri="{FF2B5EF4-FFF2-40B4-BE49-F238E27FC236}">
                <a16:creationId xmlns:a16="http://schemas.microsoft.com/office/drawing/2014/main" id="{96DDDAB0-D45E-84ED-B325-FAEE34F0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4" t="34485" r="4137" b="46553"/>
          <a:stretch>
            <a:fillRect/>
          </a:stretch>
        </p:blipFill>
        <p:spPr bwMode="auto">
          <a:xfrm>
            <a:off x="7666421" y="6591328"/>
            <a:ext cx="18415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8E33A6D-3728-007A-DA95-E5C6230E103D}"/>
              </a:ext>
            </a:extLst>
          </p:cNvPr>
          <p:cNvCxnSpPr/>
          <p:nvPr/>
        </p:nvCxnSpPr>
        <p:spPr>
          <a:xfrm>
            <a:off x="2528454" y="6643306"/>
            <a:ext cx="2160000" cy="0"/>
          </a:xfrm>
          <a:prstGeom prst="line">
            <a:avLst/>
          </a:prstGeom>
          <a:ln w="28575">
            <a:solidFill>
              <a:srgbClr val="2E31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6076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2047</TotalTime>
  <Words>1047</Words>
  <Application>Microsoft Office PowerPoint</Application>
  <PresentationFormat>Widescreen</PresentationFormat>
  <Paragraphs>158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Aptos</vt:lpstr>
      <vt:lpstr>Aptos Display</vt:lpstr>
      <vt:lpstr>Arial</vt:lpstr>
      <vt:lpstr>BankGothic Lt BT</vt:lpstr>
      <vt:lpstr>Calibri</vt:lpstr>
      <vt:lpstr>Cambria</vt:lpstr>
      <vt:lpstr>Garamond</vt:lpstr>
      <vt:lpstr>Stencil</vt:lpstr>
      <vt:lpstr>Times New Roman</vt:lpstr>
      <vt:lpstr>Wingdings</vt:lpstr>
      <vt:lpstr>Office Theme</vt:lpstr>
      <vt:lpstr>ESWASA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Inhle Fakudze</dc:creator>
  <cp:lastModifiedBy>Inhle Fakudze</cp:lastModifiedBy>
  <cp:revision>13</cp:revision>
  <dcterms:created xsi:type="dcterms:W3CDTF">2025-07-24T19:49:59Z</dcterms:created>
  <dcterms:modified xsi:type="dcterms:W3CDTF">2025-12-05T09:38:58Z</dcterms:modified>
</cp:coreProperties>
</file>